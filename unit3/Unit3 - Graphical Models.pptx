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71" r:id="rId2"/>
    <p:sldId id="303" r:id="rId3"/>
    <p:sldId id="437" r:id="rId4"/>
    <p:sldId id="434" r:id="rId5"/>
    <p:sldId id="454" r:id="rId6"/>
    <p:sldId id="439" r:id="rId7"/>
    <p:sldId id="438" r:id="rId8"/>
    <p:sldId id="436" r:id="rId9"/>
    <p:sldId id="447" r:id="rId10"/>
    <p:sldId id="449" r:id="rId11"/>
    <p:sldId id="450" r:id="rId12"/>
    <p:sldId id="451" r:id="rId13"/>
    <p:sldId id="452" r:id="rId14"/>
    <p:sldId id="440" r:id="rId15"/>
    <p:sldId id="441" r:id="rId16"/>
    <p:sldId id="442" r:id="rId17"/>
    <p:sldId id="448" r:id="rId18"/>
    <p:sldId id="453" r:id="rId19"/>
    <p:sldId id="455" r:id="rId20"/>
    <p:sldId id="456" r:id="rId21"/>
    <p:sldId id="457" r:id="rId22"/>
    <p:sldId id="458" r:id="rId23"/>
    <p:sldId id="459" r:id="rId24"/>
    <p:sldId id="336" r:id="rId25"/>
    <p:sldId id="304" r:id="rId26"/>
  </p:sldIdLst>
  <p:sldSz cx="9144000" cy="5143500" type="screen16x9"/>
  <p:notesSz cx="7099300" cy="10234613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  <p15:guide id="9" orient="horz" pos="2995">
          <p15:clr>
            <a:srgbClr val="A4A3A4"/>
          </p15:clr>
        </p15:guide>
        <p15:guide id="10" orient="horz" pos="2843">
          <p15:clr>
            <a:srgbClr val="A4A3A4"/>
          </p15:clr>
        </p15:guide>
        <p15:guide id="11" orient="horz" pos="3147">
          <p15:clr>
            <a:srgbClr val="A4A3A4"/>
          </p15:clr>
        </p15:guide>
        <p15:guide id="12" orient="horz" pos="482">
          <p15:clr>
            <a:srgbClr val="A4A3A4"/>
          </p15:clr>
        </p15:guide>
        <p15:guide id="13" orient="horz" pos="5914">
          <p15:clr>
            <a:srgbClr val="A4A3A4"/>
          </p15:clr>
        </p15:guide>
        <p15:guide id="14" orient="horz" pos="635">
          <p15:clr>
            <a:srgbClr val="A4A3A4"/>
          </p15:clr>
        </p15:guide>
        <p15:guide id="15" pos="569">
          <p15:clr>
            <a:srgbClr val="A4A3A4"/>
          </p15:clr>
        </p15:guide>
        <p15:guide id="16" pos="4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B1063A"/>
    <a:srgbClr val="00B050"/>
    <a:srgbClr val="0070C0"/>
    <a:srgbClr val="FFFF00"/>
    <a:srgbClr val="000000"/>
    <a:srgbClr val="FBFCFC"/>
    <a:srgbClr val="FCFCFC"/>
    <a:srgbClr val="FCFCFD"/>
    <a:srgbClr val="FC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1"/>
    <p:restoredTop sz="94000"/>
  </p:normalViewPr>
  <p:slideViewPr>
    <p:cSldViewPr snapToObjects="1" showGuides="1">
      <p:cViewPr>
        <p:scale>
          <a:sx n="108" d="100"/>
          <a:sy n="108" d="100"/>
        </p:scale>
        <p:origin x="1496" y="99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  <p:guide orient="horz" pos="2995"/>
        <p:guide orient="horz" pos="2843"/>
        <p:guide orient="horz" pos="3147"/>
        <p:guide orient="horz" pos="482"/>
        <p:guide orient="horz" pos="5914"/>
        <p:guide orient="horz" pos="635"/>
        <p:guide pos="569"/>
        <p:guide pos="4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906755" y="523309"/>
            <a:ext cx="5773228" cy="23000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586922" y="9370999"/>
            <a:ext cx="909303" cy="32683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fld id="{AA592FF2-A4BD-4E98-AC76-A10007E04C10}" type="datetimeFigureOut">
              <a:rPr lang="en-US" smtClean="0"/>
              <a:pPr/>
              <a:t>11/11/25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906755" y="9370373"/>
            <a:ext cx="2680166" cy="3274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667775" y="9370373"/>
            <a:ext cx="2012469" cy="3223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22552" y="-94811"/>
            <a:ext cx="7324733" cy="10465843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36378" y="865511"/>
            <a:ext cx="6033360" cy="37825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906755" y="523309"/>
            <a:ext cx="5773228" cy="23000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586922" y="9370999"/>
            <a:ext cx="909303" cy="32683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fld id="{AA592FF2-A4BD-4E98-AC76-A10007E04C10}" type="datetimeFigureOut">
              <a:rPr lang="en-US" smtClean="0"/>
              <a:pPr/>
              <a:t>11/11/25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73100" y="990600"/>
            <a:ext cx="6240463" cy="3511550"/>
          </a:xfrm>
          <a:prstGeom prst="rect">
            <a:avLst/>
          </a:prstGeom>
          <a:noFill/>
          <a:ln w="12700">
            <a:noFill/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903847" y="4978644"/>
            <a:ext cx="3592377" cy="4391729"/>
          </a:xfrm>
          <a:prstGeom prst="rect">
            <a:avLst/>
          </a:prstGeom>
        </p:spPr>
        <p:txBody>
          <a:bodyPr vert="horz" lIns="0" tIns="0" rIns="99048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906755" y="9370373"/>
            <a:ext cx="2680166" cy="3274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667775" y="9370373"/>
            <a:ext cx="2012469" cy="3223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667775" y="5527610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667775" y="6076576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667775" y="6625543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667775" y="7174510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667775" y="7723476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667775" y="8272443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667775" y="8821409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667775" y="9370372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990942"/>
            <a:ext cx="47328" cy="352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513180"/>
            <a:ext cx="47328" cy="487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22552" y="-94811"/>
            <a:ext cx="7324733" cy="10465843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8B916-340E-600D-C41D-A012968B5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13D712F4-3681-553A-E4C5-0F7E0B094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DD1060A-99BB-DD92-9A72-2F2C1716B1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1CDE9C7-1CDC-520B-3422-9629761BD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82156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9299-27C5-14AA-A096-3A6DF72B0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48BD0-4CB6-FA31-4835-34B6EB6F7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EED61-8C43-EA3D-E3CC-2BC0076F2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EB085-D36D-22F1-61C8-6F3A9AD9E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81140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D5CC1-F6AA-1939-172A-F64D35005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BBDDB8C9-D5C1-402B-1635-6CCA49BE0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1852AB30-DD8C-89DC-7360-64CA392A87DC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51A85C8-EFEA-E767-B14D-818A15343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88949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9334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EF4DD-94A9-6D9A-3F51-C1954EBCD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6F59CC3A-C533-F29F-14A3-31E87531E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7AE0BBD-6756-06CD-C61C-01AD45439CF8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435A60-6E0B-AB13-DD54-0EBC9ABD7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5648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9778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6854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Advanced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3 –</a:t>
            </a:r>
            <a:r>
              <a:rPr lang="en-US" sz="800" noProof="0" dirty="0"/>
              <a:t> Graphical Models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/25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3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10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71.png"/><Relationship Id="rId3" Type="http://schemas.openxmlformats.org/officeDocument/2006/relationships/image" Target="../media/image48.png"/><Relationship Id="rId21" Type="http://schemas.openxmlformats.org/officeDocument/2006/relationships/image" Target="../media/image6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29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24" Type="http://schemas.openxmlformats.org/officeDocument/2006/relationships/image" Target="../media/image69.png"/><Relationship Id="rId32" Type="http://schemas.openxmlformats.org/officeDocument/2006/relationships/image" Target="../media/image77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28" Type="http://schemas.openxmlformats.org/officeDocument/2006/relationships/image" Target="../media/image73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31" Type="http://schemas.openxmlformats.org/officeDocument/2006/relationships/image" Target="../media/image76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Relationship Id="rId27" Type="http://schemas.openxmlformats.org/officeDocument/2006/relationships/image" Target="../media/image72.png"/><Relationship Id="rId30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26" Type="http://schemas.openxmlformats.org/officeDocument/2006/relationships/image" Target="../media/image107.png"/><Relationship Id="rId3" Type="http://schemas.openxmlformats.org/officeDocument/2006/relationships/image" Target="../media/image84.png"/><Relationship Id="rId21" Type="http://schemas.openxmlformats.org/officeDocument/2006/relationships/image" Target="../media/image102.sv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svg"/><Relationship Id="rId25" Type="http://schemas.openxmlformats.org/officeDocument/2006/relationships/image" Target="../media/image106.svg"/><Relationship Id="rId33" Type="http://schemas.openxmlformats.org/officeDocument/2006/relationships/image" Target="../media/image114.pn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29" Type="http://schemas.openxmlformats.org/officeDocument/2006/relationships/image" Target="../media/image1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24" Type="http://schemas.openxmlformats.org/officeDocument/2006/relationships/image" Target="../media/image105.png"/><Relationship Id="rId32" Type="http://schemas.openxmlformats.org/officeDocument/2006/relationships/image" Target="../media/image113.svg"/><Relationship Id="rId5" Type="http://schemas.openxmlformats.org/officeDocument/2006/relationships/image" Target="../media/image86.png"/><Relationship Id="rId15" Type="http://schemas.openxmlformats.org/officeDocument/2006/relationships/image" Target="../media/image96.svg"/><Relationship Id="rId23" Type="http://schemas.openxmlformats.org/officeDocument/2006/relationships/image" Target="../media/image104.svg"/><Relationship Id="rId28" Type="http://schemas.openxmlformats.org/officeDocument/2006/relationships/image" Target="../media/image109.png"/><Relationship Id="rId10" Type="http://schemas.openxmlformats.org/officeDocument/2006/relationships/image" Target="../media/image91.png"/><Relationship Id="rId19" Type="http://schemas.openxmlformats.org/officeDocument/2006/relationships/image" Target="../media/image100.svg"/><Relationship Id="rId31" Type="http://schemas.openxmlformats.org/officeDocument/2006/relationships/image" Target="../media/image112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Relationship Id="rId27" Type="http://schemas.openxmlformats.org/officeDocument/2006/relationships/image" Target="../media/image108.svg"/><Relationship Id="rId30" Type="http://schemas.openxmlformats.org/officeDocument/2006/relationships/image" Target="../media/image111.png"/><Relationship Id="rId8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4.png"/><Relationship Id="rId18" Type="http://schemas.openxmlformats.org/officeDocument/2006/relationships/image" Target="../media/image119.png"/><Relationship Id="rId26" Type="http://schemas.openxmlformats.org/officeDocument/2006/relationships/image" Target="../media/image127.png"/><Relationship Id="rId3" Type="http://schemas.openxmlformats.org/officeDocument/2006/relationships/image" Target="../media/image84.png"/><Relationship Id="rId21" Type="http://schemas.openxmlformats.org/officeDocument/2006/relationships/image" Target="../media/image122.svg"/><Relationship Id="rId7" Type="http://schemas.openxmlformats.org/officeDocument/2006/relationships/image" Target="../media/image89.png"/><Relationship Id="rId17" Type="http://schemas.openxmlformats.org/officeDocument/2006/relationships/image" Target="../media/image118.svg"/><Relationship Id="rId25" Type="http://schemas.openxmlformats.org/officeDocument/2006/relationships/image" Target="../media/image126.svg"/><Relationship Id="rId33" Type="http://schemas.openxmlformats.org/officeDocument/2006/relationships/image" Target="../media/image134.png"/><Relationship Id="rId2" Type="http://schemas.openxmlformats.org/officeDocument/2006/relationships/image" Target="../media/image83.png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29" Type="http://schemas.openxmlformats.org/officeDocument/2006/relationships/image" Target="../media/image1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3.png"/><Relationship Id="rId24" Type="http://schemas.openxmlformats.org/officeDocument/2006/relationships/image" Target="../media/image125.png"/><Relationship Id="rId32" Type="http://schemas.openxmlformats.org/officeDocument/2006/relationships/image" Target="../media/image133.png"/><Relationship Id="rId5" Type="http://schemas.openxmlformats.org/officeDocument/2006/relationships/image" Target="../media/image86.png"/><Relationship Id="rId15" Type="http://schemas.openxmlformats.org/officeDocument/2006/relationships/image" Target="../media/image116.svg"/><Relationship Id="rId23" Type="http://schemas.openxmlformats.org/officeDocument/2006/relationships/image" Target="../media/image124.svg"/><Relationship Id="rId28" Type="http://schemas.openxmlformats.org/officeDocument/2006/relationships/image" Target="../media/image129.png"/><Relationship Id="rId10" Type="http://schemas.openxmlformats.org/officeDocument/2006/relationships/image" Target="../media/image92.png"/><Relationship Id="rId19" Type="http://schemas.openxmlformats.org/officeDocument/2006/relationships/image" Target="../media/image120.svg"/><Relationship Id="rId31" Type="http://schemas.openxmlformats.org/officeDocument/2006/relationships/image" Target="../media/image132.svg"/><Relationship Id="rId4" Type="http://schemas.openxmlformats.org/officeDocument/2006/relationships/image" Target="../media/image85.png"/><Relationship Id="rId9" Type="http://schemas.openxmlformats.org/officeDocument/2006/relationships/image" Target="../media/image91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Relationship Id="rId27" Type="http://schemas.openxmlformats.org/officeDocument/2006/relationships/image" Target="../media/image128.svg"/><Relationship Id="rId30" Type="http://schemas.openxmlformats.org/officeDocument/2006/relationships/image" Target="../media/image1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5.png"/><Relationship Id="rId18" Type="http://schemas.openxmlformats.org/officeDocument/2006/relationships/image" Target="../media/image148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12" Type="http://schemas.openxmlformats.org/officeDocument/2006/relationships/image" Target="../media/image144.png"/><Relationship Id="rId17" Type="http://schemas.openxmlformats.org/officeDocument/2006/relationships/image" Target="../media/image147.png"/><Relationship Id="rId2" Type="http://schemas.openxmlformats.org/officeDocument/2006/relationships/image" Target="../media/image530.png"/><Relationship Id="rId16" Type="http://schemas.openxmlformats.org/officeDocument/2006/relationships/image" Target="../media/image14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11" Type="http://schemas.openxmlformats.org/officeDocument/2006/relationships/image" Target="../media/image143.png"/><Relationship Id="rId5" Type="http://schemas.openxmlformats.org/officeDocument/2006/relationships/image" Target="../media/image139.png"/><Relationship Id="rId15" Type="http://schemas.openxmlformats.org/officeDocument/2006/relationships/image" Target="../media/image520.png"/><Relationship Id="rId10" Type="http://schemas.openxmlformats.org/officeDocument/2006/relationships/image" Target="../media/image610.png"/><Relationship Id="rId4" Type="http://schemas.openxmlformats.org/officeDocument/2006/relationships/image" Target="../media/image138.png"/><Relationship Id="rId9" Type="http://schemas.openxmlformats.org/officeDocument/2006/relationships/image" Target="../media/image136.png"/><Relationship Id="rId14" Type="http://schemas.openxmlformats.org/officeDocument/2006/relationships/image" Target="../media/image1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0.png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image" Target="../media/image150.png"/><Relationship Id="rId7" Type="http://schemas.openxmlformats.org/officeDocument/2006/relationships/image" Target="../media/image750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image" Target="../media/image149.png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11" Type="http://schemas.openxmlformats.org/officeDocument/2006/relationships/image" Target="../media/image156.png"/><Relationship Id="rId5" Type="http://schemas.openxmlformats.org/officeDocument/2006/relationships/image" Target="../media/image152.png"/><Relationship Id="rId15" Type="http://schemas.openxmlformats.org/officeDocument/2006/relationships/image" Target="../media/image160.png"/><Relationship Id="rId10" Type="http://schemas.openxmlformats.org/officeDocument/2006/relationships/image" Target="../media/image155.png"/><Relationship Id="rId4" Type="http://schemas.openxmlformats.org/officeDocument/2006/relationships/image" Target="../media/image151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3" Type="http://schemas.openxmlformats.org/officeDocument/2006/relationships/image" Target="../media/image133.jpe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2" Type="http://schemas.openxmlformats.org/officeDocument/2006/relationships/image" Target="../media/image135.png"/><Relationship Id="rId16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5" Type="http://schemas.openxmlformats.org/officeDocument/2006/relationships/image" Target="../media/image17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00.png"/><Relationship Id="rId18" Type="http://schemas.openxmlformats.org/officeDocument/2006/relationships/image" Target="../media/image205.png"/><Relationship Id="rId3" Type="http://schemas.openxmlformats.org/officeDocument/2006/relationships/image" Target="../media/image165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17" Type="http://schemas.openxmlformats.org/officeDocument/2006/relationships/image" Target="../media/image204.png"/><Relationship Id="rId2" Type="http://schemas.openxmlformats.org/officeDocument/2006/relationships/image" Target="../media/image164.png"/><Relationship Id="rId16" Type="http://schemas.openxmlformats.org/officeDocument/2006/relationships/image" Target="../media/image2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5" Type="http://schemas.openxmlformats.org/officeDocument/2006/relationships/image" Target="../media/image20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Relationship Id="rId14" Type="http://schemas.openxmlformats.org/officeDocument/2006/relationships/image" Target="../media/image201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7.png"/><Relationship Id="rId18" Type="http://schemas.openxmlformats.org/officeDocument/2006/relationships/image" Target="../media/image222.png"/><Relationship Id="rId26" Type="http://schemas.openxmlformats.org/officeDocument/2006/relationships/image" Target="../media/image230.png"/><Relationship Id="rId39" Type="http://schemas.openxmlformats.org/officeDocument/2006/relationships/image" Target="../media/image243.png"/><Relationship Id="rId21" Type="http://schemas.openxmlformats.org/officeDocument/2006/relationships/image" Target="../media/image225.png"/><Relationship Id="rId34" Type="http://schemas.openxmlformats.org/officeDocument/2006/relationships/image" Target="../media/image238.png"/><Relationship Id="rId7" Type="http://schemas.openxmlformats.org/officeDocument/2006/relationships/image" Target="../media/image211.png"/><Relationship Id="rId2" Type="http://schemas.openxmlformats.org/officeDocument/2006/relationships/image" Target="../media/image206.png"/><Relationship Id="rId16" Type="http://schemas.openxmlformats.org/officeDocument/2006/relationships/image" Target="../media/image220.png"/><Relationship Id="rId20" Type="http://schemas.openxmlformats.org/officeDocument/2006/relationships/image" Target="../media/image224.png"/><Relationship Id="rId29" Type="http://schemas.openxmlformats.org/officeDocument/2006/relationships/image" Target="../media/image233.png"/><Relationship Id="rId41" Type="http://schemas.openxmlformats.org/officeDocument/2006/relationships/image" Target="../media/image2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11" Type="http://schemas.openxmlformats.org/officeDocument/2006/relationships/image" Target="../media/image215.png"/><Relationship Id="rId24" Type="http://schemas.openxmlformats.org/officeDocument/2006/relationships/image" Target="../media/image228.png"/><Relationship Id="rId32" Type="http://schemas.openxmlformats.org/officeDocument/2006/relationships/image" Target="../media/image236.png"/><Relationship Id="rId37" Type="http://schemas.openxmlformats.org/officeDocument/2006/relationships/image" Target="../media/image241.png"/><Relationship Id="rId40" Type="http://schemas.openxmlformats.org/officeDocument/2006/relationships/image" Target="../media/image244.png"/><Relationship Id="rId5" Type="http://schemas.openxmlformats.org/officeDocument/2006/relationships/image" Target="../media/image209.png"/><Relationship Id="rId15" Type="http://schemas.openxmlformats.org/officeDocument/2006/relationships/image" Target="../media/image219.png"/><Relationship Id="rId23" Type="http://schemas.openxmlformats.org/officeDocument/2006/relationships/image" Target="../media/image227.png"/><Relationship Id="rId28" Type="http://schemas.openxmlformats.org/officeDocument/2006/relationships/image" Target="../media/image232.png"/><Relationship Id="rId36" Type="http://schemas.openxmlformats.org/officeDocument/2006/relationships/image" Target="../media/image240.png"/><Relationship Id="rId10" Type="http://schemas.openxmlformats.org/officeDocument/2006/relationships/image" Target="../media/image214.png"/><Relationship Id="rId19" Type="http://schemas.openxmlformats.org/officeDocument/2006/relationships/image" Target="../media/image223.png"/><Relationship Id="rId31" Type="http://schemas.openxmlformats.org/officeDocument/2006/relationships/image" Target="../media/image235.png"/><Relationship Id="rId4" Type="http://schemas.openxmlformats.org/officeDocument/2006/relationships/image" Target="../media/image208.png"/><Relationship Id="rId9" Type="http://schemas.openxmlformats.org/officeDocument/2006/relationships/image" Target="../media/image213.png"/><Relationship Id="rId14" Type="http://schemas.openxmlformats.org/officeDocument/2006/relationships/image" Target="../media/image218.png"/><Relationship Id="rId22" Type="http://schemas.openxmlformats.org/officeDocument/2006/relationships/image" Target="../media/image226.png"/><Relationship Id="rId27" Type="http://schemas.openxmlformats.org/officeDocument/2006/relationships/image" Target="../media/image231.png"/><Relationship Id="rId30" Type="http://schemas.openxmlformats.org/officeDocument/2006/relationships/image" Target="../media/image234.png"/><Relationship Id="rId35" Type="http://schemas.openxmlformats.org/officeDocument/2006/relationships/image" Target="../media/image239.png"/><Relationship Id="rId8" Type="http://schemas.openxmlformats.org/officeDocument/2006/relationships/image" Target="../media/image212.png"/><Relationship Id="rId3" Type="http://schemas.openxmlformats.org/officeDocument/2006/relationships/image" Target="../media/image207.png"/><Relationship Id="rId12" Type="http://schemas.openxmlformats.org/officeDocument/2006/relationships/image" Target="../media/image216.png"/><Relationship Id="rId17" Type="http://schemas.openxmlformats.org/officeDocument/2006/relationships/image" Target="../media/image221.png"/><Relationship Id="rId25" Type="http://schemas.openxmlformats.org/officeDocument/2006/relationships/image" Target="../media/image229.png"/><Relationship Id="rId33" Type="http://schemas.openxmlformats.org/officeDocument/2006/relationships/image" Target="../media/image237.png"/><Relationship Id="rId38" Type="http://schemas.openxmlformats.org/officeDocument/2006/relationships/image" Target="../media/image242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7.png"/><Relationship Id="rId18" Type="http://schemas.openxmlformats.org/officeDocument/2006/relationships/image" Target="../media/image262.png"/><Relationship Id="rId26" Type="http://schemas.openxmlformats.org/officeDocument/2006/relationships/image" Target="../media/image270.png"/><Relationship Id="rId39" Type="http://schemas.openxmlformats.org/officeDocument/2006/relationships/image" Target="../media/image283.png"/><Relationship Id="rId21" Type="http://schemas.openxmlformats.org/officeDocument/2006/relationships/image" Target="../media/image265.png"/><Relationship Id="rId34" Type="http://schemas.openxmlformats.org/officeDocument/2006/relationships/image" Target="../media/image278.png"/><Relationship Id="rId42" Type="http://schemas.openxmlformats.org/officeDocument/2006/relationships/image" Target="../media/image286.png"/><Relationship Id="rId47" Type="http://schemas.openxmlformats.org/officeDocument/2006/relationships/image" Target="../media/image291.png"/><Relationship Id="rId7" Type="http://schemas.openxmlformats.org/officeDocument/2006/relationships/image" Target="../media/image251.png"/><Relationship Id="rId2" Type="http://schemas.openxmlformats.org/officeDocument/2006/relationships/image" Target="../media/image246.png"/><Relationship Id="rId16" Type="http://schemas.openxmlformats.org/officeDocument/2006/relationships/image" Target="../media/image260.png"/><Relationship Id="rId29" Type="http://schemas.openxmlformats.org/officeDocument/2006/relationships/image" Target="../media/image273.png"/><Relationship Id="rId11" Type="http://schemas.openxmlformats.org/officeDocument/2006/relationships/image" Target="../media/image255.png"/><Relationship Id="rId24" Type="http://schemas.openxmlformats.org/officeDocument/2006/relationships/image" Target="../media/image268.png"/><Relationship Id="rId32" Type="http://schemas.openxmlformats.org/officeDocument/2006/relationships/image" Target="../media/image276.png"/><Relationship Id="rId37" Type="http://schemas.openxmlformats.org/officeDocument/2006/relationships/image" Target="../media/image281.png"/><Relationship Id="rId40" Type="http://schemas.openxmlformats.org/officeDocument/2006/relationships/image" Target="../media/image284.png"/><Relationship Id="rId45" Type="http://schemas.openxmlformats.org/officeDocument/2006/relationships/image" Target="../media/image289.png"/><Relationship Id="rId5" Type="http://schemas.openxmlformats.org/officeDocument/2006/relationships/image" Target="../media/image249.png"/><Relationship Id="rId15" Type="http://schemas.openxmlformats.org/officeDocument/2006/relationships/image" Target="../media/image259.png"/><Relationship Id="rId23" Type="http://schemas.openxmlformats.org/officeDocument/2006/relationships/image" Target="../media/image267.png"/><Relationship Id="rId28" Type="http://schemas.openxmlformats.org/officeDocument/2006/relationships/image" Target="../media/image272.png"/><Relationship Id="rId36" Type="http://schemas.openxmlformats.org/officeDocument/2006/relationships/image" Target="../media/image280.png"/><Relationship Id="rId49" Type="http://schemas.openxmlformats.org/officeDocument/2006/relationships/image" Target="../media/image293.png"/><Relationship Id="rId10" Type="http://schemas.openxmlformats.org/officeDocument/2006/relationships/image" Target="../media/image254.png"/><Relationship Id="rId19" Type="http://schemas.openxmlformats.org/officeDocument/2006/relationships/image" Target="../media/image263.png"/><Relationship Id="rId31" Type="http://schemas.openxmlformats.org/officeDocument/2006/relationships/image" Target="../media/image275.png"/><Relationship Id="rId44" Type="http://schemas.openxmlformats.org/officeDocument/2006/relationships/image" Target="../media/image288.png"/><Relationship Id="rId4" Type="http://schemas.openxmlformats.org/officeDocument/2006/relationships/image" Target="../media/image248.png"/><Relationship Id="rId9" Type="http://schemas.openxmlformats.org/officeDocument/2006/relationships/image" Target="../media/image253.png"/><Relationship Id="rId14" Type="http://schemas.openxmlformats.org/officeDocument/2006/relationships/image" Target="../media/image258.png"/><Relationship Id="rId22" Type="http://schemas.openxmlformats.org/officeDocument/2006/relationships/image" Target="../media/image266.png"/><Relationship Id="rId27" Type="http://schemas.openxmlformats.org/officeDocument/2006/relationships/image" Target="../media/image271.png"/><Relationship Id="rId30" Type="http://schemas.openxmlformats.org/officeDocument/2006/relationships/image" Target="../media/image274.png"/><Relationship Id="rId35" Type="http://schemas.openxmlformats.org/officeDocument/2006/relationships/image" Target="../media/image279.png"/><Relationship Id="rId43" Type="http://schemas.openxmlformats.org/officeDocument/2006/relationships/image" Target="../media/image287.png"/><Relationship Id="rId48" Type="http://schemas.openxmlformats.org/officeDocument/2006/relationships/image" Target="../media/image292.png"/><Relationship Id="rId8" Type="http://schemas.openxmlformats.org/officeDocument/2006/relationships/image" Target="../media/image252.png"/><Relationship Id="rId3" Type="http://schemas.openxmlformats.org/officeDocument/2006/relationships/image" Target="../media/image247.png"/><Relationship Id="rId12" Type="http://schemas.openxmlformats.org/officeDocument/2006/relationships/image" Target="../media/image256.png"/><Relationship Id="rId17" Type="http://schemas.openxmlformats.org/officeDocument/2006/relationships/image" Target="../media/image261.png"/><Relationship Id="rId25" Type="http://schemas.openxmlformats.org/officeDocument/2006/relationships/image" Target="../media/image269.png"/><Relationship Id="rId33" Type="http://schemas.openxmlformats.org/officeDocument/2006/relationships/image" Target="../media/image277.png"/><Relationship Id="rId38" Type="http://schemas.openxmlformats.org/officeDocument/2006/relationships/image" Target="../media/image282.png"/><Relationship Id="rId46" Type="http://schemas.openxmlformats.org/officeDocument/2006/relationships/image" Target="../media/image290.png"/><Relationship Id="rId20" Type="http://schemas.openxmlformats.org/officeDocument/2006/relationships/image" Target="../media/image264.png"/><Relationship Id="rId41" Type="http://schemas.openxmlformats.org/officeDocument/2006/relationships/image" Target="../media/image2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png"/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.png"/><Relationship Id="rId5" Type="http://schemas.openxmlformats.org/officeDocument/2006/relationships/image" Target="../media/image293.jpeg"/><Relationship Id="rId4" Type="http://schemas.openxmlformats.org/officeDocument/2006/relationships/image" Target="../media/image292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png"/><Relationship Id="rId13" Type="http://schemas.openxmlformats.org/officeDocument/2006/relationships/image" Target="../media/image307.png"/><Relationship Id="rId3" Type="http://schemas.openxmlformats.org/officeDocument/2006/relationships/image" Target="../media/image299.png"/><Relationship Id="rId7" Type="http://schemas.openxmlformats.org/officeDocument/2006/relationships/image" Target="../media/image303.png"/><Relationship Id="rId12" Type="http://schemas.openxmlformats.org/officeDocument/2006/relationships/image" Target="../media/image300.png"/><Relationship Id="rId17" Type="http://schemas.openxmlformats.org/officeDocument/2006/relationships/image" Target="../media/image31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2.png"/><Relationship Id="rId11" Type="http://schemas.openxmlformats.org/officeDocument/2006/relationships/image" Target="../media/image297.png"/><Relationship Id="rId5" Type="http://schemas.openxmlformats.org/officeDocument/2006/relationships/image" Target="../media/image301.png"/><Relationship Id="rId15" Type="http://schemas.openxmlformats.org/officeDocument/2006/relationships/image" Target="../media/image311.png"/><Relationship Id="rId10" Type="http://schemas.openxmlformats.org/officeDocument/2006/relationships/image" Target="../media/image306.png"/><Relationship Id="rId4" Type="http://schemas.openxmlformats.org/officeDocument/2006/relationships/image" Target="../media/image296.png"/><Relationship Id="rId9" Type="http://schemas.openxmlformats.org/officeDocument/2006/relationships/image" Target="../media/image305.png"/><Relationship Id="rId14" Type="http://schemas.openxmlformats.org/officeDocument/2006/relationships/image" Target="../media/image30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4" b="648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Herbrich, Rainer Schlosser</a:t>
            </a:r>
          </a:p>
          <a:p>
            <a:pPr algn="l"/>
            <a:r>
              <a:rPr lang="en-US" dirty="0"/>
              <a:t>Graphical Models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Graphical Models</a:t>
            </a:r>
          </a:p>
          <a:p>
            <a:r>
              <a:rPr lang="en-GB" dirty="0"/>
              <a:t>Directed Graphical Models: Bayesian Networks</a:t>
            </a:r>
          </a:p>
          <a:p>
            <a:r>
              <a:rPr lang="en-GB" dirty="0"/>
              <a:t>Undirected Graphical Models: Markov Random Fields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67786-C7AF-F09C-84B2-AD840318C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6365FD-2E1F-7AA3-88D6-27044B132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b="1" dirty="0"/>
              <a:t>Graphical Models</a:t>
            </a:r>
          </a:p>
          <a:p>
            <a:r>
              <a:rPr lang="en-GB" dirty="0"/>
              <a:t>Directed Graphical Models: Bayesian Networks</a:t>
            </a:r>
          </a:p>
          <a:p>
            <a:r>
              <a:rPr lang="en-GB" dirty="0"/>
              <a:t>Undirected Graphical Models: Markov Random Fields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69DBA5-4E37-3948-9D6F-19B5D2FA8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74824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EC5A12F-2574-D43A-9BAF-5C50BFC4B39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813624" cy="3563938"/>
              </a:xfrm>
            </p:spPr>
            <p:txBody>
              <a:bodyPr/>
              <a:lstStyle/>
              <a:p>
                <a:r>
                  <a:rPr lang="en-US" b="1" dirty="0"/>
                  <a:t>Challenge</a:t>
                </a:r>
                <a:r>
                  <a:rPr lang="en-US" dirty="0"/>
                  <a:t>: How to formulate complex likelihoods/data models &amp; priors for </a:t>
                </a:r>
                <a:r>
                  <a:rPr lang="en-US" i="1" dirty="0"/>
                  <a:t>actual </a:t>
                </a:r>
                <a:r>
                  <a:rPr lang="en-US" dirty="0"/>
                  <a:t>data?</a:t>
                </a:r>
              </a:p>
              <a:p>
                <a:pPr lvl="1"/>
                <a:r>
                  <a:rPr lang="en-US" sz="1200" b="1" dirty="0"/>
                  <a:t>Example 1</a:t>
                </a:r>
                <a:r>
                  <a:rPr lang="en-US" sz="1200" dirty="0"/>
                  <a:t>: Match outcomes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r>
                  <a:rPr lang="en-US" sz="1200" dirty="0"/>
                  <a:t> (data) for a head-to-head match between two players</a:t>
                </a:r>
              </a:p>
              <a:p>
                <a:pPr lvl="2"/>
                <a:r>
                  <a:rPr lang="en-US" sz="1200" b="1" dirty="0"/>
                  <a:t>Prior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sz="1200" dirty="0"/>
              </a:p>
              <a:p>
                <a:pPr lvl="2"/>
                <a:r>
                  <a:rPr lang="en-US" sz="1200" b="1" dirty="0"/>
                  <a:t>Likelihood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</m:oMath>
                </a14:m>
                <a:endParaRPr lang="en-US" sz="1200" dirty="0"/>
              </a:p>
              <a:p>
                <a:pPr lvl="1"/>
                <a:endParaRPr lang="en-US" sz="1200" b="1" dirty="0"/>
              </a:p>
              <a:p>
                <a:pPr lvl="1"/>
                <a:endParaRPr lang="en-US" sz="1200" b="1" dirty="0"/>
              </a:p>
              <a:p>
                <a:pPr lvl="1"/>
                <a:endParaRPr lang="en-US" sz="1200" b="1" dirty="0"/>
              </a:p>
              <a:p>
                <a:pPr lvl="1"/>
                <a:r>
                  <a:rPr lang="en-US" sz="1200" b="1" dirty="0"/>
                  <a:t>Example 2</a:t>
                </a:r>
                <a:r>
                  <a:rPr lang="en-US" sz="1200" dirty="0"/>
                  <a:t>: Time series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200" b="1" dirty="0"/>
                  <a:t> </a:t>
                </a:r>
                <a:r>
                  <a:rPr lang="en-US" sz="1200" dirty="0"/>
                  <a:t>of temperatures</a:t>
                </a:r>
              </a:p>
              <a:p>
                <a:pPr lvl="2"/>
                <a:r>
                  <a:rPr lang="en-US" sz="1200" b="1" dirty="0"/>
                  <a:t>Prior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200" dirty="0"/>
              </a:p>
              <a:p>
                <a:pPr lvl="2"/>
                <a:r>
                  <a:rPr lang="en-US" sz="1200" b="1" dirty="0"/>
                  <a:t>Likelihood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 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</m:nary>
                  </m:oMath>
                </a14:m>
                <a:endParaRPr lang="en-US" sz="1200" dirty="0"/>
              </a:p>
              <a:p>
                <a:pPr lvl="1"/>
                <a:endParaRPr lang="en-US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EC5A12F-2574-D43A-9BAF-5C50BFC4B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813624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D669470-0B34-F71C-7142-12C157D3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Models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1B9D71-50FC-ECEB-E7CE-DAC930F225F9}"/>
              </a:ext>
            </a:extLst>
          </p:cNvPr>
          <p:cNvSpPr/>
          <p:nvPr/>
        </p:nvSpPr>
        <p:spPr bwMode="gray">
          <a:xfrm>
            <a:off x="3131840" y="1779662"/>
            <a:ext cx="936104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5803F9-64D3-BDC5-CA3C-3455E8C7FE34}"/>
              </a:ext>
            </a:extLst>
          </p:cNvPr>
          <p:cNvSpPr/>
          <p:nvPr/>
        </p:nvSpPr>
        <p:spPr bwMode="gray">
          <a:xfrm>
            <a:off x="2170360" y="1779662"/>
            <a:ext cx="889471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3AB20A1-5C7A-C944-C150-A307E06B887C}"/>
              </a:ext>
            </a:extLst>
          </p:cNvPr>
          <p:cNvSpPr/>
          <p:nvPr/>
        </p:nvSpPr>
        <p:spPr bwMode="gray">
          <a:xfrm>
            <a:off x="2861452" y="2067694"/>
            <a:ext cx="846452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D7C60A4-9186-52C4-5556-C9BA1905F738}"/>
              </a:ext>
            </a:extLst>
          </p:cNvPr>
          <p:cNvSpPr/>
          <p:nvPr/>
        </p:nvSpPr>
        <p:spPr bwMode="gray">
          <a:xfrm>
            <a:off x="3809545" y="2064069"/>
            <a:ext cx="906470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9E0939-FE76-0F31-418B-ED14528002C0}"/>
              </a:ext>
            </a:extLst>
          </p:cNvPr>
          <p:cNvSpPr/>
          <p:nvPr/>
        </p:nvSpPr>
        <p:spPr bwMode="gray">
          <a:xfrm>
            <a:off x="4787268" y="2067694"/>
            <a:ext cx="1186903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0E6043D-34DF-85DE-D11F-51178F7E3008}"/>
              </a:ext>
            </a:extLst>
          </p:cNvPr>
          <p:cNvSpPr/>
          <p:nvPr/>
        </p:nvSpPr>
        <p:spPr bwMode="gray">
          <a:xfrm>
            <a:off x="6000130" y="2067694"/>
            <a:ext cx="588849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60ADC6-156A-0B15-2FDE-002D96BA126C}"/>
              </a:ext>
            </a:extLst>
          </p:cNvPr>
          <p:cNvCxnSpPr>
            <a:cxnSpLocks/>
            <a:stCxn id="14" idx="1"/>
          </p:cNvCxnSpPr>
          <p:nvPr/>
        </p:nvCxnSpPr>
        <p:spPr bwMode="gray">
          <a:xfrm flipH="1">
            <a:off x="4139952" y="1923678"/>
            <a:ext cx="2133058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4D5A1C4-C9A2-625A-775F-0C530C187CFA}"/>
              </a:ext>
            </a:extLst>
          </p:cNvPr>
          <p:cNvSpPr txBox="1"/>
          <p:nvPr/>
        </p:nvSpPr>
        <p:spPr bwMode="gray">
          <a:xfrm>
            <a:off x="6273010" y="1815666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skill belief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899D6D7-D417-84CC-FAC8-38EB55AEEFF9}"/>
              </a:ext>
            </a:extLst>
          </p:cNvPr>
          <p:cNvCxnSpPr>
            <a:cxnSpLocks/>
            <a:stCxn id="19" idx="1"/>
            <a:endCxn id="6" idx="2"/>
          </p:cNvCxnSpPr>
          <p:nvPr/>
        </p:nvCxnSpPr>
        <p:spPr bwMode="gray">
          <a:xfrm flipH="1" flipV="1">
            <a:off x="3284678" y="2355726"/>
            <a:ext cx="2727482" cy="5496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ADF7AE4-4B05-E855-567A-F5FA3ED05B07}"/>
              </a:ext>
            </a:extLst>
          </p:cNvPr>
          <p:cNvSpPr txBox="1"/>
          <p:nvPr/>
        </p:nvSpPr>
        <p:spPr bwMode="gray">
          <a:xfrm>
            <a:off x="6012160" y="2797315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Player performance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45CB56-D358-C45C-76A2-DCA43E6D4F4E}"/>
              </a:ext>
            </a:extLst>
          </p:cNvPr>
          <p:cNvSpPr txBox="1"/>
          <p:nvPr/>
        </p:nvSpPr>
        <p:spPr bwMode="gray">
          <a:xfrm>
            <a:off x="6038119" y="2559974"/>
            <a:ext cx="1625905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Match outcome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E26E04-6705-C1D8-AD82-5885706E4241}"/>
              </a:ext>
            </a:extLst>
          </p:cNvPr>
          <p:cNvCxnSpPr>
            <a:cxnSpLocks/>
            <a:stCxn id="30" idx="1"/>
            <a:endCxn id="8" idx="2"/>
          </p:cNvCxnSpPr>
          <p:nvPr/>
        </p:nvCxnSpPr>
        <p:spPr bwMode="gray">
          <a:xfrm flipH="1" flipV="1">
            <a:off x="5380720" y="2355726"/>
            <a:ext cx="657399" cy="3122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2A6A82-A22E-FA3F-2348-5494D605C885}"/>
              </a:ext>
            </a:extLst>
          </p:cNvPr>
          <p:cNvCxnSpPr>
            <a:cxnSpLocks/>
            <a:endCxn id="10" idx="3"/>
          </p:cNvCxnSpPr>
          <p:nvPr/>
        </p:nvCxnSpPr>
        <p:spPr bwMode="gray">
          <a:xfrm flipH="1">
            <a:off x="6588979" y="2211710"/>
            <a:ext cx="59843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134A210-5F61-9CB2-F1CB-7EB7F3A801C5}"/>
              </a:ext>
            </a:extLst>
          </p:cNvPr>
          <p:cNvSpPr txBox="1"/>
          <p:nvPr/>
        </p:nvSpPr>
        <p:spPr bwMode="gray">
          <a:xfrm>
            <a:off x="7308304" y="2103698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marginalization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A933318-25DC-9796-BA18-4692CE9256D7}"/>
              </a:ext>
            </a:extLst>
          </p:cNvPr>
          <p:cNvSpPr/>
          <p:nvPr/>
        </p:nvSpPr>
        <p:spPr bwMode="gray">
          <a:xfrm>
            <a:off x="2195736" y="3355846"/>
            <a:ext cx="846452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>
              <a:solidFill>
                <a:schemeClr val="bg1"/>
              </a:solidFill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666FBCF-F05A-C4C5-3012-C6B3D7E341D0}"/>
              </a:ext>
            </a:extLst>
          </p:cNvPr>
          <p:cNvSpPr/>
          <p:nvPr/>
        </p:nvSpPr>
        <p:spPr bwMode="gray">
          <a:xfrm>
            <a:off x="3059832" y="3651870"/>
            <a:ext cx="1152128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>
              <a:solidFill>
                <a:schemeClr val="bg1"/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C3C5896-0C1F-F26F-4BB5-BD0E9E850505}"/>
              </a:ext>
            </a:extLst>
          </p:cNvPr>
          <p:cNvSpPr/>
          <p:nvPr/>
        </p:nvSpPr>
        <p:spPr bwMode="gray">
          <a:xfrm>
            <a:off x="4240137" y="3651870"/>
            <a:ext cx="907927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>
              <a:solidFill>
                <a:schemeClr val="bg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59D134D-C55E-812E-9684-30FCF582E226}"/>
              </a:ext>
            </a:extLst>
          </p:cNvPr>
          <p:cNvSpPr/>
          <p:nvPr/>
        </p:nvSpPr>
        <p:spPr bwMode="gray">
          <a:xfrm>
            <a:off x="5218950" y="3651870"/>
            <a:ext cx="1486384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>
              <a:solidFill>
                <a:schemeClr val="bg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4BD1BA2-E1CF-3BE8-5253-41E04A2A1D13}"/>
              </a:ext>
            </a:extLst>
          </p:cNvPr>
          <p:cNvCxnSpPr>
            <a:cxnSpLocks/>
          </p:cNvCxnSpPr>
          <p:nvPr/>
        </p:nvCxnSpPr>
        <p:spPr bwMode="gray">
          <a:xfrm flipH="1">
            <a:off x="3059831" y="3510582"/>
            <a:ext cx="129614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0BE71E3-AE61-341B-5FB8-9C625F2F1533}"/>
              </a:ext>
            </a:extLst>
          </p:cNvPr>
          <p:cNvSpPr txBox="1"/>
          <p:nvPr/>
        </p:nvSpPr>
        <p:spPr bwMode="gray">
          <a:xfrm>
            <a:off x="3995936" y="3402570"/>
            <a:ext cx="331236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External state mapping parameter belief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0246DDD-652C-BC4B-C2A7-7E49805D97FD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3347864" y="3983856"/>
            <a:ext cx="720080" cy="53211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C3DA69B-B35E-6CDE-D5B8-3E4460CAC973}"/>
              </a:ext>
            </a:extLst>
          </p:cNvPr>
          <p:cNvSpPr txBox="1"/>
          <p:nvPr/>
        </p:nvSpPr>
        <p:spPr bwMode="gray">
          <a:xfrm>
            <a:off x="4079804" y="4480398"/>
            <a:ext cx="205222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Conditional hidden state model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4DFBE2-3061-A74F-72EB-9C2A840173F1}"/>
              </a:ext>
            </a:extLst>
          </p:cNvPr>
          <p:cNvSpPr txBox="1"/>
          <p:nvPr/>
        </p:nvSpPr>
        <p:spPr bwMode="gray">
          <a:xfrm>
            <a:off x="5218950" y="4258147"/>
            <a:ext cx="1625905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Observed temperature model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B0EAB26-BCB3-0E1B-59CD-BE2EAF0B7E1F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860002" y="3975384"/>
            <a:ext cx="216056" cy="34186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E5AC690-6EE1-A145-C8BA-B17D490B08CC}"/>
              </a:ext>
            </a:extLst>
          </p:cNvPr>
          <p:cNvCxnSpPr>
            <a:cxnSpLocks/>
            <a:stCxn id="51" idx="1"/>
            <a:endCxn id="53" idx="3"/>
          </p:cNvCxnSpPr>
          <p:nvPr/>
        </p:nvCxnSpPr>
        <p:spPr bwMode="gray">
          <a:xfrm flipH="1">
            <a:off x="7092280" y="3499862"/>
            <a:ext cx="521700" cy="2960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7FFBDD4-35DD-865B-1BDF-0EEBB915F61F}"/>
              </a:ext>
            </a:extLst>
          </p:cNvPr>
          <p:cNvSpPr txBox="1"/>
          <p:nvPr/>
        </p:nvSpPr>
        <p:spPr bwMode="gray">
          <a:xfrm>
            <a:off x="7613980" y="3391850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marginalization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4B280C76-49B7-5650-EB92-693A79C4A5F6}"/>
              </a:ext>
            </a:extLst>
          </p:cNvPr>
          <p:cNvSpPr/>
          <p:nvPr/>
        </p:nvSpPr>
        <p:spPr bwMode="gray">
          <a:xfrm>
            <a:off x="6741475" y="3651870"/>
            <a:ext cx="350805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907EBED-EEA2-9616-CA9B-52E516ED9EB5}"/>
              </a:ext>
            </a:extLst>
          </p:cNvPr>
          <p:cNvSpPr txBox="1"/>
          <p:nvPr/>
        </p:nvSpPr>
        <p:spPr bwMode="gray">
          <a:xfrm>
            <a:off x="5685855" y="4042123"/>
            <a:ext cx="117431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Dynamics model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0CA1400-8EB1-30F9-851B-9A67C4C7BAB3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5523774" y="3973217"/>
            <a:ext cx="167866" cy="17093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2790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4" grpId="0"/>
      <p:bldP spid="19" grpId="0"/>
      <p:bldP spid="30" grpId="0"/>
      <p:bldP spid="36" grpId="0"/>
      <p:bldP spid="39" grpId="0" animBg="1"/>
      <p:bldP spid="40" grpId="0" animBg="1"/>
      <p:bldP spid="41" grpId="0" animBg="1"/>
      <p:bldP spid="42" grpId="0" animBg="1"/>
      <p:bldP spid="44" grpId="0"/>
      <p:bldP spid="47" grpId="0"/>
      <p:bldP spid="48" grpId="0"/>
      <p:bldP spid="51" grpId="0"/>
      <p:bldP spid="53" grpId="0" animBg="1"/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3DA4-DCB4-D111-6E0C-1B542698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B536EB-9FE2-7259-331C-FBAD6EBD73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381576" cy="3563938"/>
          </a:xfrm>
        </p:spPr>
        <p:txBody>
          <a:bodyPr/>
          <a:lstStyle/>
          <a:p>
            <a:r>
              <a:rPr lang="en-US" b="1" dirty="0"/>
              <a:t>Observation</a:t>
            </a:r>
            <a:r>
              <a:rPr lang="en-US" dirty="0"/>
              <a:t>: The product structure of the probabilities seems crucial</a:t>
            </a:r>
          </a:p>
          <a:p>
            <a:r>
              <a:rPr lang="en-US" b="1" dirty="0"/>
              <a:t>Idea</a:t>
            </a:r>
            <a:r>
              <a:rPr lang="en-US" dirty="0"/>
              <a:t>: Define a graph where each of the variables are nodes and edges indicate factor relationships between variables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Advantages</a:t>
            </a:r>
            <a:r>
              <a:rPr lang="en-US" dirty="0"/>
              <a:t>: Simple way to visualize factor structure of the joint probability</a:t>
            </a:r>
          </a:p>
          <a:p>
            <a:pPr lvl="1"/>
            <a:r>
              <a:rPr lang="en-US" sz="1200" b="1" dirty="0"/>
              <a:t>Graphical Models</a:t>
            </a:r>
            <a:r>
              <a:rPr lang="en-US" sz="1200" dirty="0"/>
              <a:t>: Conditional independence based on graph properties</a:t>
            </a:r>
          </a:p>
          <a:p>
            <a:pPr lvl="1"/>
            <a:r>
              <a:rPr lang="en-US" sz="1200" b="1" dirty="0"/>
              <a:t>Factor Graphs</a:t>
            </a:r>
            <a:r>
              <a:rPr lang="en-US" sz="1200" dirty="0"/>
              <a:t>: Efficient inference and approximation algorithms (next week)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4F3770-0F34-99B0-3008-7DB9FBC1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D0939E7-5987-B091-39C5-68A364EC40EF}"/>
                  </a:ext>
                </a:extLst>
              </p:cNvPr>
              <p:cNvSpPr/>
              <p:nvPr/>
            </p:nvSpPr>
            <p:spPr bwMode="gray">
              <a:xfrm>
                <a:off x="5121416" y="323500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8C958C5-EE7F-F3CB-21EA-C914759EEB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21416" y="3235002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B6977C4-20E6-BC33-8CBC-E5ADD881D2A2}"/>
                  </a:ext>
                </a:extLst>
              </p:cNvPr>
              <p:cNvSpPr/>
              <p:nvPr/>
            </p:nvSpPr>
            <p:spPr bwMode="gray">
              <a:xfrm>
                <a:off x="5645691" y="3650507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7236F90-9C1D-FB82-71FE-89D9CEB722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5691" y="3650507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8501C0D-ABAA-D36F-A80E-FD9DFD7BB4CF}"/>
                  </a:ext>
                </a:extLst>
              </p:cNvPr>
              <p:cNvSpPr/>
              <p:nvPr/>
            </p:nvSpPr>
            <p:spPr bwMode="gray">
              <a:xfrm>
                <a:off x="5645691" y="323403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CCA0B49-97E4-C887-7250-32F7C3F2B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5691" y="3234039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75DDE64-E523-C58B-FC4A-C498B4F5C3F8}"/>
              </a:ext>
            </a:extLst>
          </p:cNvPr>
          <p:cNvCxnSpPr>
            <a:cxnSpLocks/>
            <a:stCxn id="24" idx="6"/>
            <a:endCxn id="27" idx="2"/>
          </p:cNvCxnSpPr>
          <p:nvPr/>
        </p:nvCxnSpPr>
        <p:spPr bwMode="gray">
          <a:xfrm flipV="1">
            <a:off x="5337416" y="3342039"/>
            <a:ext cx="308275" cy="9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124568B-1A22-40F9-E15E-DCCEE6487FED}"/>
                  </a:ext>
                </a:extLst>
              </p:cNvPr>
              <p:cNvSpPr/>
              <p:nvPr/>
            </p:nvSpPr>
            <p:spPr bwMode="gray">
              <a:xfrm>
                <a:off x="5636560" y="2552899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2355295-71FE-2424-2B71-70F07524D0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36560" y="2552899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DF17E80F-992F-D467-FDA1-063B768B2283}"/>
                  </a:ext>
                </a:extLst>
              </p:cNvPr>
              <p:cNvSpPr/>
              <p:nvPr/>
            </p:nvSpPr>
            <p:spPr bwMode="gray">
              <a:xfrm>
                <a:off x="6151705" y="3650507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48A70D1-2AB5-013A-743C-4E18577645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51705" y="3650507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BC40700-B5F9-0428-1F0F-9C4D2BF4EA0E}"/>
                  </a:ext>
                </a:extLst>
              </p:cNvPr>
              <p:cNvSpPr/>
              <p:nvPr/>
            </p:nvSpPr>
            <p:spPr bwMode="gray">
              <a:xfrm>
                <a:off x="6151705" y="323403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77927CC-9870-2932-C9EC-D07E21BF75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51705" y="3234039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D1BC98-05AE-C077-04FD-EDA916D1A06A}"/>
              </a:ext>
            </a:extLst>
          </p:cNvPr>
          <p:cNvCxnSpPr>
            <a:cxnSpLocks/>
            <a:stCxn id="27" idx="4"/>
            <a:endCxn id="26" idx="0"/>
          </p:cNvCxnSpPr>
          <p:nvPr/>
        </p:nvCxnSpPr>
        <p:spPr bwMode="gray">
          <a:xfrm>
            <a:off x="5753691" y="3450039"/>
            <a:ext cx="0" cy="200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13033D2-F849-7D93-11F6-56FEFB2847F2}"/>
              </a:ext>
            </a:extLst>
          </p:cNvPr>
          <p:cNvCxnSpPr>
            <a:cxnSpLocks/>
            <a:stCxn id="33" idx="4"/>
            <a:endCxn id="32" idx="0"/>
          </p:cNvCxnSpPr>
          <p:nvPr/>
        </p:nvCxnSpPr>
        <p:spPr bwMode="gray">
          <a:xfrm>
            <a:off x="6259705" y="3450039"/>
            <a:ext cx="0" cy="200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D42CDB4-7A84-5E5C-0CEF-119D12D6E4DD}"/>
              </a:ext>
            </a:extLst>
          </p:cNvPr>
          <p:cNvCxnSpPr>
            <a:cxnSpLocks/>
            <a:stCxn id="27" idx="6"/>
            <a:endCxn id="33" idx="2"/>
          </p:cNvCxnSpPr>
          <p:nvPr/>
        </p:nvCxnSpPr>
        <p:spPr bwMode="gray">
          <a:xfrm>
            <a:off x="5861691" y="3342039"/>
            <a:ext cx="2900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6830EFE-9633-EBC7-1E10-6091E92FDD9F}"/>
              </a:ext>
            </a:extLst>
          </p:cNvPr>
          <p:cNvCxnSpPr>
            <a:cxnSpLocks/>
            <a:stCxn id="31" idx="4"/>
            <a:endCxn id="27" idx="0"/>
          </p:cNvCxnSpPr>
          <p:nvPr/>
        </p:nvCxnSpPr>
        <p:spPr bwMode="gray">
          <a:xfrm>
            <a:off x="5744560" y="2768899"/>
            <a:ext cx="9131" cy="4651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8F28462-7CE7-EBEF-BB6D-DE75CF958F24}"/>
                  </a:ext>
                </a:extLst>
              </p:cNvPr>
              <p:cNvSpPr/>
              <p:nvPr/>
            </p:nvSpPr>
            <p:spPr bwMode="gray">
              <a:xfrm>
                <a:off x="6151705" y="2556003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9081A1D-60B4-DA01-A0ED-D5BDA92547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51705" y="2556003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727E1EA-1AB2-9372-D669-C403E783D615}"/>
              </a:ext>
            </a:extLst>
          </p:cNvPr>
          <p:cNvCxnSpPr>
            <a:cxnSpLocks/>
            <a:stCxn id="47" idx="4"/>
            <a:endCxn id="33" idx="0"/>
          </p:cNvCxnSpPr>
          <p:nvPr/>
        </p:nvCxnSpPr>
        <p:spPr bwMode="gray">
          <a:xfrm>
            <a:off x="6259705" y="2772003"/>
            <a:ext cx="0" cy="462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AEE851C-49CF-DE4B-9773-77B375E76EC1}"/>
                  </a:ext>
                </a:extLst>
              </p:cNvPr>
              <p:cNvSpPr/>
              <p:nvPr/>
            </p:nvSpPr>
            <p:spPr bwMode="gray">
              <a:xfrm>
                <a:off x="6660256" y="3648055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D78777A-F0A6-362E-0C62-9D135EB5C0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60256" y="3648055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555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39517F8-95B2-FEA9-2303-89E5AE3C4998}"/>
                  </a:ext>
                </a:extLst>
              </p:cNvPr>
              <p:cNvSpPr/>
              <p:nvPr/>
            </p:nvSpPr>
            <p:spPr bwMode="gray">
              <a:xfrm>
                <a:off x="6660256" y="323158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F345F7-75E7-C8D0-60C1-D2E3DFCF33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60256" y="3231587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DC6577F-B68B-1A02-3EA7-BB412F250850}"/>
              </a:ext>
            </a:extLst>
          </p:cNvPr>
          <p:cNvCxnSpPr>
            <a:cxnSpLocks/>
            <a:stCxn id="54" idx="4"/>
            <a:endCxn id="53" idx="0"/>
          </p:cNvCxnSpPr>
          <p:nvPr/>
        </p:nvCxnSpPr>
        <p:spPr bwMode="gray">
          <a:xfrm>
            <a:off x="6768256" y="3447587"/>
            <a:ext cx="0" cy="200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E487470A-E43A-FAD9-E53A-D418384DA84F}"/>
                  </a:ext>
                </a:extLst>
              </p:cNvPr>
              <p:cNvSpPr/>
              <p:nvPr/>
            </p:nvSpPr>
            <p:spPr bwMode="gray">
              <a:xfrm>
                <a:off x="6660256" y="2552899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BA1EC38-A5AD-5002-E56D-DBF2EB4CC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60256" y="2552899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AC15864-4C97-9851-24BD-323C8C11D4E4}"/>
              </a:ext>
            </a:extLst>
          </p:cNvPr>
          <p:cNvCxnSpPr>
            <a:cxnSpLocks/>
            <a:stCxn id="56" idx="4"/>
            <a:endCxn id="54" idx="0"/>
          </p:cNvCxnSpPr>
          <p:nvPr/>
        </p:nvCxnSpPr>
        <p:spPr bwMode="gray">
          <a:xfrm>
            <a:off x="6768256" y="2768899"/>
            <a:ext cx="0" cy="462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CF03641-A7A8-EF71-7820-58B1E58DBCD4}"/>
              </a:ext>
            </a:extLst>
          </p:cNvPr>
          <p:cNvCxnSpPr>
            <a:cxnSpLocks/>
            <a:stCxn id="24" idx="7"/>
            <a:endCxn id="33" idx="1"/>
          </p:cNvCxnSpPr>
          <p:nvPr/>
        </p:nvCxnSpPr>
        <p:spPr bwMode="gray">
          <a:xfrm rot="5400000" flipH="1" flipV="1">
            <a:off x="5744079" y="2827377"/>
            <a:ext cx="963" cy="877553"/>
          </a:xfrm>
          <a:prstGeom prst="curvedConnector3">
            <a:avLst>
              <a:gd name="adj1" fmla="val 2712305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0">
            <a:extLst>
              <a:ext uri="{FF2B5EF4-FFF2-40B4-BE49-F238E27FC236}">
                <a16:creationId xmlns:a16="http://schemas.microsoft.com/office/drawing/2014/main" id="{80830DA6-C265-B5FE-F21C-BE3612DD0389}"/>
              </a:ext>
            </a:extLst>
          </p:cNvPr>
          <p:cNvCxnSpPr>
            <a:cxnSpLocks/>
            <a:stCxn id="24" idx="7"/>
            <a:endCxn id="54" idx="1"/>
          </p:cNvCxnSpPr>
          <p:nvPr/>
        </p:nvCxnSpPr>
        <p:spPr bwMode="gray">
          <a:xfrm rot="5400000" flipH="1" flipV="1">
            <a:off x="5997129" y="2571875"/>
            <a:ext cx="3415" cy="1386104"/>
          </a:xfrm>
          <a:prstGeom prst="curvedConnector3">
            <a:avLst>
              <a:gd name="adj1" fmla="val 1005642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DB8C8B47-D1A2-44A3-2BCF-65CCA4F28EF2}"/>
                  </a:ext>
                </a:extLst>
              </p:cNvPr>
              <p:cNvSpPr/>
              <p:nvPr/>
            </p:nvSpPr>
            <p:spPr bwMode="gray">
              <a:xfrm>
                <a:off x="1907704" y="254371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EA4C3251-FE5C-9AC7-5536-97EE7424D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07704" y="2543711"/>
                <a:ext cx="216000" cy="2160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5C6BEA7-EAA8-3018-575B-B8947530D607}"/>
                  </a:ext>
                </a:extLst>
              </p:cNvPr>
              <p:cNvSpPr/>
              <p:nvPr/>
            </p:nvSpPr>
            <p:spPr bwMode="gray">
              <a:xfrm>
                <a:off x="2484205" y="254371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B6F9019-EF76-BF16-BEDD-BF469CFC9E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84205" y="2543711"/>
                <a:ext cx="216000" cy="216000"/>
              </a:xfrm>
              <a:prstGeom prst="ellipse">
                <a:avLst/>
              </a:prstGeom>
              <a:blipFill>
                <a:blip r:embed="rId1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FCE70972-21EF-9B25-9FF8-C06029C8D049}"/>
                  </a:ext>
                </a:extLst>
              </p:cNvPr>
              <p:cNvSpPr/>
              <p:nvPr/>
            </p:nvSpPr>
            <p:spPr bwMode="gray">
              <a:xfrm>
                <a:off x="1907704" y="304776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AAE407D3-DC21-A9B1-E96A-BFA2EBB218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07704" y="3047767"/>
                <a:ext cx="216000" cy="216000"/>
              </a:xfrm>
              <a:prstGeom prst="ellipse">
                <a:avLst/>
              </a:prstGeom>
              <a:blipFill>
                <a:blip r:embed="rId1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289592D-C81B-3636-22A0-FD823E54ADBA}"/>
                  </a:ext>
                </a:extLst>
              </p:cNvPr>
              <p:cNvSpPr/>
              <p:nvPr/>
            </p:nvSpPr>
            <p:spPr bwMode="gray">
              <a:xfrm>
                <a:off x="2484205" y="304776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04C9A74F-9141-079A-7093-9DB3F34BE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84205" y="3047767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8A15C2D4-D23E-560A-DDBA-A1ACEC92B15C}"/>
                  </a:ext>
                </a:extLst>
              </p:cNvPr>
              <p:cNvSpPr/>
              <p:nvPr/>
            </p:nvSpPr>
            <p:spPr bwMode="gray">
              <a:xfrm>
                <a:off x="2196205" y="3479847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86E1199-0E6C-B7A6-FD9F-1C477A3F0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6205" y="3479847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5B1E24A-5CF9-E0C3-DEA1-1ADF6A0976AB}"/>
              </a:ext>
            </a:extLst>
          </p:cNvPr>
          <p:cNvCxnSpPr>
            <a:stCxn id="74" idx="4"/>
            <a:endCxn id="76" idx="0"/>
          </p:cNvCxnSpPr>
          <p:nvPr/>
        </p:nvCxnSpPr>
        <p:spPr bwMode="gray">
          <a:xfrm>
            <a:off x="2015704" y="2759711"/>
            <a:ext cx="0" cy="288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67E11C1-742C-9C95-DE76-08C169FEC390}"/>
              </a:ext>
            </a:extLst>
          </p:cNvPr>
          <p:cNvCxnSpPr>
            <a:cxnSpLocks/>
            <a:stCxn id="75" idx="4"/>
            <a:endCxn id="77" idx="0"/>
          </p:cNvCxnSpPr>
          <p:nvPr/>
        </p:nvCxnSpPr>
        <p:spPr bwMode="gray">
          <a:xfrm>
            <a:off x="2592205" y="2759711"/>
            <a:ext cx="0" cy="288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DC5C3D1-3A9F-A65D-3036-9C1EA538F446}"/>
              </a:ext>
            </a:extLst>
          </p:cNvPr>
          <p:cNvCxnSpPr>
            <a:cxnSpLocks/>
            <a:stCxn id="77" idx="4"/>
            <a:endCxn id="78" idx="7"/>
          </p:cNvCxnSpPr>
          <p:nvPr/>
        </p:nvCxnSpPr>
        <p:spPr bwMode="gray">
          <a:xfrm flipH="1">
            <a:off x="2380573" y="3263767"/>
            <a:ext cx="211632" cy="247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7481B9A-628C-BBB0-514B-0BCE64F06C3E}"/>
              </a:ext>
            </a:extLst>
          </p:cNvPr>
          <p:cNvCxnSpPr>
            <a:cxnSpLocks/>
            <a:stCxn id="76" idx="4"/>
            <a:endCxn id="78" idx="1"/>
          </p:cNvCxnSpPr>
          <p:nvPr/>
        </p:nvCxnSpPr>
        <p:spPr bwMode="gray">
          <a:xfrm>
            <a:off x="2015704" y="3263767"/>
            <a:ext cx="212133" cy="247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F6DCA97-04D7-9451-6499-4F3C8061E252}"/>
              </a:ext>
            </a:extLst>
          </p:cNvPr>
          <p:cNvCxnSpPr>
            <a:cxnSpLocks/>
            <a:stCxn id="33" idx="6"/>
            <a:endCxn id="54" idx="2"/>
          </p:cNvCxnSpPr>
          <p:nvPr/>
        </p:nvCxnSpPr>
        <p:spPr bwMode="gray">
          <a:xfrm flipV="1">
            <a:off x="6367705" y="3339587"/>
            <a:ext cx="292551" cy="2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2831BBE-13BF-4235-8406-07C5CAA2F7ED}"/>
                  </a:ext>
                </a:extLst>
              </p:cNvPr>
              <p:cNvSpPr txBox="1"/>
              <p:nvPr/>
            </p:nvSpPr>
            <p:spPr bwMode="gray">
              <a:xfrm>
                <a:off x="468001" y="2147099"/>
                <a:ext cx="3672408" cy="2171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x-none" sz="8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AC2F6BF-FA1F-538F-5F40-093B6DD51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68001" y="2147099"/>
                <a:ext cx="3672408" cy="21711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950C9B5-C1A2-624E-377B-75BCE9062FF6}"/>
                  </a:ext>
                </a:extLst>
              </p:cNvPr>
              <p:cNvSpPr txBox="1"/>
              <p:nvPr/>
            </p:nvSpPr>
            <p:spPr bwMode="gray">
              <a:xfrm>
                <a:off x="4330492" y="2139702"/>
                <a:ext cx="3905413" cy="2154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x-none" sz="8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5EB6FC7-DFA6-37DD-CD8E-98A1C3F69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30492" y="2139702"/>
                <a:ext cx="3905413" cy="215444"/>
              </a:xfrm>
              <a:prstGeom prst="rect">
                <a:avLst/>
              </a:prstGeom>
              <a:blipFill>
                <a:blip r:embed="rId19"/>
                <a:stretch>
                  <a:fillRect b="-55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5266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" dur="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" dur="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" dur="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7" grpId="0" animBg="1"/>
      <p:bldP spid="31" grpId="0" animBg="1"/>
      <p:bldP spid="32" grpId="0" animBg="1"/>
      <p:bldP spid="33" grpId="0" animBg="1"/>
      <p:bldP spid="47" grpId="0" animBg="1"/>
      <p:bldP spid="53" grpId="0" animBg="1"/>
      <p:bldP spid="54" grpId="0" animBg="1"/>
      <p:bldP spid="56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87" grpId="0" animBg="1"/>
      <p:bldP spid="8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49528" cy="3563938"/>
              </a:xfrm>
            </p:spPr>
            <p:txBody>
              <a:bodyPr/>
              <a:lstStyle/>
              <a:p>
                <a:r>
                  <a:rPr lang="en-US" dirty="0"/>
                  <a:t>In modelling specific data, domain experts often know whether two (latent) measurements can affect each other or not (i.e., are independent)</a:t>
                </a:r>
              </a:p>
              <a:p>
                <a:pPr lvl="1"/>
                <a:r>
                  <a:rPr lang="en-US" sz="1200" b="1" dirty="0"/>
                  <a:t>Examples</a:t>
                </a:r>
                <a:r>
                  <a:rPr lang="en-US" sz="1200" dirty="0"/>
                  <a:t>: </a:t>
                </a:r>
              </a:p>
              <a:p>
                <a:pPr lvl="2"/>
                <a:r>
                  <a:rPr lang="en-US" sz="1200" dirty="0"/>
                  <a:t>Skills of two players in a video game are not dependent if they never played before </a:t>
                </a:r>
              </a:p>
              <a:p>
                <a:pPr lvl="2"/>
                <a:r>
                  <a:rPr lang="en-US" sz="1200" dirty="0"/>
                  <a:t>Skills of two players in a video game </a:t>
                </a:r>
                <a:r>
                  <a:rPr lang="en-US" sz="1200" i="1" dirty="0"/>
                  <a:t>are</a:t>
                </a:r>
                <a:r>
                  <a:rPr lang="en-US" sz="1200" dirty="0"/>
                  <a:t> dependent if they have played many times!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Graphical models are useful to determine conditional independence.</a:t>
                </a:r>
              </a:p>
              <a:p>
                <a:r>
                  <a:rPr lang="en-US" b="1" dirty="0"/>
                  <a:t>Conditional Independence</a:t>
                </a:r>
                <a:r>
                  <a:rPr lang="en-US" dirty="0"/>
                  <a:t>. </a:t>
                </a:r>
                <a:r>
                  <a:rPr lang="en-US" i="1" dirty="0"/>
                  <a:t>A random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is conditionally independent of a random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i="1" dirty="0"/>
                  <a:t> given the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i="1" dirty="0"/>
                  <a:t> if for all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sz="1200" dirty="0"/>
                  <a:t>Equivalent definition: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Shorthand notation (</a:t>
                </a:r>
                <a:r>
                  <a:rPr lang="en-US" sz="1200" dirty="0" err="1"/>
                  <a:t>Dawid</a:t>
                </a:r>
                <a:r>
                  <a:rPr lang="en-US" sz="1200" dirty="0"/>
                  <a:t>, 1979):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1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49528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BA71FA-AD23-95A1-9C21-AA1250DF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1F1488-7F54-D0AA-E42A-8A00DA28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37771" y="1187559"/>
            <a:ext cx="648072" cy="97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73F08F-8B5F-D737-B092-D02B380770F9}"/>
              </a:ext>
            </a:extLst>
          </p:cNvPr>
          <p:cNvSpPr txBox="1"/>
          <p:nvPr/>
        </p:nvSpPr>
        <p:spPr bwMode="gray">
          <a:xfrm>
            <a:off x="7806716" y="2161188"/>
            <a:ext cx="910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Philip </a:t>
            </a:r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Dawid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(1946– 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847048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7313B-B1D2-4AEB-8E87-1C760FFC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B4B779-941F-0E4D-E69E-32C9CECEC7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4" y="1239838"/>
            <a:ext cx="7309569" cy="356393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Graphical Models</a:t>
            </a:r>
          </a:p>
          <a:p>
            <a:r>
              <a:rPr lang="en-GB" b="1" dirty="0"/>
              <a:t>Directed Graphical Models: Bayesian Networks</a:t>
            </a:r>
          </a:p>
          <a:p>
            <a:r>
              <a:rPr lang="en-GB" dirty="0"/>
              <a:t>Undirected Graphical Models: Markov Random Fields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3E524B-AA66-83C6-94C7-6A1894CE8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31226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04EA4E6-975F-C888-69DE-8EED6FDEDC1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124780"/>
                <a:ext cx="7453584" cy="2250122"/>
              </a:xfrm>
            </p:spPr>
            <p:txBody>
              <a:bodyPr/>
              <a:lstStyle/>
              <a:p>
                <a:r>
                  <a:rPr lang="x-none" b="1" dirty="0"/>
                  <a:t>Observation</a:t>
                </a:r>
                <a:r>
                  <a:rPr lang="x-none" dirty="0"/>
                  <a:t>. Any joint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x-none" dirty="0"/>
                  <a:t> can be 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x-none" dirty="0"/>
              </a:p>
              <a:p>
                <a:r>
                  <a:rPr lang="x-none" b="1"/>
                  <a:t>Bayesian </a:t>
                </a:r>
                <a:r>
                  <a:rPr lang="x-none" b="1" dirty="0"/>
                  <a:t>Network</a:t>
                </a:r>
                <a:r>
                  <a:rPr lang="x-none" dirty="0"/>
                  <a:t>. </a:t>
                </a:r>
                <a:r>
                  <a:rPr lang="x-none" i="1" dirty="0"/>
                  <a:t>Given a joint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parents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x-none" i="1" dirty="0"/>
              </a:p>
              <a:p>
                <a:pPr marL="268287" lvl="1" indent="0">
                  <a:buNone/>
                </a:pPr>
                <a:r>
                  <a:rPr lang="x-none" i="1" dirty="0"/>
                  <a:t>a </a:t>
                </a:r>
                <a:r>
                  <a:rPr lang="x-none" dirty="0"/>
                  <a:t>Bayesian network</a:t>
                </a:r>
                <a:r>
                  <a:rPr lang="x-none" i="1" dirty="0"/>
                  <a:t> is a graph with a node for every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x-none" i="1" dirty="0"/>
                  <a:t>, and a directed edge from every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parent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x-none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x-none" dirty="0"/>
                  <a:t>. </a:t>
                </a:r>
                <a:endParaRPr lang="x-none" b="1" dirty="0"/>
              </a:p>
              <a:p>
                <a:r>
                  <a:rPr lang="x-none" b="1" dirty="0"/>
                  <a:t>Examples</a:t>
                </a:r>
                <a:r>
                  <a:rPr lang="x-none" dirty="0"/>
                  <a:t>: For 3 variables, we have these four </a:t>
                </a:r>
                <a:r>
                  <a:rPr lang="x-none"/>
                  <a:t>generic Bayesian </a:t>
                </a:r>
                <a:r>
                  <a:rPr lang="x-none" dirty="0"/>
                  <a:t>networks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04EA4E6-975F-C888-69DE-8EED6FDEDC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124780"/>
                <a:ext cx="7453584" cy="2250122"/>
              </a:xfrm>
              <a:blipFill>
                <a:blip r:embed="rId2"/>
                <a:stretch>
                  <a:fillRect t="-17978" b="-28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13B797AE-F660-51F1-5476-6372EA92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Bayesian </a:t>
            </a:r>
            <a:r>
              <a:rPr lang="x-none" dirty="0"/>
              <a:t>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F43FB09-C41D-47DB-72A4-39585FA8876E}"/>
                  </a:ext>
                </a:extLst>
              </p:cNvPr>
              <p:cNvSpPr/>
              <p:nvPr/>
            </p:nvSpPr>
            <p:spPr bwMode="gray">
              <a:xfrm>
                <a:off x="745019" y="380743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e-DE" sz="1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F43FB09-C41D-47DB-72A4-39585FA887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5019" y="3807431"/>
                <a:ext cx="216000" cy="216000"/>
              </a:xfrm>
              <a:prstGeom prst="ellipse">
                <a:avLst/>
              </a:prstGeom>
              <a:blipFill rotWithShape="1"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F04414D-0AE9-F4FE-2E99-1777CC633ACC}"/>
                  </a:ext>
                </a:extLst>
              </p:cNvPr>
              <p:cNvSpPr/>
              <p:nvPr/>
            </p:nvSpPr>
            <p:spPr bwMode="gray">
              <a:xfrm>
                <a:off x="1321520" y="380743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F04414D-0AE9-F4FE-2E99-1777CC633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21520" y="3807431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2F384CF-2583-A9E8-30F3-D6D817F50F7E}"/>
                  </a:ext>
                </a:extLst>
              </p:cNvPr>
              <p:cNvSpPr/>
              <p:nvPr/>
            </p:nvSpPr>
            <p:spPr bwMode="gray">
              <a:xfrm>
                <a:off x="1032558" y="427569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2F384CF-2583-A9E8-30F3-D6D817F50F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32558" y="4275694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983E4D-E936-1D47-41DE-C586CE37B75C}"/>
              </a:ext>
            </a:extLst>
          </p:cNvPr>
          <p:cNvCxnSpPr>
            <a:cxnSpLocks/>
            <a:stCxn id="6" idx="4"/>
            <a:endCxn id="8" idx="1"/>
          </p:cNvCxnSpPr>
          <p:nvPr/>
        </p:nvCxnSpPr>
        <p:spPr bwMode="gray">
          <a:xfrm>
            <a:off x="853019" y="4023431"/>
            <a:ext cx="211171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1EF292-0C37-A498-3E8C-580AE2BD37BE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 bwMode="gray">
          <a:xfrm>
            <a:off x="961019" y="3915431"/>
            <a:ext cx="360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1D0AE4-82EE-DB5E-27FC-DCDAE7919C40}"/>
              </a:ext>
            </a:extLst>
          </p:cNvPr>
          <p:cNvCxnSpPr>
            <a:cxnSpLocks/>
            <a:stCxn id="7" idx="4"/>
            <a:endCxn id="8" idx="7"/>
          </p:cNvCxnSpPr>
          <p:nvPr/>
        </p:nvCxnSpPr>
        <p:spPr bwMode="gray">
          <a:xfrm flipH="1">
            <a:off x="1216926" y="4023431"/>
            <a:ext cx="212594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382F31B-2BEF-80E4-02CC-A97DFE798CCA}"/>
                  </a:ext>
                </a:extLst>
              </p:cNvPr>
              <p:cNvSpPr/>
              <p:nvPr/>
            </p:nvSpPr>
            <p:spPr bwMode="gray">
              <a:xfrm>
                <a:off x="2722579" y="379982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382F31B-2BEF-80E4-02CC-A97DFE798C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22579" y="3799822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840F633-D853-C347-23A5-4188970869F1}"/>
                  </a:ext>
                </a:extLst>
              </p:cNvPr>
              <p:cNvSpPr/>
              <p:nvPr/>
            </p:nvSpPr>
            <p:spPr bwMode="gray">
              <a:xfrm>
                <a:off x="3299080" y="379982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840F633-D853-C347-23A5-418897086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99080" y="3799822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72337D8-5214-A725-522D-015C1ABE1379}"/>
                  </a:ext>
                </a:extLst>
              </p:cNvPr>
              <p:cNvSpPr/>
              <p:nvPr/>
            </p:nvSpPr>
            <p:spPr bwMode="gray">
              <a:xfrm>
                <a:off x="3010118" y="42680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72337D8-5214-A725-522D-015C1ABE13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10118" y="4268085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3563CD1-303E-12A6-00CD-870D67DDAA64}"/>
              </a:ext>
            </a:extLst>
          </p:cNvPr>
          <p:cNvCxnSpPr>
            <a:cxnSpLocks/>
            <a:stCxn id="20" idx="4"/>
            <a:endCxn id="22" idx="1"/>
          </p:cNvCxnSpPr>
          <p:nvPr/>
        </p:nvCxnSpPr>
        <p:spPr bwMode="gray">
          <a:xfrm>
            <a:off x="2830579" y="4015822"/>
            <a:ext cx="211171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1F71625-0FA4-9D8A-6345-96A59E12ECBD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 bwMode="gray">
          <a:xfrm>
            <a:off x="2938579" y="3907822"/>
            <a:ext cx="360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0454C50-0459-0BD0-A08D-EA23DC9DF156}"/>
                  </a:ext>
                </a:extLst>
              </p:cNvPr>
              <p:cNvSpPr/>
              <p:nvPr/>
            </p:nvSpPr>
            <p:spPr bwMode="gray">
              <a:xfrm>
                <a:off x="4585007" y="379982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0454C50-0459-0BD0-A08D-EA23DC9DF1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85007" y="3799822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9CB83FC-5D27-92D0-00D8-BA16F1056624}"/>
                  </a:ext>
                </a:extLst>
              </p:cNvPr>
              <p:cNvSpPr/>
              <p:nvPr/>
            </p:nvSpPr>
            <p:spPr bwMode="gray">
              <a:xfrm>
                <a:off x="5161508" y="379982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9CB83FC-5D27-92D0-00D8-BA16F1056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61508" y="3799822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376FD48-1A62-7DF3-1FCA-FFEAB562FF30}"/>
                  </a:ext>
                </a:extLst>
              </p:cNvPr>
              <p:cNvSpPr/>
              <p:nvPr/>
            </p:nvSpPr>
            <p:spPr bwMode="gray">
              <a:xfrm>
                <a:off x="4872546" y="426808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376FD48-1A62-7DF3-1FCA-FFEAB562FF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72546" y="4268085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C97A35-157A-B274-C3DC-10B587C02494}"/>
              </a:ext>
            </a:extLst>
          </p:cNvPr>
          <p:cNvCxnSpPr>
            <a:cxnSpLocks/>
            <a:stCxn id="31" idx="6"/>
            <a:endCxn id="32" idx="2"/>
          </p:cNvCxnSpPr>
          <p:nvPr/>
        </p:nvCxnSpPr>
        <p:spPr bwMode="gray">
          <a:xfrm>
            <a:off x="4801007" y="3907822"/>
            <a:ext cx="360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580C028-01DD-5206-110D-F8FB213C05D9}"/>
              </a:ext>
            </a:extLst>
          </p:cNvPr>
          <p:cNvCxnSpPr>
            <a:cxnSpLocks/>
            <a:stCxn id="32" idx="4"/>
            <a:endCxn id="33" idx="7"/>
          </p:cNvCxnSpPr>
          <p:nvPr/>
        </p:nvCxnSpPr>
        <p:spPr bwMode="gray">
          <a:xfrm flipH="1">
            <a:off x="5056914" y="4015822"/>
            <a:ext cx="212594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800814F-36D5-3B2D-AAF6-B61EAB78C5C6}"/>
                  </a:ext>
                </a:extLst>
              </p:cNvPr>
              <p:cNvSpPr txBox="1"/>
              <p:nvPr/>
            </p:nvSpPr>
            <p:spPr bwMode="gray">
              <a:xfrm>
                <a:off x="35496" y="4541837"/>
                <a:ext cx="216024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x-none" sz="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800814F-36D5-3B2D-AAF6-B61EAB78C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496" y="4541837"/>
                <a:ext cx="2160240" cy="215444"/>
              </a:xfrm>
              <a:prstGeom prst="rect">
                <a:avLst/>
              </a:prstGeom>
              <a:blipFill>
                <a:blip r:embed="rId1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094BE9F-AFA8-1427-E463-CB18E4E77AAF}"/>
                  </a:ext>
                </a:extLst>
              </p:cNvPr>
              <p:cNvSpPr txBox="1"/>
              <p:nvPr/>
            </p:nvSpPr>
            <p:spPr bwMode="gray">
              <a:xfrm>
                <a:off x="2195736" y="4463295"/>
                <a:ext cx="1845103" cy="438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∏"/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sz="8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094BE9F-AFA8-1427-E463-CB18E4E77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36" y="4463295"/>
                <a:ext cx="1845103" cy="438582"/>
              </a:xfrm>
              <a:prstGeom prst="rect">
                <a:avLst/>
              </a:prstGeom>
              <a:blipFill>
                <a:blip r:embed="rId13"/>
                <a:stretch>
                  <a:fillRect t="-77143" b="-12857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4E9454-ADC4-B4A1-97F9-5F1BA09C1C48}"/>
                  </a:ext>
                </a:extLst>
              </p:cNvPr>
              <p:cNvSpPr txBox="1"/>
              <p:nvPr/>
            </p:nvSpPr>
            <p:spPr bwMode="gray">
              <a:xfrm>
                <a:off x="4067944" y="4469829"/>
                <a:ext cx="1845103" cy="438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∏"/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4E9454-ADC4-B4A1-97F9-5F1BA09C1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67944" y="4469829"/>
                <a:ext cx="1845103" cy="438582"/>
              </a:xfrm>
              <a:prstGeom prst="rect">
                <a:avLst/>
              </a:prstGeom>
              <a:blipFill>
                <a:blip r:embed="rId14"/>
                <a:stretch>
                  <a:fillRect t="-72222" b="-12222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8A941DA-C69D-B58C-9CB3-495373BEEF60}"/>
                  </a:ext>
                </a:extLst>
              </p:cNvPr>
              <p:cNvSpPr txBox="1"/>
              <p:nvPr/>
            </p:nvSpPr>
            <p:spPr bwMode="gray">
              <a:xfrm>
                <a:off x="5796136" y="4469829"/>
                <a:ext cx="1845103" cy="449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∏"/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8A941DA-C69D-B58C-9CB3-495373BEE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96136" y="4469829"/>
                <a:ext cx="1845103" cy="449482"/>
              </a:xfrm>
              <a:prstGeom prst="rect">
                <a:avLst/>
              </a:prstGeom>
              <a:blipFill>
                <a:blip r:embed="rId15"/>
                <a:stretch>
                  <a:fillRect t="-70270" b="-11621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6C68A46F-B012-74C0-14FA-D59D61162A9D}"/>
                  </a:ext>
                </a:extLst>
              </p:cNvPr>
              <p:cNvSpPr/>
              <p:nvPr/>
            </p:nvSpPr>
            <p:spPr bwMode="gray">
              <a:xfrm>
                <a:off x="6444974" y="380839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6C68A46F-B012-74C0-14FA-D59D61162A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44974" y="3808392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338D707-E60B-7427-1FE5-2C3F6684F334}"/>
                  </a:ext>
                </a:extLst>
              </p:cNvPr>
              <p:cNvSpPr/>
              <p:nvPr/>
            </p:nvSpPr>
            <p:spPr bwMode="gray">
              <a:xfrm>
                <a:off x="7021475" y="380839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338D707-E60B-7427-1FE5-2C3F6684F3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21475" y="3808392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FBE3393-17A5-5A8F-BEF7-1BD5DD5B87C0}"/>
                  </a:ext>
                </a:extLst>
              </p:cNvPr>
              <p:cNvSpPr/>
              <p:nvPr/>
            </p:nvSpPr>
            <p:spPr bwMode="gray">
              <a:xfrm>
                <a:off x="6732513" y="427665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FBE3393-17A5-5A8F-BEF7-1BD5DD5B87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32513" y="4276655"/>
                <a:ext cx="216000" cy="216000"/>
              </a:xfrm>
              <a:prstGeom prst="ellipse">
                <a:avLst/>
              </a:prstGeom>
              <a:blipFill>
                <a:blip r:embed="rId18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302C8BD-652D-86BD-BD23-16720ED0843B}"/>
              </a:ext>
            </a:extLst>
          </p:cNvPr>
          <p:cNvCxnSpPr>
            <a:cxnSpLocks/>
            <a:stCxn id="56" idx="4"/>
            <a:endCxn id="58" idx="1"/>
          </p:cNvCxnSpPr>
          <p:nvPr/>
        </p:nvCxnSpPr>
        <p:spPr bwMode="gray">
          <a:xfrm>
            <a:off x="6552974" y="4024392"/>
            <a:ext cx="211171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BF2680D-F29A-7662-3076-D3885BC7C354}"/>
              </a:ext>
            </a:extLst>
          </p:cNvPr>
          <p:cNvCxnSpPr>
            <a:cxnSpLocks/>
            <a:stCxn id="57" idx="4"/>
            <a:endCxn id="58" idx="7"/>
          </p:cNvCxnSpPr>
          <p:nvPr/>
        </p:nvCxnSpPr>
        <p:spPr bwMode="gray">
          <a:xfrm flipH="1">
            <a:off x="6916881" y="4024392"/>
            <a:ext cx="212594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24D4276-AB69-A3FF-B6C9-61E97CBE5E46}"/>
              </a:ext>
            </a:extLst>
          </p:cNvPr>
          <p:cNvSpPr txBox="1"/>
          <p:nvPr/>
        </p:nvSpPr>
        <p:spPr bwMode="gray">
          <a:xfrm>
            <a:off x="615734" y="4851956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full mesh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428AE5-2D87-3BF3-E21E-111813799040}"/>
              </a:ext>
            </a:extLst>
          </p:cNvPr>
          <p:cNvSpPr txBox="1"/>
          <p:nvPr/>
        </p:nvSpPr>
        <p:spPr bwMode="gray">
          <a:xfrm>
            <a:off x="2584550" y="4856600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star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A55149F-47EB-96AA-2759-F11FD3CBA1D0}"/>
              </a:ext>
            </a:extLst>
          </p:cNvPr>
          <p:cNvSpPr txBox="1"/>
          <p:nvPr/>
        </p:nvSpPr>
        <p:spPr bwMode="gray">
          <a:xfrm>
            <a:off x="4555416" y="4851956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chain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9E48EF-7496-D42D-9C88-C4F73D0A82D3}"/>
              </a:ext>
            </a:extLst>
          </p:cNvPr>
          <p:cNvSpPr txBox="1"/>
          <p:nvPr/>
        </p:nvSpPr>
        <p:spPr bwMode="gray">
          <a:xfrm>
            <a:off x="6383313" y="4876006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sink</a:t>
            </a:r>
            <a:endParaRPr lang="x-non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928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20" grpId="0" animBg="1"/>
      <p:bldP spid="21" grpId="0" animBg="1"/>
      <p:bldP spid="22" grpId="0" animBg="1"/>
      <p:bldP spid="31" grpId="0" animBg="1"/>
      <p:bldP spid="32" grpId="0" animBg="1"/>
      <p:bldP spid="33" grpId="0" animBg="1"/>
      <p:bldP spid="38" grpId="0"/>
      <p:bldP spid="39" grpId="0"/>
      <p:bldP spid="41" grpId="0"/>
      <p:bldP spid="47" grpId="0"/>
      <p:bldP spid="56" grpId="0" animBg="1"/>
      <p:bldP spid="57" grpId="0" animBg="1"/>
      <p:bldP spid="58" grpId="0" animBg="1"/>
      <p:bldP spid="62" grpId="0"/>
      <p:bldP spid="63" grpId="0"/>
      <p:bldP spid="64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582D2E86-4CEE-FCC6-0032-8245341DEF37}"/>
                  </a:ext>
                </a:extLst>
              </p:cNvPr>
              <p:cNvSpPr/>
              <p:nvPr/>
            </p:nvSpPr>
            <p:spPr bwMode="gray">
              <a:xfrm>
                <a:off x="7821767" y="1919347"/>
                <a:ext cx="481096" cy="661521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none" sz="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=2,…,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x-none" sz="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582D2E86-4CEE-FCC6-0032-8245341DEF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21767" y="1919347"/>
                <a:ext cx="481096" cy="66152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95B336-616A-9B6A-3457-6BC8E2B5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005900" cy="2097101"/>
          </a:xfrm>
        </p:spPr>
        <p:txBody>
          <a:bodyPr/>
          <a:lstStyle/>
          <a:p>
            <a:r>
              <a:rPr lang="en-US" b="1" dirty="0"/>
              <a:t>Plate</a:t>
            </a:r>
            <a:r>
              <a:rPr lang="en-US" dirty="0"/>
              <a:t>. If a subset of variables has the same relation only differing in their index, we use a ”plate” to collapse them into a single graphical element.</a:t>
            </a:r>
          </a:p>
          <a:p>
            <a:pPr lvl="1"/>
            <a:r>
              <a:rPr lang="en-US" sz="1200" dirty="0"/>
              <a:t>Increase readability of models for large amounts of parameters and data</a:t>
            </a:r>
          </a:p>
          <a:p>
            <a:r>
              <a:rPr lang="en-US" dirty="0"/>
              <a:t>A Bayesian network must always be a </a:t>
            </a:r>
            <a:r>
              <a:rPr lang="en-US" b="1" dirty="0"/>
              <a:t>directed acyclic graph</a:t>
            </a:r>
            <a:r>
              <a:rPr lang="en-US" dirty="0"/>
              <a:t> because only those have a topological order corresponding to a variable order.</a:t>
            </a:r>
            <a:endParaRPr lang="en-US" sz="1200" b="1" dirty="0"/>
          </a:p>
          <a:p>
            <a:r>
              <a:rPr lang="en-US" b="1" dirty="0"/>
              <a:t>Observed Variables</a:t>
            </a:r>
            <a:r>
              <a:rPr lang="en-US" dirty="0"/>
              <a:t>. If a subset of variables has been observed (“data”), the variable nodes are usually shaded (“clamped”).</a:t>
            </a:r>
            <a:endParaRPr lang="en-US" b="1" dirty="0"/>
          </a:p>
          <a:p>
            <a:pPr lvl="1"/>
            <a:r>
              <a:rPr lang="en-US" sz="1200" b="1" dirty="0"/>
              <a:t>Example</a:t>
            </a:r>
            <a:r>
              <a:rPr lang="en-US" sz="1200" dirty="0"/>
              <a:t>: Discriminatory Models</a:t>
            </a:r>
            <a:endParaRPr lang="en-US" sz="12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006F2A-2EE2-D0A5-BD8B-73552D71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Network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2E14595-3F35-ED79-133F-5616F6D94A7E}"/>
                  </a:ext>
                </a:extLst>
              </p:cNvPr>
              <p:cNvSpPr/>
              <p:nvPr/>
            </p:nvSpPr>
            <p:spPr bwMode="gray">
              <a:xfrm>
                <a:off x="7939854" y="153676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2E14595-3F35-ED79-133F-5616F6D94A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39854" y="1536764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A92E454-1628-9A86-BEF9-2660F14E3295}"/>
                  </a:ext>
                </a:extLst>
              </p:cNvPr>
              <p:cNvSpPr/>
              <p:nvPr/>
            </p:nvSpPr>
            <p:spPr bwMode="gray">
              <a:xfrm>
                <a:off x="7947672" y="208593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A92E454-1628-9A86-BEF9-2660F14E3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47672" y="2085930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BC0C4E-C50A-2A37-E702-1C59A677197F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 bwMode="gray">
          <a:xfrm>
            <a:off x="8047854" y="1752764"/>
            <a:ext cx="7818" cy="333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5C92A2-A070-8722-85AF-A7C685802B36}"/>
                  </a:ext>
                </a:extLst>
              </p:cNvPr>
              <p:cNvSpPr txBox="1"/>
              <p:nvPr/>
            </p:nvSpPr>
            <p:spPr bwMode="gray">
              <a:xfrm>
                <a:off x="7164288" y="1131590"/>
                <a:ext cx="1845103" cy="428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∏"/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5C92A2-A070-8722-85AF-A7C685802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64288" y="1131590"/>
                <a:ext cx="1845103" cy="428515"/>
              </a:xfrm>
              <a:prstGeom prst="rect">
                <a:avLst/>
              </a:prstGeom>
              <a:blipFill>
                <a:blip r:embed="rId5"/>
                <a:stretch>
                  <a:fillRect t="-82353" b="-132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6566E93F-40F7-6FB5-0E74-11B63BFA89AC}"/>
                  </a:ext>
                </a:extLst>
              </p:cNvPr>
              <p:cNvSpPr/>
              <p:nvPr/>
            </p:nvSpPr>
            <p:spPr bwMode="gray">
              <a:xfrm>
                <a:off x="2978132" y="4034454"/>
                <a:ext cx="841136" cy="625282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none" sz="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x-none" sz="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6566E93F-40F7-6FB5-0E74-11B63BFA8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78132" y="4034454"/>
                <a:ext cx="841136" cy="62528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AEBA7A9-CE7D-EB38-35E6-01C5E86A6B98}"/>
                  </a:ext>
                </a:extLst>
              </p:cNvPr>
              <p:cNvSpPr/>
              <p:nvPr/>
            </p:nvSpPr>
            <p:spPr bwMode="gray">
              <a:xfrm>
                <a:off x="3456259" y="36518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x-none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AEBA7A9-CE7D-EB38-35E6-01C5E86A6B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56259" y="3651870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2BC4F6F-CD57-8037-7133-F6D069EEE3AD}"/>
                  </a:ext>
                </a:extLst>
              </p:cNvPr>
              <p:cNvSpPr/>
              <p:nvPr/>
            </p:nvSpPr>
            <p:spPr bwMode="gray">
              <a:xfrm>
                <a:off x="3464077" y="4201036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2BC4F6F-CD57-8037-7133-F6D069EEE3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64077" y="4201036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46BC3D-20F9-89B1-2B5C-7300195448BB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 bwMode="gray">
          <a:xfrm>
            <a:off x="3564259" y="3867870"/>
            <a:ext cx="7818" cy="333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6825D6B-1CE8-D96D-91B8-55D564F58BE8}"/>
                  </a:ext>
                </a:extLst>
              </p:cNvPr>
              <p:cNvSpPr/>
              <p:nvPr/>
            </p:nvSpPr>
            <p:spPr bwMode="gray">
              <a:xfrm>
                <a:off x="3063014" y="4201036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x-none" sz="10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6825D6B-1CE8-D96D-91B8-55D564F58B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63014" y="4201036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67C5D86-5927-D595-0179-DD38176E1395}"/>
              </a:ext>
            </a:extLst>
          </p:cNvPr>
          <p:cNvCxnSpPr>
            <a:cxnSpLocks/>
            <a:stCxn id="20" idx="6"/>
            <a:endCxn id="18" idx="2"/>
          </p:cNvCxnSpPr>
          <p:nvPr/>
        </p:nvCxnSpPr>
        <p:spPr bwMode="gray">
          <a:xfrm>
            <a:off x="3279014" y="4309036"/>
            <a:ext cx="1850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46CA0-A2E1-9320-E4DC-DB01D6B98AFE}"/>
                  </a:ext>
                </a:extLst>
              </p:cNvPr>
              <p:cNvSpPr txBox="1"/>
              <p:nvPr/>
            </p:nvSpPr>
            <p:spPr bwMode="gray">
              <a:xfrm>
                <a:off x="2239916" y="3219822"/>
                <a:ext cx="3556219" cy="512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nary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46CA0-A2E1-9320-E4DC-DB01D6B98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39916" y="3219822"/>
                <a:ext cx="3556219" cy="512448"/>
              </a:xfrm>
              <a:prstGeom prst="rect">
                <a:avLst/>
              </a:prstGeom>
              <a:blipFill>
                <a:blip r:embed="rId10"/>
                <a:stretch>
                  <a:fillRect t="-87805" b="-141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45233A-CC76-B90E-D12F-A820FA02AFBC}"/>
                  </a:ext>
                </a:extLst>
              </p:cNvPr>
              <p:cNvSpPr txBox="1"/>
              <p:nvPr/>
            </p:nvSpPr>
            <p:spPr bwMode="gray">
              <a:xfrm>
                <a:off x="2248136" y="4659982"/>
                <a:ext cx="2880320" cy="512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∏"/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nary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45233A-CC76-B90E-D12F-A820FA02A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48136" y="4659982"/>
                <a:ext cx="2880320" cy="512448"/>
              </a:xfrm>
              <a:prstGeom prst="rect">
                <a:avLst/>
              </a:prstGeom>
              <a:blipFill>
                <a:blip r:embed="rId11"/>
                <a:stretch>
                  <a:fillRect t="-83333" b="-135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1123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 animBg="1"/>
      <p:bldP spid="6" grpId="0" animBg="1"/>
      <p:bldP spid="9" grpId="0"/>
      <p:bldP spid="16" grpId="0" animBg="1"/>
      <p:bldP spid="17" grpId="0" animBg="1"/>
      <p:bldP spid="18" grpId="0" animBg="1"/>
      <p:bldP spid="20" grpId="0" animBg="1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DEC12E9-A67D-CFC5-E485-2538AA008D9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39929" y="2244085"/>
              <a:ext cx="1025548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DEC12E9-A67D-CFC5-E485-2538AA008D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1421881"/>
                  </p:ext>
                </p:extLst>
              </p:nvPr>
            </p:nvGraphicFramePr>
            <p:xfrm>
              <a:off x="4339929" y="2244085"/>
              <a:ext cx="1025548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5882" r="-394118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12500" r="-31875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69388" r="-4082" b="-1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5882" t="-105556" r="-394118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12500" t="-105556" r="-31875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69388" t="-105556" r="-4082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49B752AD-9CD8-9504-AD63-F0F3E3C4A1E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39929" y="2244085"/>
              <a:ext cx="1025548" cy="685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49B752AD-9CD8-9504-AD63-F0F3E3C4A1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852077"/>
                  </p:ext>
                </p:extLst>
              </p:nvPr>
            </p:nvGraphicFramePr>
            <p:xfrm>
              <a:off x="4339929" y="2244085"/>
              <a:ext cx="1025548" cy="685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5882" r="-394118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112500" r="-31875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69388" r="-4082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5882" t="-94737" r="-3941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112500" t="-94737" r="-31875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69388" t="-94737" r="-4082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5882" t="-205556" r="-394118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112500" t="-205556" r="-318750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69388" t="-205556" r="-4082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512CE61D-4A61-1862-4A38-F17FB17AFA0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39929" y="2244085"/>
              <a:ext cx="1025548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512CE61D-4A61-1862-4A38-F17FB17AFA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0084837"/>
                  </p:ext>
                </p:extLst>
              </p:nvPr>
            </p:nvGraphicFramePr>
            <p:xfrm>
              <a:off x="4339929" y="2244085"/>
              <a:ext cx="1025548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5882" r="-394118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112500" r="-318750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69388" r="-4082" b="-4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5882" t="-100000" r="-394118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112500" t="-100000" r="-31875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69388" t="-100000" r="-4082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5882" t="-189474" r="-394118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112500" t="-189474" r="-318750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69388" t="-189474" r="-4082" b="-19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1220" t="-305556" r="-2439" b="-1055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5882" t="-405556" r="-394118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112500" t="-405556" r="-318750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69388" t="-405556" r="-4082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8D8AC894-328F-B949-E900-3788A2238AE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39929" y="2244085"/>
              <a:ext cx="1025548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8D8AC894-328F-B949-E900-3788A2238A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326873"/>
                  </p:ext>
                </p:extLst>
              </p:nvPr>
            </p:nvGraphicFramePr>
            <p:xfrm>
              <a:off x="4339929" y="2244085"/>
              <a:ext cx="1025548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82" r="-39411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12500" r="-31875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69388" r="-4082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82" t="-100000" r="-394118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12500" t="-100000" r="-318750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69388" t="-100000" r="-4082" b="-4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82" t="-189474" r="-394118" b="-2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12500" t="-189474" r="-318750" b="-2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69388" t="-189474" r="-4082" b="-29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220" t="-305556" r="-2439" b="-2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82" t="-405556" r="-394118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12500" t="-405556" r="-318750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69388" t="-405556" r="-4082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82" t="-505556" r="-394118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12500" t="-505556" r="-31875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69388" t="-505556" r="-4082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F134A76E-46F9-CD46-22D5-5EAD499EAF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39929" y="2244085"/>
              <a:ext cx="1025548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159680">
                    <a:tc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F134A76E-46F9-CD46-22D5-5EAD499EA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4037714"/>
                  </p:ext>
                </p:extLst>
              </p:nvPr>
            </p:nvGraphicFramePr>
            <p:xfrm>
              <a:off x="4339929" y="2244085"/>
              <a:ext cx="1025548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5882" r="-394118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12500" r="-318750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69388" r="-4082" b="-7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5882" t="-100000" r="-394118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12500" t="-100000" r="-318750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69388" t="-100000" r="-4082" b="-6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5882" t="-200000" r="-39411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12500" t="-200000" r="-31875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69388" t="-200000" r="-4082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220" t="-284211" r="-2439" b="-3894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5882" t="-405556" r="-394118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12500" t="-405556" r="-31875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69388" t="-405556" r="-4082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5882" t="-505556" r="-394118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12500" t="-505556" r="-31875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69388" t="-505556" r="-4082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220" t="-605556" r="-2439" b="-1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5882" t="-705556" r="-394118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12500" t="-705556" r="-31875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69388" t="-705556" r="-4082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892FD62E-9A08-4F8C-1B36-05F0D2C6E1C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91880" y="2244085"/>
              <a:ext cx="693034" cy="685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484754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892FD62E-9A08-4F8C-1B36-05F0D2C6E1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8536061"/>
                  </p:ext>
                </p:extLst>
              </p:nvPr>
            </p:nvGraphicFramePr>
            <p:xfrm>
              <a:off x="3491880" y="2244085"/>
              <a:ext cx="693034" cy="685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484754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r="-241176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43590" r="-5128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t="-94737" r="-24117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43590" t="-94737" r="-512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t="-205556" r="-241176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43590" t="-205556" r="-5128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7CD8A35D-630B-A2B2-CBD7-8E1360F6A7C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91880" y="2244085"/>
              <a:ext cx="693034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484754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7CD8A35D-630B-A2B2-CBD7-8E1360F6A7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124585"/>
                  </p:ext>
                </p:extLst>
              </p:nvPr>
            </p:nvGraphicFramePr>
            <p:xfrm>
              <a:off x="3491880" y="2244085"/>
              <a:ext cx="693034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484754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r="-241176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43590" r="-5128" b="-4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t="-100000" r="-241176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43590" t="-100000" r="-5128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t="-189474" r="-241176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43590" t="-189474" r="-5128" b="-19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2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t="-305556" r="-3571" b="-1055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t="-405556" r="-241176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43590" t="-405556" r="-5128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F5CEBE3-D6B5-1DBF-14F4-8FF11C626EE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3989" y="2244085"/>
              <a:ext cx="1939713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F5CEBE3-D6B5-1DBF-14F4-8FF11C626E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0053572"/>
                  </p:ext>
                </p:extLst>
              </p:nvPr>
            </p:nvGraphicFramePr>
            <p:xfrm>
              <a:off x="353989" y="2244085"/>
              <a:ext cx="1939713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r="-721053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11765" r="-705882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63636" r="-445455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362500" r="-51250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92500" r="-2500" b="-1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t="-105556" r="-7210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11765" t="-105556" r="-70588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63636" t="-105556" r="-445455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362500" t="-105556" r="-51250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92500" t="-105556" r="-2500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F97712F1-F2D9-1ABE-38FE-2FB5F8657D6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3989" y="2244085"/>
              <a:ext cx="1939713" cy="685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F97712F1-F2D9-1ABE-38FE-2FB5F8657D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6347375"/>
                  </p:ext>
                </p:extLst>
              </p:nvPr>
            </p:nvGraphicFramePr>
            <p:xfrm>
              <a:off x="353989" y="2244085"/>
              <a:ext cx="1939713" cy="685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r="-721053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11765" r="-705882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63636" r="-445455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62500" r="-51250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92500" r="-2500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t="-94737" r="-72105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11765" t="-94737" r="-70588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63636" t="-94737" r="-44545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62500" t="-94737" r="-5125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92500" t="-94737" r="-25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t="-205556" r="-721053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11765" t="-205556" r="-705882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63636" t="-205556" r="-445455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62500" t="-205556" r="-512500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92500" t="-205556" r="-2500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477C6435-2D9B-0CD5-2912-8E500BD94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3989" y="2244085"/>
              <a:ext cx="1939713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477C6435-2D9B-0CD5-2912-8E500BD94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7764694"/>
                  </p:ext>
                </p:extLst>
              </p:nvPr>
            </p:nvGraphicFramePr>
            <p:xfrm>
              <a:off x="353989" y="2244085"/>
              <a:ext cx="1939713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r="-721053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11765" r="-705882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63636" r="-445455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362500" r="-512500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92500" r="-2500" b="-4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t="-100000" r="-721053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11765" t="-100000" r="-705882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63636" t="-100000" r="-445455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362500" t="-100000" r="-51250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92500" t="-100000" r="-2500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t="-189474" r="-721053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11765" t="-189474" r="-705882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63636" t="-189474" r="-445455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362500" t="-189474" r="-512500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92500" t="-189474" r="-2500" b="-19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5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t="-305556" r="-1299" b="-1055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t="-405556" r="-721053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11765" t="-405556" r="-705882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63636" t="-405556" r="-445455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362500" t="-405556" r="-512500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92500" t="-405556" r="-2500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9366B551-04A9-B397-7A3A-981ECD0FD94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3989" y="2244085"/>
              <a:ext cx="1939713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9366B551-04A9-B397-7A3A-981ECD0FD9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9886209"/>
                  </p:ext>
                </p:extLst>
              </p:nvPr>
            </p:nvGraphicFramePr>
            <p:xfrm>
              <a:off x="353989" y="2244085"/>
              <a:ext cx="1939713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r="-721053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11765" r="-705882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63636" r="-445455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362500" r="-51250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92500" r="-2500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t="-100000" r="-721053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11765" t="-100000" r="-705882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63636" t="-100000" r="-445455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362500" t="-100000" r="-512500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92500" t="-100000" r="-2500" b="-4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t="-189474" r="-721053" b="-2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11765" t="-189474" r="-705882" b="-2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63636" t="-189474" r="-445455" b="-2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362500" t="-189474" r="-512500" b="-2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92500" t="-189474" r="-2500" b="-29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5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t="-305556" r="-1299" b="-2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t="-405556" r="-721053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11765" t="-405556" r="-705882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63636" t="-405556" r="-445455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362500" t="-405556" r="-512500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92500" t="-405556" r="-2500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t="-505556" r="-7210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11765" t="-505556" r="-70588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63636" t="-505556" r="-445455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362500" t="-505556" r="-51250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92500" t="-505556" r="-2500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7B10FCB7-9C22-91C8-AC8E-F1FC9F4A59A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3989" y="2244085"/>
              <a:ext cx="1939713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159680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7B10FCB7-9C22-91C8-AC8E-F1FC9F4A59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5188196"/>
                  </p:ext>
                </p:extLst>
              </p:nvPr>
            </p:nvGraphicFramePr>
            <p:xfrm>
              <a:off x="353989" y="2244085"/>
              <a:ext cx="1939713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r="-721053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11765" r="-705882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63636" r="-445455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362500" r="-512500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92500" r="-2500" b="-7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100000" r="-721053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11765" t="-100000" r="-705882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63636" t="-100000" r="-445455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362500" t="-100000" r="-512500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92500" t="-100000" r="-2500" b="-6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200000" r="-721053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11765" t="-200000" r="-705882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63636" t="-200000" r="-445455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362500" t="-200000" r="-51250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92500" t="-200000" r="-2500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5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284211" r="-1299" b="-3894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405556" r="-721053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11765" t="-405556" r="-705882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63636" t="-405556" r="-445455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362500" t="-405556" r="-51250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92500" t="-405556" r="-2500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505556" r="-721053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11765" t="-505556" r="-705882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63636" t="-505556" r="-445455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362500" t="-505556" r="-51250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92500" t="-505556" r="-2500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228600">
                    <a:tc gridSpan="5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605556" r="-1299" b="-1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705556" r="-7210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11765" t="-705556" r="-70588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63636" t="-705556" r="-445455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362500" t="-705556" r="-51250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92500" t="-705556" r="-2500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F2FADEC-8420-DF64-A3A6-857171D2F7B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07777"/>
              </a:xfrm>
            </p:spPr>
            <p:txBody>
              <a:bodyPr/>
              <a:lstStyle/>
              <a:p>
                <a:r>
                  <a:rPr lang="x-none" dirty="0"/>
                  <a:t>For simplicity, let us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lang="x-non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F2FADEC-8420-DF64-A3A6-857171D2F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07777"/>
              </a:xfrm>
              <a:blipFill>
                <a:blip r:embed="rId15"/>
                <a:stretch>
                  <a:fillRect t="-4000" b="-24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E3C42DD-FDA6-6BFD-2659-E20337375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Representation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B891A7-6787-A189-65A8-A7EE637BDC52}"/>
                  </a:ext>
                </a:extLst>
              </p:cNvPr>
              <p:cNvSpPr txBox="1"/>
              <p:nvPr/>
            </p:nvSpPr>
            <p:spPr bwMode="gray">
              <a:xfrm>
                <a:off x="683568" y="1812037"/>
                <a:ext cx="180432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x-none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B891A7-6787-A189-65A8-A7EE637BD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3568" y="1812037"/>
                <a:ext cx="1804322" cy="276999"/>
              </a:xfrm>
              <a:prstGeom prst="rect">
                <a:avLst/>
              </a:prstGeom>
              <a:blipFill>
                <a:blip r:embed="rId1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011A906-B012-6086-16A4-C94341D241E2}"/>
              </a:ext>
            </a:extLst>
          </p:cNvPr>
          <p:cNvSpPr txBox="1"/>
          <p:nvPr/>
        </p:nvSpPr>
        <p:spPr bwMode="gray">
          <a:xfrm>
            <a:off x="1128529" y="1540317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Naive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D97E8F-0A55-465B-F122-38BD6BBAE174}"/>
                  </a:ext>
                </a:extLst>
              </p:cNvPr>
              <p:cNvSpPr txBox="1"/>
              <p:nvPr/>
            </p:nvSpPr>
            <p:spPr bwMode="gray">
              <a:xfrm>
                <a:off x="3995936" y="1812037"/>
                <a:ext cx="338437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x-none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D97E8F-0A55-465B-F122-38BD6BBAE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95936" y="1812037"/>
                <a:ext cx="3384376" cy="276999"/>
              </a:xfrm>
              <a:prstGeom prst="rect">
                <a:avLst/>
              </a:prstGeom>
              <a:blipFill>
                <a:blip r:embed="rId17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D3BC081-A26F-C755-0C76-FE86A224535C}"/>
              </a:ext>
            </a:extLst>
          </p:cNvPr>
          <p:cNvSpPr txBox="1"/>
          <p:nvPr/>
        </p:nvSpPr>
        <p:spPr bwMode="gray">
          <a:xfrm>
            <a:off x="4974500" y="1540317"/>
            <a:ext cx="1427247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Bayesian Network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AE5CF4D-FCDB-8422-0B8F-685A2AD8C4C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91880" y="2244085"/>
              <a:ext cx="693034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484754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AE5CF4D-FCDB-8422-0B8F-685A2AD8C4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2082202"/>
                  </p:ext>
                </p:extLst>
              </p:nvPr>
            </p:nvGraphicFramePr>
            <p:xfrm>
              <a:off x="3491880" y="2244085"/>
              <a:ext cx="693034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484754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8"/>
                          <a:stretch>
                            <a:fillRect r="-241176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8"/>
                          <a:stretch>
                            <a:fillRect l="-43590" r="-5128" b="-1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8"/>
                          <a:stretch>
                            <a:fillRect t="-105556" r="-241176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8"/>
                          <a:stretch>
                            <a:fillRect l="-43590" t="-105556" r="-5128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2C43D4F-5DA9-41CE-CEC8-BDC574B2385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20492" y="2244085"/>
              <a:ext cx="1272758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64791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4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159680">
                    <a:tc gridSpan="4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2C43D4F-5DA9-41CE-CEC8-BDC574B23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609226"/>
                  </p:ext>
                </p:extLst>
              </p:nvPr>
            </p:nvGraphicFramePr>
            <p:xfrm>
              <a:off x="5520492" y="2244085"/>
              <a:ext cx="1272758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64791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5882" r="-511765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12500" r="-443750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200000" r="-317647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00000" r="-5882" b="-7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5882" t="-100000" r="-511765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12500" t="-100000" r="-443750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200000" t="-100000" r="-317647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00000" t="-100000" r="-5882" b="-6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5882" t="-200000" r="-511765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12500" t="-200000" r="-44375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200000" t="-200000" r="-317647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00000" t="-200000" r="-5882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4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990" t="-284211" r="-2970" b="-3894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5882" t="-405556" r="-511765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12500" t="-405556" r="-44375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200000" t="-405556" r="-317647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00000" t="-405556" r="-5882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5882" t="-505556" r="-511765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12500" t="-505556" r="-44375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200000" t="-505556" r="-317647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00000" t="-505556" r="-5882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228600">
                    <a:tc gridSpan="4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990" t="-605556" r="-2970" b="-1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5882" t="-705556" r="-511765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12500" t="-705556" r="-44375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200000" t="-705556" r="-317647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00000" t="-705556" r="-5882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D5AC905-E6CB-D8D6-236F-2804C1CA87C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48264" y="2244085"/>
              <a:ext cx="1939713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159680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D5AC905-E6CB-D8D6-236F-2804C1CA87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5669785"/>
                  </p:ext>
                </p:extLst>
              </p:nvPr>
            </p:nvGraphicFramePr>
            <p:xfrm>
              <a:off x="6948264" y="2244085"/>
              <a:ext cx="1939713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5263" r="-721053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25000" r="-756250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63636" r="-450000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341176" r="-482353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94937" r="-3797" b="-7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5263" t="-100000" r="-721053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25000" t="-100000" r="-756250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63636" t="-100000" r="-450000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341176" t="-100000" r="-482353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94937" t="-100000" r="-3797" b="-6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5263" t="-200000" r="-721053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25000" t="-200000" r="-75625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63636" t="-200000" r="-45000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341176" t="-200000" r="-482353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94937" t="-200000" r="-3797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5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654" t="-284211" r="-1961" b="-3894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5263" t="-405556" r="-721053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25000" t="-405556" r="-75625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63636" t="-405556" r="-45000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341176" t="-405556" r="-482353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94937" t="-405556" r="-3797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5263" t="-505556" r="-721053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25000" t="-505556" r="-75625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63636" t="-505556" r="-45000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341176" t="-505556" r="-482353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94937" t="-505556" r="-3797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228600">
                    <a:tc gridSpan="5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654" t="-605556" r="-1961" b="-1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5263" t="-705556" r="-7210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25000" t="-705556" r="-75625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63636" t="-705556" r="-45000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341176" t="-705556" r="-48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94937" t="-705556" r="-3797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BD8E3C-DD4B-21D3-C840-FAF176EC5470}"/>
                  </a:ext>
                </a:extLst>
              </p:cNvPr>
              <p:cNvSpPr txBox="1"/>
              <p:nvPr/>
            </p:nvSpPr>
            <p:spPr bwMode="gray">
              <a:xfrm>
                <a:off x="866645" y="4299942"/>
                <a:ext cx="91440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BD8E3C-DD4B-21D3-C840-FAF176EC5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6645" y="4299942"/>
                <a:ext cx="914400" cy="21602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DE21F4-1BF0-6746-D31A-439A5E8AD86E}"/>
                  </a:ext>
                </a:extLst>
              </p:cNvPr>
              <p:cNvSpPr txBox="1"/>
              <p:nvPr/>
            </p:nvSpPr>
            <p:spPr bwMode="gray">
              <a:xfrm>
                <a:off x="3270514" y="4299942"/>
                <a:ext cx="91440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DE21F4-1BF0-6746-D31A-439A5E8AD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70514" y="4299942"/>
                <a:ext cx="914400" cy="21602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08029C9-74E4-57F8-EAD4-C9880ED58191}"/>
                  </a:ext>
                </a:extLst>
              </p:cNvPr>
              <p:cNvSpPr txBox="1"/>
              <p:nvPr/>
            </p:nvSpPr>
            <p:spPr bwMode="gray">
              <a:xfrm>
                <a:off x="4411550" y="4299942"/>
                <a:ext cx="91440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08029C9-74E4-57F8-EAD4-C9880ED58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11550" y="4299942"/>
                <a:ext cx="914400" cy="21602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7791DA-E094-C525-4E78-DEB96A9A39CD}"/>
                  </a:ext>
                </a:extLst>
              </p:cNvPr>
              <p:cNvSpPr txBox="1"/>
              <p:nvPr/>
            </p:nvSpPr>
            <p:spPr bwMode="gray">
              <a:xfrm>
                <a:off x="5710669" y="4299942"/>
                <a:ext cx="91440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7791DA-E094-C525-4E78-DEB96A9A3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10669" y="4299942"/>
                <a:ext cx="914400" cy="21602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019044-82B9-DC2B-43FA-73A65BCCF6C5}"/>
                  </a:ext>
                </a:extLst>
              </p:cNvPr>
              <p:cNvSpPr txBox="1"/>
              <p:nvPr/>
            </p:nvSpPr>
            <p:spPr bwMode="gray">
              <a:xfrm>
                <a:off x="7460920" y="4299942"/>
                <a:ext cx="91440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019044-82B9-DC2B-43FA-73A65BCC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60920" y="4299942"/>
                <a:ext cx="914400" cy="21602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ECF3C8-D68A-49AD-A48F-36D4A655FBE5}"/>
                  </a:ext>
                </a:extLst>
              </p:cNvPr>
              <p:cNvSpPr txBox="1"/>
              <p:nvPr/>
            </p:nvSpPr>
            <p:spPr bwMode="gray">
              <a:xfrm>
                <a:off x="3563542" y="4638423"/>
                <a:ext cx="2147127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ECF3C8-D68A-49AD-A48F-36D4A655F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63542" y="4638423"/>
                <a:ext cx="2147127" cy="21602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D4C42A-F0B6-03A9-7002-6444471C083D}"/>
                  </a:ext>
                </a:extLst>
              </p:cNvPr>
              <p:cNvSpPr txBox="1"/>
              <p:nvPr/>
            </p:nvSpPr>
            <p:spPr bwMode="gray">
              <a:xfrm>
                <a:off x="5415303" y="4647359"/>
                <a:ext cx="277789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D4C42A-F0B6-03A9-7002-6444471C0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15303" y="4647359"/>
                <a:ext cx="2777890" cy="21602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71C3889-912F-10B8-A37D-072C5BD2F0BB}"/>
                  </a:ext>
                </a:extLst>
              </p:cNvPr>
              <p:cNvSpPr txBox="1"/>
              <p:nvPr/>
            </p:nvSpPr>
            <p:spPr bwMode="gray">
              <a:xfrm>
                <a:off x="4411550" y="4872319"/>
                <a:ext cx="277789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71C3889-912F-10B8-A37D-072C5BD2F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11550" y="4872319"/>
                <a:ext cx="2777890" cy="21602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29AF3A0E-5A3F-6657-65E7-3B7E190EDC1E}"/>
                  </a:ext>
                </a:extLst>
              </p:cNvPr>
              <p:cNvSpPr/>
              <p:nvPr/>
            </p:nvSpPr>
            <p:spPr bwMode="gray">
              <a:xfrm>
                <a:off x="7630981" y="1203783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29AF3A0E-5A3F-6657-65E7-3B7E190ED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30981" y="1203783"/>
                <a:ext cx="216000" cy="216000"/>
              </a:xfrm>
              <a:prstGeom prst="ellipse">
                <a:avLst/>
              </a:prstGeom>
              <a:blipFill>
                <a:blip r:embed="rId2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BA4B4FB-C6D5-100E-2B16-1215116394D9}"/>
                  </a:ext>
                </a:extLst>
              </p:cNvPr>
              <p:cNvSpPr/>
              <p:nvPr/>
            </p:nvSpPr>
            <p:spPr bwMode="gray">
              <a:xfrm>
                <a:off x="8207482" y="1203783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BA4B4FB-C6D5-100E-2B16-121511639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07482" y="1203783"/>
                <a:ext cx="216000" cy="216000"/>
              </a:xfrm>
              <a:prstGeom prst="ellipse">
                <a:avLst/>
              </a:prstGeom>
              <a:blipFill>
                <a:blip r:embed="rId30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0B13A16-E095-1CBC-84C9-A2AE7E1A96D2}"/>
                  </a:ext>
                </a:extLst>
              </p:cNvPr>
              <p:cNvSpPr/>
              <p:nvPr/>
            </p:nvSpPr>
            <p:spPr bwMode="gray">
              <a:xfrm>
                <a:off x="8207482" y="1667823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0B13A16-E095-1CBC-84C9-A2AE7E1A96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07482" y="1667823"/>
                <a:ext cx="216000" cy="216000"/>
              </a:xfrm>
              <a:prstGeom prst="ellipse">
                <a:avLst/>
              </a:prstGeom>
              <a:blipFill>
                <a:blip r:embed="rId3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6FB6BF7-6C4E-142E-C5EA-508C4188C4C2}"/>
              </a:ext>
            </a:extLst>
          </p:cNvPr>
          <p:cNvCxnSpPr>
            <a:cxnSpLocks/>
            <a:stCxn id="34" idx="4"/>
            <a:endCxn id="36" idx="1"/>
          </p:cNvCxnSpPr>
          <p:nvPr/>
        </p:nvCxnSpPr>
        <p:spPr bwMode="gray">
          <a:xfrm>
            <a:off x="7738981" y="1419783"/>
            <a:ext cx="500133" cy="2796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2D562DF-CCEB-A825-FE8C-073EA49F003F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 bwMode="gray">
          <a:xfrm>
            <a:off x="7846981" y="1311783"/>
            <a:ext cx="360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0639863-5FF8-3FF9-355E-622E520B4569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 bwMode="gray">
          <a:xfrm>
            <a:off x="8315482" y="1419783"/>
            <a:ext cx="0" cy="248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718B5DB-1392-50D7-48F6-9A39F1F22220}"/>
                  </a:ext>
                </a:extLst>
              </p:cNvPr>
              <p:cNvSpPr/>
              <p:nvPr/>
            </p:nvSpPr>
            <p:spPr bwMode="gray">
              <a:xfrm>
                <a:off x="7634768" y="1667823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718B5DB-1392-50D7-48F6-9A39F1F222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34768" y="1667823"/>
                <a:ext cx="216000" cy="216000"/>
              </a:xfrm>
              <a:prstGeom prst="ellipse">
                <a:avLst/>
              </a:prstGeom>
              <a:blipFill>
                <a:blip r:embed="rId32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114923-D2E3-98BD-0913-43CACFE7EF47}"/>
              </a:ext>
            </a:extLst>
          </p:cNvPr>
          <p:cNvCxnSpPr>
            <a:cxnSpLocks/>
            <a:stCxn id="34" idx="4"/>
            <a:endCxn id="40" idx="0"/>
          </p:cNvCxnSpPr>
          <p:nvPr/>
        </p:nvCxnSpPr>
        <p:spPr bwMode="gray">
          <a:xfrm>
            <a:off x="7738981" y="1419783"/>
            <a:ext cx="3787" cy="248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F3F413F-D09E-F7DE-DB20-3390A6D7D6EB}"/>
              </a:ext>
            </a:extLst>
          </p:cNvPr>
          <p:cNvCxnSpPr>
            <a:cxnSpLocks/>
            <a:stCxn id="35" idx="3"/>
            <a:endCxn id="40" idx="7"/>
          </p:cNvCxnSpPr>
          <p:nvPr/>
        </p:nvCxnSpPr>
        <p:spPr bwMode="gray">
          <a:xfrm flipH="1">
            <a:off x="7819136" y="1388151"/>
            <a:ext cx="419978" cy="3113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53423F9-0890-EED3-0811-B9509CC74122}"/>
              </a:ext>
            </a:extLst>
          </p:cNvPr>
          <p:cNvCxnSpPr>
            <a:cxnSpLocks/>
            <a:stCxn id="36" idx="2"/>
            <a:endCxn id="40" idx="6"/>
          </p:cNvCxnSpPr>
          <p:nvPr/>
        </p:nvCxnSpPr>
        <p:spPr bwMode="gray">
          <a:xfrm flipH="1">
            <a:off x="7850768" y="1775823"/>
            <a:ext cx="3567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7150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  <p:bldP spid="6" grpId="0"/>
      <p:bldP spid="8" grpId="0"/>
      <p:bldP spid="9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34" grpId="0" animBg="1"/>
      <p:bldP spid="35" grpId="0" animBg="1"/>
      <p:bldP spid="36" grpId="0" animBg="1"/>
      <p:bldP spid="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A0FF215-3B95-F210-1CCB-24FF310AB98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37560" cy="3132113"/>
              </a:xfrm>
            </p:spPr>
            <p:txBody>
              <a:bodyPr/>
              <a:lstStyle/>
              <a:p>
                <a:r>
                  <a:rPr lang="en-US" dirty="0"/>
                  <a:t>One advantage of a Bayesian network is the ability to </a:t>
                </a:r>
                <a:r>
                  <a:rPr lang="en-US" i="1" dirty="0"/>
                  <a:t>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Assumption</a:t>
                </a:r>
                <a:endParaRPr lang="en-US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Sampling from the conditional distributions is simpler than from the joint distribution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There are no clamped nodes, that is, we do not condition on any variable</a:t>
                </a:r>
              </a:p>
              <a:p>
                <a:r>
                  <a:rPr lang="en-US" b="1" dirty="0"/>
                  <a:t>Problems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Sampling is </a:t>
                </a:r>
                <a:r>
                  <a:rPr lang="en-US" sz="1200" i="1" dirty="0"/>
                  <a:t>sequential </a:t>
                </a:r>
                <a:r>
                  <a:rPr lang="en-US" sz="1200" dirty="0"/>
                  <a:t>one variable at the time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Conditioning happens only on frequent events because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A0FF215-3B95-F210-1CCB-24FF310AB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37560" cy="3132113"/>
              </a:xfrm>
              <a:blipFill>
                <a:blip r:embed="rId2"/>
                <a:stretch>
                  <a:fillRect t="-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7D15581-927D-2106-BEEB-A6B5625FA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a Bayesian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A453A2-AE0D-B94C-5DC1-6A128E2F37A9}"/>
                  </a:ext>
                </a:extLst>
              </p:cNvPr>
              <p:cNvSpPr txBox="1"/>
              <p:nvPr/>
            </p:nvSpPr>
            <p:spPr bwMode="gray">
              <a:xfrm>
                <a:off x="539552" y="1635646"/>
                <a:ext cx="6120680" cy="78431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68287" lvl="1" algn="ctr"/>
                <a:r>
                  <a:rPr lang="en-US" sz="1400" b="1" dirty="0"/>
                  <a:t>Ancestral Sampling</a:t>
                </a:r>
                <a:endParaRPr lang="en-US" sz="14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400" dirty="0"/>
                  <a:t>Topologically sort all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b>
                    </m:sSub>
                  </m:oMath>
                </a14:m>
                <a:endParaRPr lang="en-US" sz="14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400" dirty="0"/>
                  <a:t>Sample each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x-none" sz="1400" dirty="0"/>
                  <a:t> using distribution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endParaRPr lang="x-none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A453A2-AE0D-B94C-5DC1-6A128E2F3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9552" y="1635646"/>
                <a:ext cx="6120680" cy="7843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5CCD21-2D86-EB94-A5C8-1B973FE907AD}"/>
                  </a:ext>
                </a:extLst>
              </p:cNvPr>
              <p:cNvSpPr txBox="1"/>
              <p:nvPr/>
            </p:nvSpPr>
            <p:spPr bwMode="gray">
              <a:xfrm>
                <a:off x="1619671" y="4412484"/>
                <a:ext cx="2808313" cy="481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5CCD21-2D86-EB94-A5C8-1B973FE90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19671" y="4412484"/>
                <a:ext cx="2808313" cy="4819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729B96-4709-44D2-DEF7-31C63BEDBC82}"/>
              </a:ext>
            </a:extLst>
          </p:cNvPr>
          <p:cNvCxnSpPr>
            <a:cxnSpLocks/>
            <a:stCxn id="10" idx="1"/>
            <a:endCxn id="17" idx="3"/>
          </p:cNvCxnSpPr>
          <p:nvPr/>
        </p:nvCxnSpPr>
        <p:spPr bwMode="gray">
          <a:xfrm flipH="1" flipV="1">
            <a:off x="6084168" y="4787832"/>
            <a:ext cx="360040" cy="18145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1CD7C5-9F57-3AC6-F5E3-09EE271485A8}"/>
                  </a:ext>
                </a:extLst>
              </p:cNvPr>
              <p:cNvSpPr txBox="1"/>
              <p:nvPr/>
            </p:nvSpPr>
            <p:spPr bwMode="gray">
              <a:xfrm>
                <a:off x="6444208" y="4861272"/>
                <a:ext cx="1224136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en-GB" sz="1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for rare events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1CD7C5-9F57-3AC6-F5E3-09EE27148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44208" y="4861272"/>
                <a:ext cx="1224136" cy="216024"/>
              </a:xfrm>
              <a:prstGeom prst="rect">
                <a:avLst/>
              </a:prstGeom>
              <a:blipFill>
                <a:blip r:embed="rId5"/>
                <a:stretch>
                  <a:fillRect r="-2062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EA1C24-E35A-65C9-5123-5AA7AEA54D2C}"/>
                  </a:ext>
                </a:extLst>
              </p:cNvPr>
              <p:cNvSpPr txBox="1"/>
              <p:nvPr/>
            </p:nvSpPr>
            <p:spPr bwMode="gray">
              <a:xfrm>
                <a:off x="4040480" y="4381257"/>
                <a:ext cx="3123808" cy="544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 | 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∧…∧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EA1C24-E35A-65C9-5123-5AA7AEA54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40480" y="4381257"/>
                <a:ext cx="3123808" cy="544380"/>
              </a:xfrm>
              <a:prstGeom prst="rect">
                <a:avLst/>
              </a:prstGeom>
              <a:blipFill>
                <a:blip r:embed="rId6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85995B0-ACF4-1E65-F081-63AB4CCB908C}"/>
              </a:ext>
            </a:extLst>
          </p:cNvPr>
          <p:cNvSpPr/>
          <p:nvPr/>
        </p:nvSpPr>
        <p:spPr bwMode="gray">
          <a:xfrm>
            <a:off x="5292080" y="4681252"/>
            <a:ext cx="792088" cy="21315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5738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0" grpId="0"/>
      <p:bldP spid="16" grpId="0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E38C6F-3CEE-0B1F-0C72-BC0492A89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a Bayesian Network: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CC6559A-6A99-F508-BA76-B0B2FC7AE7B5}"/>
                  </a:ext>
                </a:extLst>
              </p:cNvPr>
              <p:cNvSpPr/>
              <p:nvPr/>
            </p:nvSpPr>
            <p:spPr bwMode="gray">
              <a:xfrm>
                <a:off x="1043608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CC6559A-6A99-F508-BA76-B0B2FC7AE7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3608" y="3075838"/>
                <a:ext cx="288000" cy="288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FA8812C-88A6-3B7E-160F-F1F8375058A3}"/>
                  </a:ext>
                </a:extLst>
              </p:cNvPr>
              <p:cNvSpPr/>
              <p:nvPr/>
            </p:nvSpPr>
            <p:spPr bwMode="gray">
              <a:xfrm>
                <a:off x="2195760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FA8812C-88A6-3B7E-160F-F1F8375058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60" y="3075838"/>
                <a:ext cx="288000" cy="288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94A4FD1-D055-422C-DC4F-CB7F7BDCA717}"/>
                  </a:ext>
                </a:extLst>
              </p:cNvPr>
              <p:cNvSpPr/>
              <p:nvPr/>
            </p:nvSpPr>
            <p:spPr bwMode="gray">
              <a:xfrm>
                <a:off x="1043608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94A4FD1-D055-422C-DC4F-CB7F7BDCA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3608" y="3939902"/>
                <a:ext cx="288000" cy="288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D38219C-9C4D-355F-4E96-0BA4A62DADD9}"/>
                  </a:ext>
                </a:extLst>
              </p:cNvPr>
              <p:cNvSpPr/>
              <p:nvPr/>
            </p:nvSpPr>
            <p:spPr bwMode="gray">
              <a:xfrm>
                <a:off x="2195760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D38219C-9C4D-355F-4E96-0BA4A62DAD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60" y="3939902"/>
                <a:ext cx="288000" cy="288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C66BAE0-FD68-D8E9-3541-36C4B1B8C8B2}"/>
                  </a:ext>
                </a:extLst>
              </p:cNvPr>
              <p:cNvSpPr/>
              <p:nvPr/>
            </p:nvSpPr>
            <p:spPr bwMode="gray">
              <a:xfrm>
                <a:off x="1620141" y="4660014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C66BAE0-FD68-D8E9-3541-36C4B1B8C8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20141" y="4660014"/>
                <a:ext cx="288000" cy="288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4D7CB4-590C-7C80-45DD-B222A6122F14}"/>
              </a:ext>
            </a:extLst>
          </p:cNvPr>
          <p:cNvCxnSpPr>
            <a:stCxn id="4" idx="4"/>
            <a:endCxn id="6" idx="0"/>
          </p:cNvCxnSpPr>
          <p:nvPr/>
        </p:nvCxnSpPr>
        <p:spPr bwMode="gray">
          <a:xfrm>
            <a:off x="1187608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9DAE23-2FEE-CBBE-8AAC-68472DB210FB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 bwMode="gray">
          <a:xfrm>
            <a:off x="2339760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0F5D62-27A3-3087-08A2-91B52C40046A}"/>
              </a:ext>
            </a:extLst>
          </p:cNvPr>
          <p:cNvCxnSpPr>
            <a:cxnSpLocks/>
            <a:stCxn id="7" idx="4"/>
            <a:endCxn id="8" idx="7"/>
          </p:cNvCxnSpPr>
          <p:nvPr/>
        </p:nvCxnSpPr>
        <p:spPr bwMode="gray">
          <a:xfrm flipH="1">
            <a:off x="1865964" y="4227902"/>
            <a:ext cx="473796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1EAD4E-2067-FABF-AAC1-3AA80685837D}"/>
              </a:ext>
            </a:extLst>
          </p:cNvPr>
          <p:cNvCxnSpPr>
            <a:cxnSpLocks/>
            <a:stCxn id="6" idx="4"/>
            <a:endCxn id="8" idx="1"/>
          </p:cNvCxnSpPr>
          <p:nvPr/>
        </p:nvCxnSpPr>
        <p:spPr bwMode="gray">
          <a:xfrm>
            <a:off x="1187608" y="4227902"/>
            <a:ext cx="474710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C5BDE7-CA7F-0DDB-0501-9B03FB086E93}"/>
                  </a:ext>
                </a:extLst>
              </p:cNvPr>
              <p:cNvSpPr txBox="1"/>
              <p:nvPr/>
            </p:nvSpPr>
            <p:spPr bwMode="gray">
              <a:xfrm>
                <a:off x="671390" y="1760876"/>
                <a:ext cx="5350122" cy="2795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x-none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C5BDE7-CA7F-0DDB-0501-9B03FB086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1390" y="1760876"/>
                <a:ext cx="5350122" cy="279564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DD6D85A1-F35F-F326-DDAC-5BEE35D4B0E5}"/>
                  </a:ext>
                </a:extLst>
              </p:cNvPr>
              <p:cNvSpPr/>
              <p:nvPr/>
            </p:nvSpPr>
            <p:spPr bwMode="gray">
              <a:xfrm>
                <a:off x="4993431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DD6D85A1-F35F-F326-DDAC-5BEE35D4B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93431" y="3075838"/>
                <a:ext cx="288000" cy="288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BAB9335-BFED-1AA3-C615-599EDFF2A508}"/>
                  </a:ext>
                </a:extLst>
              </p:cNvPr>
              <p:cNvSpPr/>
              <p:nvPr/>
            </p:nvSpPr>
            <p:spPr bwMode="gray">
              <a:xfrm>
                <a:off x="6145583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BAB9335-BFED-1AA3-C615-599EDFF2A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45583" y="3075838"/>
                <a:ext cx="288000" cy="288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6BCD661-8716-07A8-DA04-FDC4B34CDB07}"/>
                  </a:ext>
                </a:extLst>
              </p:cNvPr>
              <p:cNvSpPr/>
              <p:nvPr/>
            </p:nvSpPr>
            <p:spPr bwMode="gray">
              <a:xfrm>
                <a:off x="4993431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6BCD661-8716-07A8-DA04-FDC4B34CD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93431" y="3939902"/>
                <a:ext cx="288000" cy="288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896DAD2-BE7F-FF18-F55E-90557C14002F}"/>
                  </a:ext>
                </a:extLst>
              </p:cNvPr>
              <p:cNvSpPr/>
              <p:nvPr/>
            </p:nvSpPr>
            <p:spPr bwMode="gray">
              <a:xfrm>
                <a:off x="6145583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896DAD2-BE7F-FF18-F55E-90557C1400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45583" y="3939902"/>
                <a:ext cx="288000" cy="288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1BC7D8B-9FE6-4348-6D0D-DE987C200B81}"/>
                  </a:ext>
                </a:extLst>
              </p:cNvPr>
              <p:cNvSpPr/>
              <p:nvPr/>
            </p:nvSpPr>
            <p:spPr bwMode="gray">
              <a:xfrm>
                <a:off x="5569964" y="4660014"/>
                <a:ext cx="288000" cy="288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1BC7D8B-9FE6-4348-6D0D-DE987C200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69964" y="4660014"/>
                <a:ext cx="288000" cy="2880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BB3117-2C0A-64A7-BA37-84A68C0DD036}"/>
              </a:ext>
            </a:extLst>
          </p:cNvPr>
          <p:cNvCxnSpPr>
            <a:stCxn id="14" idx="4"/>
            <a:endCxn id="16" idx="0"/>
          </p:cNvCxnSpPr>
          <p:nvPr/>
        </p:nvCxnSpPr>
        <p:spPr bwMode="gray">
          <a:xfrm>
            <a:off x="5137431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8C5382-B981-D28B-8E9D-06F5F188D690}"/>
              </a:ext>
            </a:extLst>
          </p:cNvPr>
          <p:cNvCxnSpPr>
            <a:cxnSpLocks/>
            <a:stCxn id="15" idx="4"/>
            <a:endCxn id="17" idx="0"/>
          </p:cNvCxnSpPr>
          <p:nvPr/>
        </p:nvCxnSpPr>
        <p:spPr bwMode="gray">
          <a:xfrm>
            <a:off x="6289583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5BF556-28C2-BE2D-C7C2-4A07A487CBEE}"/>
              </a:ext>
            </a:extLst>
          </p:cNvPr>
          <p:cNvCxnSpPr>
            <a:cxnSpLocks/>
            <a:stCxn id="17" idx="4"/>
            <a:endCxn id="18" idx="7"/>
          </p:cNvCxnSpPr>
          <p:nvPr/>
        </p:nvCxnSpPr>
        <p:spPr bwMode="gray">
          <a:xfrm flipH="1">
            <a:off x="5815787" y="4227902"/>
            <a:ext cx="473796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17D52D-D3C7-9E0E-9973-29249EB1BC7E}"/>
              </a:ext>
            </a:extLst>
          </p:cNvPr>
          <p:cNvCxnSpPr>
            <a:cxnSpLocks/>
            <a:stCxn id="16" idx="4"/>
            <a:endCxn id="18" idx="1"/>
          </p:cNvCxnSpPr>
          <p:nvPr/>
        </p:nvCxnSpPr>
        <p:spPr bwMode="gray">
          <a:xfrm>
            <a:off x="5137431" y="4227902"/>
            <a:ext cx="474710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CACF180-4604-2C95-538C-8200B48C881F}"/>
              </a:ext>
            </a:extLst>
          </p:cNvPr>
          <p:cNvSpPr txBox="1"/>
          <p:nvPr/>
        </p:nvSpPr>
        <p:spPr bwMode="gray">
          <a:xfrm>
            <a:off x="648017" y="2606794"/>
            <a:ext cx="2232248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x-none" sz="1200" b="1" dirty="0"/>
              <a:t>Without match outcome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16371E-F65C-4B6C-259F-F0A9D61B546A}"/>
                  </a:ext>
                </a:extLst>
              </p:cNvPr>
              <p:cNvSpPr txBox="1"/>
              <p:nvPr/>
            </p:nvSpPr>
            <p:spPr bwMode="gray">
              <a:xfrm>
                <a:off x="4436047" y="2606794"/>
                <a:ext cx="25558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x-none" sz="1200" b="1" dirty="0"/>
                  <a:t>With match outcome (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x-none" sz="1200" b="1" dirty="0"/>
                  <a:t>)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16371E-F65C-4B6C-259F-F0A9D61B5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36047" y="2606794"/>
                <a:ext cx="2555833" cy="276999"/>
              </a:xfrm>
              <a:prstGeom prst="rect">
                <a:avLst/>
              </a:prstGeom>
              <a:blipFill>
                <a:blip r:embed="rId13"/>
                <a:stretch>
                  <a:fillRect t="-4348" b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79" name="Graphic 4178">
            <a:extLst>
              <a:ext uri="{FF2B5EF4-FFF2-40B4-BE49-F238E27FC236}">
                <a16:creationId xmlns:a16="http://schemas.microsoft.com/office/drawing/2014/main" id="{0F13B0D0-1F31-9D52-F319-AFFE5664251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74122" y="3761386"/>
            <a:ext cx="960261" cy="640173"/>
          </a:xfrm>
          <a:prstGeom prst="rect">
            <a:avLst/>
          </a:prstGeom>
        </p:spPr>
      </p:pic>
      <p:pic>
        <p:nvPicPr>
          <p:cNvPr id="4181" name="Graphic 4180">
            <a:extLst>
              <a:ext uri="{FF2B5EF4-FFF2-40B4-BE49-F238E27FC236}">
                <a16:creationId xmlns:a16="http://schemas.microsoft.com/office/drawing/2014/main" id="{DC48F67B-8CB2-A7F7-4749-EA174B16083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3701" y="3761385"/>
            <a:ext cx="960261" cy="640173"/>
          </a:xfrm>
          <a:prstGeom prst="rect">
            <a:avLst/>
          </a:prstGeom>
        </p:spPr>
      </p:pic>
      <p:pic>
        <p:nvPicPr>
          <p:cNvPr id="4183" name="Graphic 4182">
            <a:extLst>
              <a:ext uri="{FF2B5EF4-FFF2-40B4-BE49-F238E27FC236}">
                <a16:creationId xmlns:a16="http://schemas.microsoft.com/office/drawing/2014/main" id="{2D8EEC2A-0883-4C1B-4077-93E655ACB6F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93229" y="3763815"/>
            <a:ext cx="960261" cy="640173"/>
          </a:xfrm>
          <a:prstGeom prst="rect">
            <a:avLst/>
          </a:prstGeom>
        </p:spPr>
      </p:pic>
      <p:pic>
        <p:nvPicPr>
          <p:cNvPr id="4185" name="Graphic 4184">
            <a:extLst>
              <a:ext uri="{FF2B5EF4-FFF2-40B4-BE49-F238E27FC236}">
                <a16:creationId xmlns:a16="http://schemas.microsoft.com/office/drawing/2014/main" id="{36443A97-FAA2-5BD1-AF56-0F5E1F8677D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542808" y="3761386"/>
            <a:ext cx="960261" cy="640173"/>
          </a:xfrm>
          <a:prstGeom prst="rect">
            <a:avLst/>
          </a:prstGeom>
        </p:spPr>
      </p:pic>
      <p:pic>
        <p:nvPicPr>
          <p:cNvPr id="4187" name="Graphic 4186">
            <a:extLst>
              <a:ext uri="{FF2B5EF4-FFF2-40B4-BE49-F238E27FC236}">
                <a16:creationId xmlns:a16="http://schemas.microsoft.com/office/drawing/2014/main" id="{6F4328B9-CDAA-E36E-F74B-0D5B63CE9E9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974122" y="2899750"/>
            <a:ext cx="960261" cy="640173"/>
          </a:xfrm>
          <a:prstGeom prst="rect">
            <a:avLst/>
          </a:prstGeom>
        </p:spPr>
      </p:pic>
      <p:pic>
        <p:nvPicPr>
          <p:cNvPr id="4189" name="Graphic 4188">
            <a:extLst>
              <a:ext uri="{FF2B5EF4-FFF2-40B4-BE49-F238E27FC236}">
                <a16:creationId xmlns:a16="http://schemas.microsoft.com/office/drawing/2014/main" id="{CFFE2808-BD8F-74F7-2045-7A4B5A8B945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0600" y="2899751"/>
            <a:ext cx="960261" cy="640173"/>
          </a:xfrm>
          <a:prstGeom prst="rect">
            <a:avLst/>
          </a:prstGeom>
        </p:spPr>
      </p:pic>
      <p:pic>
        <p:nvPicPr>
          <p:cNvPr id="4191" name="Graphic 4190">
            <a:extLst>
              <a:ext uri="{FF2B5EF4-FFF2-40B4-BE49-F238E27FC236}">
                <a16:creationId xmlns:a16="http://schemas.microsoft.com/office/drawing/2014/main" id="{4BEA0088-D774-4D71-FD54-7324D600351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489580" y="2899750"/>
            <a:ext cx="960261" cy="640173"/>
          </a:xfrm>
          <a:prstGeom prst="rect">
            <a:avLst/>
          </a:prstGeom>
        </p:spPr>
      </p:pic>
      <p:pic>
        <p:nvPicPr>
          <p:cNvPr id="4193" name="Graphic 4192">
            <a:extLst>
              <a:ext uri="{FF2B5EF4-FFF2-40B4-BE49-F238E27FC236}">
                <a16:creationId xmlns:a16="http://schemas.microsoft.com/office/drawing/2014/main" id="{C97E2AD4-D601-D7AD-912C-34E09CF3DBA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542808" y="2899751"/>
            <a:ext cx="960261" cy="640173"/>
          </a:xfrm>
          <a:prstGeom prst="rect">
            <a:avLst/>
          </a:prstGeom>
        </p:spPr>
      </p:pic>
      <p:pic>
        <p:nvPicPr>
          <p:cNvPr id="4194" name="Picture 4193">
            <a:extLst>
              <a:ext uri="{FF2B5EF4-FFF2-40B4-BE49-F238E27FC236}">
                <a16:creationId xmlns:a16="http://schemas.microsoft.com/office/drawing/2014/main" id="{2692C299-1660-295B-4DBD-443A27CC73B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24439" y="1231748"/>
            <a:ext cx="2629595" cy="12680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0B66B3ED-33DC-DB25-123C-DD0014605EC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11189" y="4503326"/>
            <a:ext cx="960261" cy="6401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3667FA-89E1-AB27-832C-6A2DB366E25A}"/>
                  </a:ext>
                </a:extLst>
              </p:cNvPr>
              <p:cNvSpPr txBox="1"/>
              <p:nvPr/>
            </p:nvSpPr>
            <p:spPr bwMode="gray">
              <a:xfrm>
                <a:off x="671390" y="2116834"/>
                <a:ext cx="5350122" cy="2795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3667FA-89E1-AB27-832C-6A2DB366E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1390" y="2116834"/>
                <a:ext cx="5350122" cy="27956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4006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24" grpId="0" animBg="1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B53C-9D84-FBFF-A2C2-9AB75260B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13CA6F-34EC-8021-2611-A530DFBA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a Bayesian Network: Example (</a:t>
            </a:r>
            <a:r>
              <a:rPr lang="en-US" dirty="0" err="1"/>
              <a:t>ctd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102AC15-F311-0C63-D8CE-405D747D0D1C}"/>
                  </a:ext>
                </a:extLst>
              </p:cNvPr>
              <p:cNvSpPr/>
              <p:nvPr/>
            </p:nvSpPr>
            <p:spPr bwMode="gray">
              <a:xfrm>
                <a:off x="1043608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102AC15-F311-0C63-D8CE-405D747D0D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3608" y="3075838"/>
                <a:ext cx="288000" cy="288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F514616-DB3F-742F-08FD-39A8EE5585DC}"/>
                  </a:ext>
                </a:extLst>
              </p:cNvPr>
              <p:cNvSpPr/>
              <p:nvPr/>
            </p:nvSpPr>
            <p:spPr bwMode="gray">
              <a:xfrm>
                <a:off x="2195760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F514616-DB3F-742F-08FD-39A8EE558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60" y="3075838"/>
                <a:ext cx="288000" cy="288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831907C-ABA4-7287-FB50-F7D65EE29ECC}"/>
                  </a:ext>
                </a:extLst>
              </p:cNvPr>
              <p:cNvSpPr/>
              <p:nvPr/>
            </p:nvSpPr>
            <p:spPr bwMode="gray">
              <a:xfrm>
                <a:off x="1043608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831907C-ABA4-7287-FB50-F7D65EE29E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3608" y="3939902"/>
                <a:ext cx="288000" cy="288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AABE508-7306-4175-3CA0-8E382D962CAA}"/>
                  </a:ext>
                </a:extLst>
              </p:cNvPr>
              <p:cNvSpPr/>
              <p:nvPr/>
            </p:nvSpPr>
            <p:spPr bwMode="gray">
              <a:xfrm>
                <a:off x="2195760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AABE508-7306-4175-3CA0-8E382D962C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60" y="3939902"/>
                <a:ext cx="288000" cy="288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33C1260-6CAB-C280-CFAE-0E5D524CDD8D}"/>
                  </a:ext>
                </a:extLst>
              </p:cNvPr>
              <p:cNvSpPr/>
              <p:nvPr/>
            </p:nvSpPr>
            <p:spPr bwMode="gray">
              <a:xfrm>
                <a:off x="1620141" y="4660014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33C1260-6CAB-C280-CFAE-0E5D524CDD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20141" y="4660014"/>
                <a:ext cx="288000" cy="288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CD4AE9-2E22-FE1A-0A7C-67932C58D9F3}"/>
              </a:ext>
            </a:extLst>
          </p:cNvPr>
          <p:cNvCxnSpPr>
            <a:stCxn id="4" idx="4"/>
            <a:endCxn id="6" idx="0"/>
          </p:cNvCxnSpPr>
          <p:nvPr/>
        </p:nvCxnSpPr>
        <p:spPr bwMode="gray">
          <a:xfrm>
            <a:off x="1187608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71A4E7-94A6-3E63-4C32-C8B2821F606F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 bwMode="gray">
          <a:xfrm>
            <a:off x="2339760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081304-256A-9E77-E41A-B277A30E9BFA}"/>
              </a:ext>
            </a:extLst>
          </p:cNvPr>
          <p:cNvCxnSpPr>
            <a:cxnSpLocks/>
            <a:stCxn id="7" idx="4"/>
            <a:endCxn id="8" idx="7"/>
          </p:cNvCxnSpPr>
          <p:nvPr/>
        </p:nvCxnSpPr>
        <p:spPr bwMode="gray">
          <a:xfrm flipH="1">
            <a:off x="1865964" y="4227902"/>
            <a:ext cx="473796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687E77-27D6-6DC3-BE42-15611F7B8FF6}"/>
              </a:ext>
            </a:extLst>
          </p:cNvPr>
          <p:cNvCxnSpPr>
            <a:cxnSpLocks/>
            <a:stCxn id="6" idx="4"/>
            <a:endCxn id="8" idx="1"/>
          </p:cNvCxnSpPr>
          <p:nvPr/>
        </p:nvCxnSpPr>
        <p:spPr bwMode="gray">
          <a:xfrm>
            <a:off x="1187608" y="4227902"/>
            <a:ext cx="474710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1118910-243F-31B5-C825-92655B10D1CA}"/>
                  </a:ext>
                </a:extLst>
              </p:cNvPr>
              <p:cNvSpPr/>
              <p:nvPr/>
            </p:nvSpPr>
            <p:spPr bwMode="gray">
              <a:xfrm>
                <a:off x="4993431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1118910-243F-31B5-C825-92655B10D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93431" y="3075838"/>
                <a:ext cx="288000" cy="288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040DE3F-41FE-CFE5-AA4F-14A23A6FDCAA}"/>
                  </a:ext>
                </a:extLst>
              </p:cNvPr>
              <p:cNvSpPr/>
              <p:nvPr/>
            </p:nvSpPr>
            <p:spPr bwMode="gray">
              <a:xfrm>
                <a:off x="6145583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040DE3F-41FE-CFE5-AA4F-14A23A6FDC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45583" y="3075838"/>
                <a:ext cx="288000" cy="288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9B805D-7683-6E1B-091A-B1E34F87EC02}"/>
                  </a:ext>
                </a:extLst>
              </p:cNvPr>
              <p:cNvSpPr/>
              <p:nvPr/>
            </p:nvSpPr>
            <p:spPr bwMode="gray">
              <a:xfrm>
                <a:off x="4993431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9B805D-7683-6E1B-091A-B1E34F87E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93431" y="3939902"/>
                <a:ext cx="288000" cy="288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550C158-BDD6-8A35-CC84-53F0FC23FFF8}"/>
                  </a:ext>
                </a:extLst>
              </p:cNvPr>
              <p:cNvSpPr/>
              <p:nvPr/>
            </p:nvSpPr>
            <p:spPr bwMode="gray">
              <a:xfrm>
                <a:off x="6145583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550C158-BDD6-8A35-CC84-53F0FC23FF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45583" y="3939902"/>
                <a:ext cx="288000" cy="288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4344B15-B9A1-77AC-DD50-9D4203492E91}"/>
                  </a:ext>
                </a:extLst>
              </p:cNvPr>
              <p:cNvSpPr/>
              <p:nvPr/>
            </p:nvSpPr>
            <p:spPr bwMode="gray">
              <a:xfrm>
                <a:off x="5569964" y="4660014"/>
                <a:ext cx="288000" cy="288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4344B15-B9A1-77AC-DD50-9D4203492E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69964" y="4660014"/>
                <a:ext cx="288000" cy="288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66D3D0-E92E-8482-AB0C-37CDACF28036}"/>
              </a:ext>
            </a:extLst>
          </p:cNvPr>
          <p:cNvCxnSpPr>
            <a:stCxn id="14" idx="4"/>
            <a:endCxn id="16" idx="0"/>
          </p:cNvCxnSpPr>
          <p:nvPr/>
        </p:nvCxnSpPr>
        <p:spPr bwMode="gray">
          <a:xfrm>
            <a:off x="5137431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F8938D-ED02-C5CA-53CB-D7CD941CDB42}"/>
              </a:ext>
            </a:extLst>
          </p:cNvPr>
          <p:cNvCxnSpPr>
            <a:cxnSpLocks/>
            <a:stCxn id="15" idx="4"/>
            <a:endCxn id="17" idx="0"/>
          </p:cNvCxnSpPr>
          <p:nvPr/>
        </p:nvCxnSpPr>
        <p:spPr bwMode="gray">
          <a:xfrm>
            <a:off x="6289583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D94DD2-5C61-C04B-5150-F0941A461846}"/>
              </a:ext>
            </a:extLst>
          </p:cNvPr>
          <p:cNvCxnSpPr>
            <a:cxnSpLocks/>
            <a:stCxn id="17" idx="4"/>
            <a:endCxn id="18" idx="7"/>
          </p:cNvCxnSpPr>
          <p:nvPr/>
        </p:nvCxnSpPr>
        <p:spPr bwMode="gray">
          <a:xfrm flipH="1">
            <a:off x="5815787" y="4227902"/>
            <a:ext cx="473796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682FBD-2B9F-119B-E364-0BE084E18CC9}"/>
              </a:ext>
            </a:extLst>
          </p:cNvPr>
          <p:cNvCxnSpPr>
            <a:cxnSpLocks/>
            <a:stCxn id="16" idx="4"/>
            <a:endCxn id="18" idx="1"/>
          </p:cNvCxnSpPr>
          <p:nvPr/>
        </p:nvCxnSpPr>
        <p:spPr bwMode="gray">
          <a:xfrm>
            <a:off x="5137431" y="4227902"/>
            <a:ext cx="474710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C7D7C28-C752-27CC-1CB2-4CF482CFF46D}"/>
              </a:ext>
            </a:extLst>
          </p:cNvPr>
          <p:cNvSpPr txBox="1"/>
          <p:nvPr/>
        </p:nvSpPr>
        <p:spPr bwMode="gray">
          <a:xfrm>
            <a:off x="648017" y="2606794"/>
            <a:ext cx="2232248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x-none" sz="1200" b="1" dirty="0"/>
              <a:t>Without match outcome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5DF8CB3-61B6-03B7-B18E-851158AF001D}"/>
                  </a:ext>
                </a:extLst>
              </p:cNvPr>
              <p:cNvSpPr txBox="1"/>
              <p:nvPr/>
            </p:nvSpPr>
            <p:spPr bwMode="gray">
              <a:xfrm>
                <a:off x="4436047" y="2606794"/>
                <a:ext cx="25558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x-none" sz="1200" b="1" dirty="0"/>
                  <a:t>With match outcome (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x-none" sz="1200" b="1" dirty="0"/>
                  <a:t>)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16371E-F65C-4B6C-259F-F0A9D61B5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36047" y="2606794"/>
                <a:ext cx="2555833" cy="276999"/>
              </a:xfrm>
              <a:prstGeom prst="rect">
                <a:avLst/>
              </a:prstGeom>
              <a:blipFill>
                <a:blip r:embed="rId13"/>
                <a:stretch>
                  <a:fillRect t="-4348" b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Graphic 43">
            <a:extLst>
              <a:ext uri="{FF2B5EF4-FFF2-40B4-BE49-F238E27FC236}">
                <a16:creationId xmlns:a16="http://schemas.microsoft.com/office/drawing/2014/main" id="{6C805655-6638-423B-7A97-7806D1E34F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96668" y="4502862"/>
            <a:ext cx="960261" cy="640174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EA726DCA-4D08-BB0A-54B4-3850FABBC8F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3700" y="3761384"/>
            <a:ext cx="960261" cy="640174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9F89D31E-2169-1B0B-94C7-3912A0687D2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969224" y="3761384"/>
            <a:ext cx="960261" cy="640174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9B3D7445-7525-8C82-E4EC-D320B0FCCE4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546652" y="3761384"/>
            <a:ext cx="960261" cy="640174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7076B5D4-D6BB-D3E9-9DDC-AE8445F6E0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97529" y="3761385"/>
            <a:ext cx="960261" cy="640174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FBE66069-2009-3AE0-4B0B-8A63A5C9552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3701" y="2899749"/>
            <a:ext cx="960261" cy="640174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95F0D99A-7D69-AE7A-C9C8-09875538697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974917" y="2883793"/>
            <a:ext cx="960261" cy="640174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06A70BDD-4D5F-3475-C161-4B83EFB4257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542808" y="2899749"/>
            <a:ext cx="960261" cy="640174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1C20BA09-064B-9E48-6D03-ED29C410900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493229" y="2899749"/>
            <a:ext cx="960261" cy="6401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D8C95BC-11A1-27AE-D52F-D990DDDE9CFE}"/>
                  </a:ext>
                </a:extLst>
              </p:cNvPr>
              <p:cNvSpPr txBox="1"/>
              <p:nvPr/>
            </p:nvSpPr>
            <p:spPr bwMode="gray">
              <a:xfrm>
                <a:off x="671390" y="1760876"/>
                <a:ext cx="5350122" cy="2795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x-none" sz="1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D8C95BC-11A1-27AE-D52F-D990DDDE9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1390" y="1760876"/>
                <a:ext cx="5350122" cy="279564"/>
              </a:xfrm>
              <a:prstGeom prst="rect">
                <a:avLst/>
              </a:prstGeom>
              <a:blipFill>
                <a:blip r:embed="rId32"/>
                <a:stretch>
                  <a:fillRect b="-8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C6EEF83-EA57-6498-4E06-2C4B5A0106D0}"/>
                  </a:ext>
                </a:extLst>
              </p:cNvPr>
              <p:cNvSpPr txBox="1"/>
              <p:nvPr/>
            </p:nvSpPr>
            <p:spPr bwMode="gray">
              <a:xfrm>
                <a:off x="671390" y="2116834"/>
                <a:ext cx="5350122" cy="2795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C6EEF83-EA57-6498-4E06-2C4B5A010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1390" y="2116834"/>
                <a:ext cx="5350122" cy="27956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5922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Tail-to-Tail Node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Head-to-Tail Node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: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BA71FA-AD23-95A1-9C21-AA1250DF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Independence: Warm-Up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001CACE-6784-CE25-1D13-E04482FFC3E6}"/>
                  </a:ext>
                </a:extLst>
              </p:cNvPr>
              <p:cNvSpPr/>
              <p:nvPr/>
            </p:nvSpPr>
            <p:spPr bwMode="gray">
              <a:xfrm>
                <a:off x="1791864" y="167166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001CACE-6784-CE25-1D13-E04482FFC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91864" y="1671662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004B6A-6E25-EC4D-2775-74DE086CC86D}"/>
                  </a:ext>
                </a:extLst>
              </p:cNvPr>
              <p:cNvSpPr/>
              <p:nvPr/>
            </p:nvSpPr>
            <p:spPr bwMode="gray">
              <a:xfrm>
                <a:off x="2108073" y="206355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004B6A-6E25-EC4D-2775-74DE086CC8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08073" y="2063557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B35772F-7A9A-0C2A-2CC5-6FAD06ED490B}"/>
                  </a:ext>
                </a:extLst>
              </p:cNvPr>
              <p:cNvSpPr/>
              <p:nvPr/>
            </p:nvSpPr>
            <p:spPr bwMode="gray">
              <a:xfrm>
                <a:off x="1475656" y="206355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B35772F-7A9A-0C2A-2CC5-6FAD06ED49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75656" y="2063557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A90DA2-A7F4-F5B9-DAF5-4FF8EF9A77A0}"/>
              </a:ext>
            </a:extLst>
          </p:cNvPr>
          <p:cNvCxnSpPr>
            <a:cxnSpLocks/>
            <a:stCxn id="7" idx="3"/>
            <a:endCxn id="9" idx="7"/>
          </p:cNvCxnSpPr>
          <p:nvPr/>
        </p:nvCxnSpPr>
        <p:spPr bwMode="gray">
          <a:xfrm flipH="1">
            <a:off x="1660024" y="1856030"/>
            <a:ext cx="163472" cy="239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E5253E-DBE1-6613-8D99-3F66857DB8AE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 bwMode="gray">
          <a:xfrm>
            <a:off x="1976232" y="1856030"/>
            <a:ext cx="163473" cy="239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2D34A77-803E-647E-6F2F-88A48ADD980E}"/>
                  </a:ext>
                </a:extLst>
              </p:cNvPr>
              <p:cNvSpPr/>
              <p:nvPr/>
            </p:nvSpPr>
            <p:spPr bwMode="gray">
              <a:xfrm>
                <a:off x="5482652" y="1671662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2D34A77-803E-647E-6F2F-88A48ADD98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82652" y="1671662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8518CCE-4A05-1318-F174-0E3042594521}"/>
                  </a:ext>
                </a:extLst>
              </p:cNvPr>
              <p:cNvSpPr/>
              <p:nvPr/>
            </p:nvSpPr>
            <p:spPr bwMode="gray">
              <a:xfrm>
                <a:off x="5798861" y="206355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8518CCE-4A05-1318-F174-0E30425945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98861" y="2063557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C65480E-9BF1-2740-81B1-64E49A9727F5}"/>
                  </a:ext>
                </a:extLst>
              </p:cNvPr>
              <p:cNvSpPr/>
              <p:nvPr/>
            </p:nvSpPr>
            <p:spPr bwMode="gray">
              <a:xfrm>
                <a:off x="5166444" y="206355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C65480E-9BF1-2740-81B1-64E49A9727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66444" y="2063557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819635-3741-33FE-62C9-6312665BD589}"/>
              </a:ext>
            </a:extLst>
          </p:cNvPr>
          <p:cNvCxnSpPr>
            <a:cxnSpLocks/>
            <a:stCxn id="19" idx="3"/>
            <a:endCxn id="21" idx="7"/>
          </p:cNvCxnSpPr>
          <p:nvPr/>
        </p:nvCxnSpPr>
        <p:spPr bwMode="gray">
          <a:xfrm flipH="1">
            <a:off x="5350812" y="1856030"/>
            <a:ext cx="163472" cy="239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F642090-C217-608A-4282-40F28FF73B46}"/>
              </a:ext>
            </a:extLst>
          </p:cNvPr>
          <p:cNvCxnSpPr>
            <a:cxnSpLocks/>
            <a:stCxn id="19" idx="5"/>
            <a:endCxn id="20" idx="1"/>
          </p:cNvCxnSpPr>
          <p:nvPr/>
        </p:nvCxnSpPr>
        <p:spPr bwMode="gray">
          <a:xfrm>
            <a:off x="5667020" y="1856030"/>
            <a:ext cx="163473" cy="239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74F97B-D492-5E8A-3E78-4D78A51608CD}"/>
                  </a:ext>
                </a:extLst>
              </p:cNvPr>
              <p:cNvSpPr txBox="1"/>
              <p:nvPr/>
            </p:nvSpPr>
            <p:spPr bwMode="gray">
              <a:xfrm>
                <a:off x="333944" y="2500546"/>
                <a:ext cx="3131840" cy="406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74F97B-D492-5E8A-3E78-4D78A5160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3944" y="2500546"/>
                <a:ext cx="3131840" cy="406330"/>
              </a:xfrm>
              <a:prstGeom prst="rect">
                <a:avLst/>
              </a:prstGeom>
              <a:blipFill>
                <a:blip r:embed="rId9"/>
                <a:stretch>
                  <a:fillRect t="-90909" b="-13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F6EE49-0B09-82B6-7499-5C4D9CB69629}"/>
                  </a:ext>
                </a:extLst>
              </p:cNvPr>
              <p:cNvSpPr txBox="1"/>
              <p:nvPr/>
            </p:nvSpPr>
            <p:spPr bwMode="gray">
              <a:xfrm>
                <a:off x="4057380" y="2490215"/>
                <a:ext cx="3066544" cy="351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F6EE49-0B09-82B6-7499-5C4D9CB69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57380" y="2490215"/>
                <a:ext cx="3066544" cy="35195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062E0713-14C1-9380-64EE-D97D81985491}"/>
              </a:ext>
            </a:extLst>
          </p:cNvPr>
          <p:cNvSpPr txBox="1"/>
          <p:nvPr/>
        </p:nvSpPr>
        <p:spPr bwMode="gray">
          <a:xfrm>
            <a:off x="637610" y="2842171"/>
            <a:ext cx="252450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not independent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36A633-C158-E344-2B0E-6387EA86537C}"/>
              </a:ext>
            </a:extLst>
          </p:cNvPr>
          <p:cNvSpPr txBox="1"/>
          <p:nvPr/>
        </p:nvSpPr>
        <p:spPr bwMode="gray">
          <a:xfrm>
            <a:off x="4535732" y="2842171"/>
            <a:ext cx="20984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conditionally independent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80B14C-E6DF-7132-9F69-76827A576B56}"/>
                  </a:ext>
                </a:extLst>
              </p:cNvPr>
              <p:cNvSpPr/>
              <p:nvPr/>
            </p:nvSpPr>
            <p:spPr bwMode="gray">
              <a:xfrm>
                <a:off x="1519615" y="376425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80B14C-E6DF-7132-9F69-76827A576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19615" y="3764254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9D5B003-1B33-0BFD-D518-FC1C37E1AB0F}"/>
                  </a:ext>
                </a:extLst>
              </p:cNvPr>
              <p:cNvSpPr/>
              <p:nvPr/>
            </p:nvSpPr>
            <p:spPr bwMode="gray">
              <a:xfrm>
                <a:off x="1976232" y="376425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9D5B003-1B33-0BFD-D518-FC1C37E1A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76232" y="3764254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9003BB9-5C7C-911D-428A-3D4DBD31F9A0}"/>
                  </a:ext>
                </a:extLst>
              </p:cNvPr>
              <p:cNvSpPr/>
              <p:nvPr/>
            </p:nvSpPr>
            <p:spPr bwMode="gray">
              <a:xfrm>
                <a:off x="2432849" y="376425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9003BB9-5C7C-911D-428A-3D4DBD31F9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32849" y="3764254"/>
                <a:ext cx="216000" cy="216000"/>
              </a:xfrm>
              <a:prstGeom prst="ellipse">
                <a:avLst/>
              </a:prstGeom>
              <a:blipFill>
                <a:blip r:embed="rId13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2B3949-663C-1DF6-331E-5A4FC473EF60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 bwMode="gray">
          <a:xfrm>
            <a:off x="2192232" y="3872254"/>
            <a:ext cx="2406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761A80-D44F-7B3B-9EF5-F4AB071FF075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 bwMode="gray">
          <a:xfrm>
            <a:off x="1735615" y="3872254"/>
            <a:ext cx="2406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4C6B60-A034-4E8B-65C6-106B4AFFF770}"/>
                  </a:ext>
                </a:extLst>
              </p:cNvPr>
              <p:cNvSpPr txBox="1"/>
              <p:nvPr/>
            </p:nvSpPr>
            <p:spPr bwMode="gray">
              <a:xfrm>
                <a:off x="284195" y="4224789"/>
                <a:ext cx="3600073" cy="406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4C6B60-A034-4E8B-65C6-106B4AFFF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4195" y="4224789"/>
                <a:ext cx="3600073" cy="406330"/>
              </a:xfrm>
              <a:prstGeom prst="rect">
                <a:avLst/>
              </a:prstGeom>
              <a:blipFill>
                <a:blip r:embed="rId14"/>
                <a:stretch>
                  <a:fillRect t="-93939" b="-13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1ED620-2154-4E69-5521-3671F12032AC}"/>
                  </a:ext>
                </a:extLst>
              </p:cNvPr>
              <p:cNvSpPr txBox="1"/>
              <p:nvPr/>
            </p:nvSpPr>
            <p:spPr bwMode="gray">
              <a:xfrm>
                <a:off x="4169283" y="4200272"/>
                <a:ext cx="3066544" cy="351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1ED620-2154-4E69-5521-3671F1203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69283" y="4200272"/>
                <a:ext cx="3066544" cy="35195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A974435D-05DF-6171-5F26-CCCC7E79B514}"/>
              </a:ext>
            </a:extLst>
          </p:cNvPr>
          <p:cNvSpPr txBox="1"/>
          <p:nvPr/>
        </p:nvSpPr>
        <p:spPr bwMode="gray">
          <a:xfrm>
            <a:off x="760973" y="4667156"/>
            <a:ext cx="252450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not independent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A98638-D243-943C-A5A5-704EFB726867}"/>
              </a:ext>
            </a:extLst>
          </p:cNvPr>
          <p:cNvSpPr txBox="1"/>
          <p:nvPr/>
        </p:nvSpPr>
        <p:spPr bwMode="gray">
          <a:xfrm>
            <a:off x="4783099" y="4659982"/>
            <a:ext cx="1831105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conditionally independent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0CF8516-B68A-8BAE-9779-C2C60F7E6FD9}"/>
                  </a:ext>
                </a:extLst>
              </p:cNvPr>
              <p:cNvSpPr/>
              <p:nvPr/>
            </p:nvSpPr>
            <p:spPr bwMode="gray">
              <a:xfrm>
                <a:off x="5076056" y="376620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0CF8516-B68A-8BAE-9779-C2C60F7E6F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76056" y="3766208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B80536F-5078-1051-5A0F-F9C5168F9F78}"/>
                  </a:ext>
                </a:extLst>
              </p:cNvPr>
              <p:cNvSpPr/>
              <p:nvPr/>
            </p:nvSpPr>
            <p:spPr bwMode="gray">
              <a:xfrm>
                <a:off x="5532673" y="3766208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B80536F-5078-1051-5A0F-F9C5168F9F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32673" y="3766208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BAC3F27C-0D22-4125-3FAD-EEB0EA80091C}"/>
                  </a:ext>
                </a:extLst>
              </p:cNvPr>
              <p:cNvSpPr/>
              <p:nvPr/>
            </p:nvSpPr>
            <p:spPr bwMode="gray">
              <a:xfrm>
                <a:off x="5989290" y="376620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BAC3F27C-0D22-4125-3FAD-EEB0EA8009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89290" y="3766208"/>
                <a:ext cx="216000" cy="216000"/>
              </a:xfrm>
              <a:prstGeom prst="ellipse">
                <a:avLst/>
              </a:prstGeom>
              <a:blipFill>
                <a:blip r:embed="rId18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D74C91-BA0D-719C-0CA1-F7833399BEB9}"/>
              </a:ext>
            </a:extLst>
          </p:cNvPr>
          <p:cNvCxnSpPr>
            <a:cxnSpLocks/>
            <a:stCxn id="53" idx="6"/>
            <a:endCxn id="54" idx="2"/>
          </p:cNvCxnSpPr>
          <p:nvPr/>
        </p:nvCxnSpPr>
        <p:spPr bwMode="gray">
          <a:xfrm>
            <a:off x="5748673" y="3874208"/>
            <a:ext cx="2406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65227F-3064-FA38-08D9-7C387C6EF993}"/>
              </a:ext>
            </a:extLst>
          </p:cNvPr>
          <p:cNvCxnSpPr>
            <a:cxnSpLocks/>
            <a:stCxn id="52" idx="6"/>
            <a:endCxn id="53" idx="2"/>
          </p:cNvCxnSpPr>
          <p:nvPr/>
        </p:nvCxnSpPr>
        <p:spPr bwMode="gray">
          <a:xfrm>
            <a:off x="5292056" y="3874208"/>
            <a:ext cx="2406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4543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9" grpId="0" animBg="1"/>
      <p:bldP spid="20" grpId="0" animBg="1"/>
      <p:bldP spid="21" grpId="0" animBg="1"/>
      <p:bldP spid="25" grpId="0"/>
      <p:bldP spid="26" grpId="0"/>
      <p:bldP spid="27" grpId="0"/>
      <p:bldP spid="28" grpId="0"/>
      <p:bldP spid="29" grpId="0" animBg="1"/>
      <p:bldP spid="30" grpId="0" animBg="1"/>
      <p:bldP spid="31" grpId="0" animBg="1"/>
      <p:bldP spid="39" grpId="0"/>
      <p:bldP spid="40" grpId="0"/>
      <p:bldP spid="41" grpId="0"/>
      <p:bldP spid="42" grpId="0"/>
      <p:bldP spid="52" grpId="0" animBg="1"/>
      <p:bldP spid="53" grpId="0" animBg="1"/>
      <p:bldP spid="5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556041"/>
              </a:xfrm>
            </p:spPr>
            <p:txBody>
              <a:bodyPr/>
              <a:lstStyle/>
              <a:p>
                <a:r>
                  <a:rPr lang="en-US" b="1" dirty="0"/>
                  <a:t>Head-to-Head Node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sz="1200" dirty="0"/>
                  <a:t>It can be shown that the path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200" dirty="0"/>
                  <a:t> are only independent if </a:t>
                </a:r>
                <a:r>
                  <a:rPr lang="en-US" sz="1200" i="1" dirty="0"/>
                  <a:t>none </a:t>
                </a:r>
                <a:r>
                  <a:rPr lang="en-US" sz="1200" dirty="0"/>
                  <a:t>of the </a:t>
                </a:r>
                <a:r>
                  <a:rPr lang="en-US" sz="1200" i="1" dirty="0"/>
                  <a:t>descendant </a:t>
                </a:r>
                <a:r>
                  <a:rPr lang="en-US" sz="1200" dirty="0"/>
                  <a:t>node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/>
                  <a:t> (that can be reached in the directed graph) is observed!</a:t>
                </a:r>
              </a:p>
              <a:p>
                <a:r>
                  <a:rPr lang="en-US" b="1" dirty="0"/>
                  <a:t>Skill Example (</a:t>
                </a:r>
                <a:r>
                  <a:rPr lang="en-US" b="1" dirty="0" err="1"/>
                  <a:t>ctd</a:t>
                </a:r>
                <a:r>
                  <a:rPr lang="en-US" b="1" dirty="0"/>
                  <a:t>)</a:t>
                </a:r>
                <a:r>
                  <a:rPr lang="en-US" dirty="0"/>
                  <a:t>: Consider the performance of two players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556041"/>
              </a:xfrm>
              <a:blipFill>
                <a:blip r:embed="rId2"/>
                <a:stretch>
                  <a:fillRect t="-49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BA71FA-AD23-95A1-9C21-AA1250DF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Independence: Warm-Up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001CACE-6784-CE25-1D13-E04482FFC3E6}"/>
                  </a:ext>
                </a:extLst>
              </p:cNvPr>
              <p:cNvSpPr/>
              <p:nvPr/>
            </p:nvSpPr>
            <p:spPr bwMode="gray">
              <a:xfrm>
                <a:off x="1791865" y="199181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001CACE-6784-CE25-1D13-E04482FFC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91865" y="1991819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004B6A-6E25-EC4D-2775-74DE086CC86D}"/>
                  </a:ext>
                </a:extLst>
              </p:cNvPr>
              <p:cNvSpPr/>
              <p:nvPr/>
            </p:nvSpPr>
            <p:spPr bwMode="gray">
              <a:xfrm>
                <a:off x="2108073" y="159120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004B6A-6E25-EC4D-2775-74DE086CC8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08073" y="1591205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B35772F-7A9A-0C2A-2CC5-6FAD06ED490B}"/>
                  </a:ext>
                </a:extLst>
              </p:cNvPr>
              <p:cNvSpPr/>
              <p:nvPr/>
            </p:nvSpPr>
            <p:spPr bwMode="gray">
              <a:xfrm>
                <a:off x="1475656" y="159120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B35772F-7A9A-0C2A-2CC5-6FAD06ED49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75656" y="1591205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A90DA2-A7F4-F5B9-DAF5-4FF8EF9A77A0}"/>
              </a:ext>
            </a:extLst>
          </p:cNvPr>
          <p:cNvCxnSpPr>
            <a:cxnSpLocks/>
            <a:stCxn id="9" idx="5"/>
            <a:endCxn id="7" idx="1"/>
          </p:cNvCxnSpPr>
          <p:nvPr/>
        </p:nvCxnSpPr>
        <p:spPr bwMode="gray">
          <a:xfrm>
            <a:off x="1660024" y="1775573"/>
            <a:ext cx="163473" cy="247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E5253E-DBE1-6613-8D99-3F66857DB8AE}"/>
              </a:ext>
            </a:extLst>
          </p:cNvPr>
          <p:cNvCxnSpPr>
            <a:cxnSpLocks/>
            <a:stCxn id="8" idx="3"/>
            <a:endCxn id="7" idx="7"/>
          </p:cNvCxnSpPr>
          <p:nvPr/>
        </p:nvCxnSpPr>
        <p:spPr bwMode="gray">
          <a:xfrm flipH="1">
            <a:off x="1976233" y="1775573"/>
            <a:ext cx="163472" cy="247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74F97B-D492-5E8A-3E78-4D78A51608CD}"/>
                  </a:ext>
                </a:extLst>
              </p:cNvPr>
              <p:cNvSpPr txBox="1"/>
              <p:nvPr/>
            </p:nvSpPr>
            <p:spPr bwMode="gray">
              <a:xfrm>
                <a:off x="333944" y="2294049"/>
                <a:ext cx="3131840" cy="411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74F97B-D492-5E8A-3E78-4D78A5160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3944" y="2294049"/>
                <a:ext cx="3131840" cy="411459"/>
              </a:xfrm>
              <a:prstGeom prst="rect">
                <a:avLst/>
              </a:prstGeom>
              <a:blipFill>
                <a:blip r:embed="rId6"/>
                <a:stretch>
                  <a:fillRect t="-91176" b="-1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F6EE49-0B09-82B6-7499-5C4D9CB69629}"/>
                  </a:ext>
                </a:extLst>
              </p:cNvPr>
              <p:cNvSpPr txBox="1"/>
              <p:nvPr/>
            </p:nvSpPr>
            <p:spPr bwMode="gray">
              <a:xfrm>
                <a:off x="4057380" y="2283718"/>
                <a:ext cx="3066544" cy="351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F6EE49-0B09-82B6-7499-5C4D9CB69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57380" y="2283718"/>
                <a:ext cx="3066544" cy="3519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062E0713-14C1-9380-64EE-D97D81985491}"/>
              </a:ext>
            </a:extLst>
          </p:cNvPr>
          <p:cNvSpPr txBox="1"/>
          <p:nvPr/>
        </p:nvSpPr>
        <p:spPr bwMode="gray">
          <a:xfrm>
            <a:off x="4378419" y="2719657"/>
            <a:ext cx="252450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not (always) conditionally independent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36A633-C158-E344-2B0E-6387EA86537C}"/>
              </a:ext>
            </a:extLst>
          </p:cNvPr>
          <p:cNvSpPr txBox="1"/>
          <p:nvPr/>
        </p:nvSpPr>
        <p:spPr bwMode="gray">
          <a:xfrm>
            <a:off x="850622" y="2642755"/>
            <a:ext cx="20984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independent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74435D-05DF-6171-5F26-CCCC7E79B514}"/>
                  </a:ext>
                </a:extLst>
              </p:cNvPr>
              <p:cNvSpPr txBox="1"/>
              <p:nvPr/>
            </p:nvSpPr>
            <p:spPr bwMode="gray">
              <a:xfrm>
                <a:off x="665819" y="4587974"/>
                <a:ext cx="252450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b="0" dirty="0">
                    <a:solidFill>
                      <a:srgbClr val="C00000"/>
                    </a:solidFill>
                  </a:rPr>
                  <a:t>Before match: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are independent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74435D-05DF-6171-5F26-CCCC7E79B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5819" y="4587974"/>
                <a:ext cx="2524508" cy="216024"/>
              </a:xfrm>
              <a:prstGeom prst="rect">
                <a:avLst/>
              </a:prstGeom>
              <a:blipFill>
                <a:blip r:embed="rId8"/>
                <a:stretch>
                  <a:fillRect l="-1000" t="-5556" r="-1000" b="-2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A98638-D243-943C-A5A5-704EFB726867}"/>
                  </a:ext>
                </a:extLst>
              </p:cNvPr>
              <p:cNvSpPr txBox="1"/>
              <p:nvPr/>
            </p:nvSpPr>
            <p:spPr bwMode="gray">
              <a:xfrm>
                <a:off x="4024235" y="4583634"/>
                <a:ext cx="2751801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dirty="0">
                    <a:solidFill>
                      <a:srgbClr val="C00000"/>
                    </a:solidFill>
                  </a:rPr>
                  <a:t>After match: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and</m:t>
                    </m:r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are</m:t>
                    </m:r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000" b="1" i="0" dirty="0" smtClean="0">
                        <a:solidFill>
                          <a:srgbClr val="C00000"/>
                        </a:solidFill>
                      </a:rPr>
                      <m:t>not</m:t>
                    </m:r>
                    <m:r>
                      <m:rPr>
                        <m:nor/>
                      </m:rPr>
                      <a:rPr lang="en-US" sz="1000" b="0" i="0" dirty="0" smtClean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independent</m:t>
                    </m:r>
                  </m:oMath>
                </a14:m>
                <a:endParaRPr lang="x-non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A98638-D243-943C-A5A5-704EFB726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24235" y="4583634"/>
                <a:ext cx="2751801" cy="216024"/>
              </a:xfrm>
              <a:prstGeom prst="rect">
                <a:avLst/>
              </a:prstGeom>
              <a:blipFill>
                <a:blip r:embed="rId9"/>
                <a:stretch>
                  <a:fillRect t="-5556" b="-2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19AB23C-1AD3-A2DF-0D48-08F236028B14}"/>
                  </a:ext>
                </a:extLst>
              </p:cNvPr>
              <p:cNvSpPr/>
              <p:nvPr/>
            </p:nvSpPr>
            <p:spPr bwMode="gray">
              <a:xfrm>
                <a:off x="5324465" y="1991819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19AB23C-1AD3-A2DF-0D48-08F236028B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24465" y="1991819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" name="Oval 1023">
                <a:extLst>
                  <a:ext uri="{FF2B5EF4-FFF2-40B4-BE49-F238E27FC236}">
                    <a16:creationId xmlns:a16="http://schemas.microsoft.com/office/drawing/2014/main" id="{B7ED7D5C-BAA2-E47D-633E-9232AB31343E}"/>
                  </a:ext>
                </a:extLst>
              </p:cNvPr>
              <p:cNvSpPr/>
              <p:nvPr/>
            </p:nvSpPr>
            <p:spPr bwMode="gray">
              <a:xfrm>
                <a:off x="5640673" y="159120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4" name="Oval 1023">
                <a:extLst>
                  <a:ext uri="{FF2B5EF4-FFF2-40B4-BE49-F238E27FC236}">
                    <a16:creationId xmlns:a16="http://schemas.microsoft.com/office/drawing/2014/main" id="{B7ED7D5C-BAA2-E47D-633E-9232AB3134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0673" y="1591205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Oval 1024">
                <a:extLst>
                  <a:ext uri="{FF2B5EF4-FFF2-40B4-BE49-F238E27FC236}">
                    <a16:creationId xmlns:a16="http://schemas.microsoft.com/office/drawing/2014/main" id="{AB577569-2BC1-D1FD-94D0-7934EADAC2A0}"/>
                  </a:ext>
                </a:extLst>
              </p:cNvPr>
              <p:cNvSpPr/>
              <p:nvPr/>
            </p:nvSpPr>
            <p:spPr bwMode="gray">
              <a:xfrm>
                <a:off x="5008256" y="159120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5" name="Oval 1024">
                <a:extLst>
                  <a:ext uri="{FF2B5EF4-FFF2-40B4-BE49-F238E27FC236}">
                    <a16:creationId xmlns:a16="http://schemas.microsoft.com/office/drawing/2014/main" id="{AB577569-2BC1-D1FD-94D0-7934EADAC2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08256" y="1591205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69F1FE19-025C-D570-9CFD-881C75EF936F}"/>
              </a:ext>
            </a:extLst>
          </p:cNvPr>
          <p:cNvCxnSpPr>
            <a:cxnSpLocks/>
            <a:stCxn id="1025" idx="5"/>
            <a:endCxn id="63" idx="1"/>
          </p:cNvCxnSpPr>
          <p:nvPr/>
        </p:nvCxnSpPr>
        <p:spPr bwMode="gray">
          <a:xfrm>
            <a:off x="5192624" y="1775573"/>
            <a:ext cx="163473" cy="247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4503569A-9580-C0B7-2C08-E838641F2571}"/>
              </a:ext>
            </a:extLst>
          </p:cNvPr>
          <p:cNvCxnSpPr>
            <a:cxnSpLocks/>
            <a:stCxn id="1024" idx="3"/>
            <a:endCxn id="63" idx="7"/>
          </p:cNvCxnSpPr>
          <p:nvPr/>
        </p:nvCxnSpPr>
        <p:spPr bwMode="gray">
          <a:xfrm flipH="1">
            <a:off x="5508833" y="1775573"/>
            <a:ext cx="163472" cy="247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2" name="Oval 1031">
                <a:extLst>
                  <a:ext uri="{FF2B5EF4-FFF2-40B4-BE49-F238E27FC236}">
                    <a16:creationId xmlns:a16="http://schemas.microsoft.com/office/drawing/2014/main" id="{62909F31-C68D-315A-E5A3-AD271B83A85D}"/>
                  </a:ext>
                </a:extLst>
              </p:cNvPr>
              <p:cNvSpPr/>
              <p:nvPr/>
            </p:nvSpPr>
            <p:spPr bwMode="gray">
              <a:xfrm>
                <a:off x="1531572" y="393990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2" name="Oval 1031">
                <a:extLst>
                  <a:ext uri="{FF2B5EF4-FFF2-40B4-BE49-F238E27FC236}">
                    <a16:creationId xmlns:a16="http://schemas.microsoft.com/office/drawing/2014/main" id="{62909F31-C68D-315A-E5A3-AD271B83A8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31572" y="3939902"/>
                <a:ext cx="216000" cy="216000"/>
              </a:xfrm>
              <a:prstGeom prst="ellipse">
                <a:avLst/>
              </a:prstGeom>
              <a:blipFill>
                <a:blip r:embed="rId1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3" name="Oval 1032">
                <a:extLst>
                  <a:ext uri="{FF2B5EF4-FFF2-40B4-BE49-F238E27FC236}">
                    <a16:creationId xmlns:a16="http://schemas.microsoft.com/office/drawing/2014/main" id="{1C139E3E-9E22-0D20-593E-426F39D4AE32}"/>
                  </a:ext>
                </a:extLst>
              </p:cNvPr>
              <p:cNvSpPr/>
              <p:nvPr/>
            </p:nvSpPr>
            <p:spPr bwMode="gray">
              <a:xfrm>
                <a:off x="2108073" y="393990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3" name="Oval 1032">
                <a:extLst>
                  <a:ext uri="{FF2B5EF4-FFF2-40B4-BE49-F238E27FC236}">
                    <a16:creationId xmlns:a16="http://schemas.microsoft.com/office/drawing/2014/main" id="{1C139E3E-9E22-0D20-593E-426F39D4AE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08073" y="3939902"/>
                <a:ext cx="216000" cy="216000"/>
              </a:xfrm>
              <a:prstGeom prst="ellipse">
                <a:avLst/>
              </a:prstGeom>
              <a:blipFill>
                <a:blip r:embed="rId1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" name="Oval 1033">
                <a:extLst>
                  <a:ext uri="{FF2B5EF4-FFF2-40B4-BE49-F238E27FC236}">
                    <a16:creationId xmlns:a16="http://schemas.microsoft.com/office/drawing/2014/main" id="{CCC3D2F8-4FDC-4958-3B25-5C01EC241767}"/>
                  </a:ext>
                </a:extLst>
              </p:cNvPr>
              <p:cNvSpPr/>
              <p:nvPr/>
            </p:nvSpPr>
            <p:spPr bwMode="gray">
              <a:xfrm>
                <a:off x="1820073" y="4299958"/>
                <a:ext cx="216000" cy="216000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4" name="Oval 1033">
                <a:extLst>
                  <a:ext uri="{FF2B5EF4-FFF2-40B4-BE49-F238E27FC236}">
                    <a16:creationId xmlns:a16="http://schemas.microsoft.com/office/drawing/2014/main" id="{CCC3D2F8-4FDC-4958-3B25-5C01EC241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20073" y="4299958"/>
                <a:ext cx="216000" cy="2160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4FF51778-A571-8032-46A4-082368C4D440}"/>
              </a:ext>
            </a:extLst>
          </p:cNvPr>
          <p:cNvCxnSpPr>
            <a:cxnSpLocks/>
            <a:stCxn id="1033" idx="4"/>
            <a:endCxn id="1034" idx="7"/>
          </p:cNvCxnSpPr>
          <p:nvPr/>
        </p:nvCxnSpPr>
        <p:spPr bwMode="gray">
          <a:xfrm flipH="1">
            <a:off x="2004441" y="4155902"/>
            <a:ext cx="211632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BAC1F905-B9D2-F3D5-6938-AE07C60BB123}"/>
              </a:ext>
            </a:extLst>
          </p:cNvPr>
          <p:cNvCxnSpPr>
            <a:cxnSpLocks/>
            <a:stCxn id="1032" idx="4"/>
            <a:endCxn id="1034" idx="1"/>
          </p:cNvCxnSpPr>
          <p:nvPr/>
        </p:nvCxnSpPr>
        <p:spPr bwMode="gray">
          <a:xfrm>
            <a:off x="1639572" y="4155902"/>
            <a:ext cx="212133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1" name="Oval 1040">
                <a:extLst>
                  <a:ext uri="{FF2B5EF4-FFF2-40B4-BE49-F238E27FC236}">
                    <a16:creationId xmlns:a16="http://schemas.microsoft.com/office/drawing/2014/main" id="{AE585AA5-1F2F-B67D-3836-7C826EAFECA1}"/>
                  </a:ext>
                </a:extLst>
              </p:cNvPr>
              <p:cNvSpPr/>
              <p:nvPr/>
            </p:nvSpPr>
            <p:spPr bwMode="gray">
              <a:xfrm>
                <a:off x="5003635" y="393991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1" name="Oval 1040">
                <a:extLst>
                  <a:ext uri="{FF2B5EF4-FFF2-40B4-BE49-F238E27FC236}">
                    <a16:creationId xmlns:a16="http://schemas.microsoft.com/office/drawing/2014/main" id="{AE585AA5-1F2F-B67D-3836-7C826EAFE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03635" y="3939910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2" name="Oval 1041">
                <a:extLst>
                  <a:ext uri="{FF2B5EF4-FFF2-40B4-BE49-F238E27FC236}">
                    <a16:creationId xmlns:a16="http://schemas.microsoft.com/office/drawing/2014/main" id="{654B74F3-4D6E-6375-9FEC-D25764C09097}"/>
                  </a:ext>
                </a:extLst>
              </p:cNvPr>
              <p:cNvSpPr/>
              <p:nvPr/>
            </p:nvSpPr>
            <p:spPr bwMode="gray">
              <a:xfrm>
                <a:off x="5580136" y="393991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2" name="Oval 1041">
                <a:extLst>
                  <a:ext uri="{FF2B5EF4-FFF2-40B4-BE49-F238E27FC236}">
                    <a16:creationId xmlns:a16="http://schemas.microsoft.com/office/drawing/2014/main" id="{654B74F3-4D6E-6375-9FEC-D25764C090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0136" y="3939910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3" name="Oval 1042">
                <a:extLst>
                  <a:ext uri="{FF2B5EF4-FFF2-40B4-BE49-F238E27FC236}">
                    <a16:creationId xmlns:a16="http://schemas.microsoft.com/office/drawing/2014/main" id="{7204CD99-B7BE-7FD5-9A78-F4B2800A8142}"/>
                  </a:ext>
                </a:extLst>
              </p:cNvPr>
              <p:cNvSpPr/>
              <p:nvPr/>
            </p:nvSpPr>
            <p:spPr bwMode="gray">
              <a:xfrm>
                <a:off x="5292136" y="4299966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3" name="Oval 1042">
                <a:extLst>
                  <a:ext uri="{FF2B5EF4-FFF2-40B4-BE49-F238E27FC236}">
                    <a16:creationId xmlns:a16="http://schemas.microsoft.com/office/drawing/2014/main" id="{7204CD99-B7BE-7FD5-9A78-F4B2800A81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92136" y="4299966"/>
                <a:ext cx="216000" cy="21600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23EAD48C-646F-08BF-13E9-E7842CA7881C}"/>
              </a:ext>
            </a:extLst>
          </p:cNvPr>
          <p:cNvCxnSpPr>
            <a:cxnSpLocks/>
            <a:stCxn id="1042" idx="4"/>
            <a:endCxn id="1043" idx="7"/>
          </p:cNvCxnSpPr>
          <p:nvPr/>
        </p:nvCxnSpPr>
        <p:spPr bwMode="gray">
          <a:xfrm flipH="1">
            <a:off x="5476504" y="4155910"/>
            <a:ext cx="211632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7CE4E5E8-933A-1C3F-CCE3-C22B8D80AF8D}"/>
              </a:ext>
            </a:extLst>
          </p:cNvPr>
          <p:cNvCxnSpPr>
            <a:cxnSpLocks/>
            <a:stCxn id="1041" idx="4"/>
            <a:endCxn id="1043" idx="1"/>
          </p:cNvCxnSpPr>
          <p:nvPr/>
        </p:nvCxnSpPr>
        <p:spPr bwMode="gray">
          <a:xfrm>
            <a:off x="5111635" y="4155910"/>
            <a:ext cx="212133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8880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5" grpId="0"/>
      <p:bldP spid="26" grpId="0"/>
      <p:bldP spid="27" grpId="0"/>
      <p:bldP spid="28" grpId="0"/>
      <p:bldP spid="41" grpId="0"/>
      <p:bldP spid="42" grpId="0"/>
      <p:bldP spid="63" grpId="0" animBg="1"/>
      <p:bldP spid="1024" grpId="0" animBg="1"/>
      <p:bldP spid="1025" grpId="0" animBg="1"/>
      <p:bldP spid="1032" grpId="0" animBg="1"/>
      <p:bldP spid="1033" grpId="0" animBg="1"/>
      <p:bldP spid="1034" grpId="0" animBg="1"/>
      <p:bldP spid="1041" grpId="0" animBg="1"/>
      <p:bldP spid="1042" grpId="0" animBg="1"/>
      <p:bldP spid="104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5" y="1239837"/>
                <a:ext cx="7541434" cy="2196009"/>
              </a:xfrm>
            </p:spPr>
            <p:txBody>
              <a:bodyPr/>
              <a:lstStyle/>
              <a:p>
                <a:r>
                  <a:rPr lang="en-US" b="1" dirty="0"/>
                  <a:t>Blocked Node</a:t>
                </a:r>
                <a:r>
                  <a:rPr lang="en-US" dirty="0"/>
                  <a:t>. </a:t>
                </a:r>
                <a:r>
                  <a:rPr lang="en-US" i="1" dirty="0"/>
                  <a:t>A node in a Bayesian network is said to be blocked if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i="1" dirty="0"/>
                  <a:t>It’s a head-to-tail or tail-to-tail node and the node is observed.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i="1" dirty="0"/>
                  <a:t>It’s a head-to-head node and neither the node nor any of its descendants are observed.</a:t>
                </a:r>
              </a:p>
              <a:p>
                <a:r>
                  <a:rPr lang="en-US" b="1" dirty="0"/>
                  <a:t>d-separation</a:t>
                </a:r>
                <a:r>
                  <a:rPr lang="en-US" dirty="0"/>
                  <a:t>. </a:t>
                </a:r>
                <a:r>
                  <a:rPr lang="en-US" i="1" dirty="0"/>
                  <a:t>Given a Bayesian network and a subset of observed variables, two non-observed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i="1" dirty="0"/>
                  <a:t> are </a:t>
                </a:r>
                <a:r>
                  <a:rPr lang="en-US" dirty="0"/>
                  <a:t>conditionally independent </a:t>
                </a:r>
                <a:r>
                  <a:rPr lang="en-US" i="1" dirty="0"/>
                  <a:t>(that is, d-separated) if every undirected path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i="1" dirty="0"/>
                  <a:t> contains at least one blocked node.</a:t>
                </a:r>
              </a:p>
              <a:p>
                <a:r>
                  <a:rPr lang="en-US" b="1" dirty="0"/>
                  <a:t>Examples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5" y="1239837"/>
                <a:ext cx="7541434" cy="2196009"/>
              </a:xfrm>
              <a:blipFill>
                <a:blip r:embed="rId2"/>
                <a:stretch>
                  <a:fillRect t="-575" b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BA71FA-AD23-95A1-9C21-AA1250DF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Independence: d-separation</a:t>
            </a:r>
          </a:p>
        </p:txBody>
      </p:sp>
      <p:pic>
        <p:nvPicPr>
          <p:cNvPr id="4" name="Picture 4" descr="Judea Pearl">
            <a:extLst>
              <a:ext uri="{FF2B5EF4-FFF2-40B4-BE49-F238E27FC236}">
                <a16:creationId xmlns:a16="http://schemas.microsoft.com/office/drawing/2014/main" id="{2228D9CC-590F-D524-A235-E1D7E4DBB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40553" y="1203598"/>
            <a:ext cx="635903" cy="90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3F8C19-FF19-B1A2-6676-B3FA06CAAA5D}"/>
              </a:ext>
            </a:extLst>
          </p:cNvPr>
          <p:cNvSpPr txBox="1"/>
          <p:nvPr/>
        </p:nvSpPr>
        <p:spPr bwMode="gray">
          <a:xfrm>
            <a:off x="7906617" y="2106852"/>
            <a:ext cx="910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Judea Pearl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(1936– )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FF295C1-5A00-C6EE-DD71-EA84BB796A3D}"/>
                  </a:ext>
                </a:extLst>
              </p:cNvPr>
              <p:cNvSpPr/>
              <p:nvPr/>
            </p:nvSpPr>
            <p:spPr bwMode="gray">
              <a:xfrm>
                <a:off x="2616452" y="336591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FF295C1-5A00-C6EE-DD71-EA84BB796A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16452" y="3365918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F7D8576-93E0-7F7F-FD94-D6C63EAFE9C4}"/>
                  </a:ext>
                </a:extLst>
              </p:cNvPr>
              <p:cNvSpPr/>
              <p:nvPr/>
            </p:nvSpPr>
            <p:spPr bwMode="gray">
              <a:xfrm>
                <a:off x="1954814" y="336591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F7D8576-93E0-7F7F-FD94-D6C63EAFE9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54814" y="3365918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A9770C9-F806-A314-E0B9-BBDD9D1E0F41}"/>
                  </a:ext>
                </a:extLst>
              </p:cNvPr>
              <p:cNvSpPr/>
              <p:nvPr/>
            </p:nvSpPr>
            <p:spPr bwMode="gray">
              <a:xfrm>
                <a:off x="2285633" y="4230014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A9770C9-F806-A314-E0B9-BBDD9D1E0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85633" y="4230014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5C877E8-9D10-3F47-E1EA-8F943F7CED97}"/>
                  </a:ext>
                </a:extLst>
              </p:cNvPr>
              <p:cNvSpPr/>
              <p:nvPr/>
            </p:nvSpPr>
            <p:spPr bwMode="gray">
              <a:xfrm>
                <a:off x="2285633" y="379796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5C877E8-9D10-3F47-E1EA-8F943F7CED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85633" y="3797966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076D729-E793-2253-BE15-8D4B3D19CD85}"/>
                  </a:ext>
                </a:extLst>
              </p:cNvPr>
              <p:cNvSpPr/>
              <p:nvPr/>
            </p:nvSpPr>
            <p:spPr bwMode="gray">
              <a:xfrm>
                <a:off x="2947271" y="379796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076D729-E793-2253-BE15-8D4B3D19CD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47271" y="3797966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5C4F85-772D-5BDF-0434-63458201D933}"/>
              </a:ext>
            </a:extLst>
          </p:cNvPr>
          <p:cNvCxnSpPr>
            <a:cxnSpLocks/>
            <a:stCxn id="8" idx="5"/>
            <a:endCxn id="6" idx="1"/>
          </p:cNvCxnSpPr>
          <p:nvPr/>
        </p:nvCxnSpPr>
        <p:spPr bwMode="gray">
          <a:xfrm>
            <a:off x="2139182" y="3550286"/>
            <a:ext cx="178083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704BAE-DDE4-4D85-E5D6-F63F3D5F1787}"/>
              </a:ext>
            </a:extLst>
          </p:cNvPr>
          <p:cNvCxnSpPr>
            <a:cxnSpLocks/>
            <a:stCxn id="7" idx="3"/>
            <a:endCxn id="6" idx="7"/>
          </p:cNvCxnSpPr>
          <p:nvPr/>
        </p:nvCxnSpPr>
        <p:spPr bwMode="gray">
          <a:xfrm flipH="1">
            <a:off x="2470001" y="3550286"/>
            <a:ext cx="178083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DFF825-7E01-85FF-3A39-E4D71D2B3B76}"/>
              </a:ext>
            </a:extLst>
          </p:cNvPr>
          <p:cNvCxnSpPr>
            <a:cxnSpLocks/>
            <a:stCxn id="7" idx="5"/>
            <a:endCxn id="10" idx="1"/>
          </p:cNvCxnSpPr>
          <p:nvPr/>
        </p:nvCxnSpPr>
        <p:spPr bwMode="gray">
          <a:xfrm>
            <a:off x="2800820" y="3550286"/>
            <a:ext cx="178083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F97AA9-6787-D2D2-F6C6-76C4A83C5248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 bwMode="gray">
          <a:xfrm>
            <a:off x="2393633" y="4013966"/>
            <a:ext cx="0" cy="216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7602C90-9C81-0AC7-B781-BBFD912C2EC1}"/>
                  </a:ext>
                </a:extLst>
              </p:cNvPr>
              <p:cNvSpPr/>
              <p:nvPr/>
            </p:nvSpPr>
            <p:spPr bwMode="gray">
              <a:xfrm>
                <a:off x="5614002" y="3365918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7602C90-9C81-0AC7-B781-BBFD912C2E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14002" y="3365918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3580860-1328-05ED-40E3-089F6A97A8E9}"/>
                  </a:ext>
                </a:extLst>
              </p:cNvPr>
              <p:cNvSpPr/>
              <p:nvPr/>
            </p:nvSpPr>
            <p:spPr bwMode="gray">
              <a:xfrm>
                <a:off x="4952364" y="336591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3580860-1328-05ED-40E3-089F6A97A8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52364" y="3365918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AB6D83B-6940-0ED5-CF2C-B33F1D8B7ECD}"/>
                  </a:ext>
                </a:extLst>
              </p:cNvPr>
              <p:cNvSpPr/>
              <p:nvPr/>
            </p:nvSpPr>
            <p:spPr bwMode="gray">
              <a:xfrm>
                <a:off x="5283183" y="423001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AB6D83B-6940-0ED5-CF2C-B33F1D8B7E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83183" y="4230014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631A274-9D06-B479-DD78-E28B72B32053}"/>
                  </a:ext>
                </a:extLst>
              </p:cNvPr>
              <p:cNvSpPr/>
              <p:nvPr/>
            </p:nvSpPr>
            <p:spPr bwMode="gray">
              <a:xfrm>
                <a:off x="5283183" y="379796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631A274-9D06-B479-DD78-E28B72B32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83183" y="3797966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306BFBB-3274-415F-52EA-80321365D5A0}"/>
                  </a:ext>
                </a:extLst>
              </p:cNvPr>
              <p:cNvSpPr/>
              <p:nvPr/>
            </p:nvSpPr>
            <p:spPr bwMode="gray">
              <a:xfrm>
                <a:off x="5944821" y="379796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306BFBB-3274-415F-52EA-80321365D5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44821" y="3797966"/>
                <a:ext cx="216000" cy="216000"/>
              </a:xfrm>
              <a:prstGeom prst="ellipse">
                <a:avLst/>
              </a:prstGeom>
              <a:blipFill>
                <a:blip r:embed="rId1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448E1A-199A-584C-2CFC-759F4ACC4F7A}"/>
              </a:ext>
            </a:extLst>
          </p:cNvPr>
          <p:cNvCxnSpPr>
            <a:cxnSpLocks/>
            <a:stCxn id="27" idx="5"/>
            <a:endCxn id="29" idx="1"/>
          </p:cNvCxnSpPr>
          <p:nvPr/>
        </p:nvCxnSpPr>
        <p:spPr bwMode="gray">
          <a:xfrm>
            <a:off x="5136732" y="3550286"/>
            <a:ext cx="178083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923A2C9-8D86-5AC2-8684-7D112184F20C}"/>
              </a:ext>
            </a:extLst>
          </p:cNvPr>
          <p:cNvCxnSpPr>
            <a:cxnSpLocks/>
            <a:stCxn id="26" idx="3"/>
            <a:endCxn id="29" idx="7"/>
          </p:cNvCxnSpPr>
          <p:nvPr/>
        </p:nvCxnSpPr>
        <p:spPr bwMode="gray">
          <a:xfrm flipH="1">
            <a:off x="5467551" y="3550286"/>
            <a:ext cx="178083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89DECC-12B4-ADD5-FFE4-CB53A0FCADB2}"/>
              </a:ext>
            </a:extLst>
          </p:cNvPr>
          <p:cNvCxnSpPr>
            <a:cxnSpLocks/>
            <a:stCxn id="26" idx="5"/>
            <a:endCxn id="30" idx="1"/>
          </p:cNvCxnSpPr>
          <p:nvPr/>
        </p:nvCxnSpPr>
        <p:spPr bwMode="gray">
          <a:xfrm>
            <a:off x="5798370" y="3550286"/>
            <a:ext cx="178083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A3FC10A-E3FD-7125-6AF0-277692062EC6}"/>
              </a:ext>
            </a:extLst>
          </p:cNvPr>
          <p:cNvCxnSpPr>
            <a:cxnSpLocks/>
            <a:stCxn id="29" idx="4"/>
            <a:endCxn id="28" idx="0"/>
          </p:cNvCxnSpPr>
          <p:nvPr/>
        </p:nvCxnSpPr>
        <p:spPr bwMode="gray">
          <a:xfrm>
            <a:off x="5391183" y="4013966"/>
            <a:ext cx="0" cy="216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BC21AC7-74C7-DA5D-6393-536563AD3465}"/>
              </a:ext>
            </a:extLst>
          </p:cNvPr>
          <p:cNvCxnSpPr>
            <a:endCxn id="8" idx="7"/>
          </p:cNvCxnSpPr>
          <p:nvPr/>
        </p:nvCxnSpPr>
        <p:spPr bwMode="gray">
          <a:xfrm flipH="1">
            <a:off x="2139182" y="3293910"/>
            <a:ext cx="146451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1221DD-CF6C-A003-C7A7-A90A4323672F}"/>
              </a:ext>
            </a:extLst>
          </p:cNvPr>
          <p:cNvCxnSpPr>
            <a:cxnSpLocks/>
            <a:endCxn id="10" idx="7"/>
          </p:cNvCxnSpPr>
          <p:nvPr/>
        </p:nvCxnSpPr>
        <p:spPr bwMode="gray">
          <a:xfrm flipH="1">
            <a:off x="3131639" y="3725958"/>
            <a:ext cx="146451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6F6D774-4065-6640-BBA1-6BBF8AEC2C57}"/>
              </a:ext>
            </a:extLst>
          </p:cNvPr>
          <p:cNvCxnSpPr>
            <a:cxnSpLocks/>
            <a:endCxn id="27" idx="7"/>
          </p:cNvCxnSpPr>
          <p:nvPr/>
        </p:nvCxnSpPr>
        <p:spPr bwMode="gray">
          <a:xfrm flipH="1">
            <a:off x="5136732" y="3291830"/>
            <a:ext cx="134887" cy="10572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34C7088-2103-A177-3B41-4C11C144F26D}"/>
              </a:ext>
            </a:extLst>
          </p:cNvPr>
          <p:cNvCxnSpPr>
            <a:cxnSpLocks/>
            <a:endCxn id="30" idx="7"/>
          </p:cNvCxnSpPr>
          <p:nvPr/>
        </p:nvCxnSpPr>
        <p:spPr bwMode="gray">
          <a:xfrm flipH="1">
            <a:off x="6129189" y="3725958"/>
            <a:ext cx="128602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4287046-D697-F217-56CB-38A3B6EF9935}"/>
                  </a:ext>
                </a:extLst>
              </p:cNvPr>
              <p:cNvSpPr txBox="1"/>
              <p:nvPr/>
            </p:nvSpPr>
            <p:spPr bwMode="gray">
              <a:xfrm>
                <a:off x="1345346" y="4590054"/>
                <a:ext cx="252450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are not independent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4287046-D697-F217-56CB-38A3B6EF9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45346" y="4590054"/>
                <a:ext cx="2524508" cy="216024"/>
              </a:xfrm>
              <a:prstGeom prst="rect">
                <a:avLst/>
              </a:prstGeom>
              <a:blipFill>
                <a:blip r:embed="rId14"/>
                <a:stretch>
                  <a:fillRect t="-5556" b="-2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B42E1BB-2EE5-1D35-2880-86351997B096}"/>
                  </a:ext>
                </a:extLst>
              </p:cNvPr>
              <p:cNvSpPr txBox="1"/>
              <p:nvPr/>
            </p:nvSpPr>
            <p:spPr bwMode="gray">
              <a:xfrm>
                <a:off x="4351748" y="4554050"/>
                <a:ext cx="252450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are independent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B42E1BB-2EE5-1D35-2880-86351997B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51748" y="4554050"/>
                <a:ext cx="2524508" cy="216024"/>
              </a:xfrm>
              <a:prstGeom prst="rect">
                <a:avLst/>
              </a:prstGeom>
              <a:blipFill>
                <a:blip r:embed="rId15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6558D5C-C77A-ABC4-02EF-4903C57020ED}"/>
                  </a:ext>
                </a:extLst>
              </p:cNvPr>
              <p:cNvSpPr/>
              <p:nvPr/>
            </p:nvSpPr>
            <p:spPr bwMode="gray">
              <a:xfrm>
                <a:off x="2609633" y="423001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6558D5C-C77A-ABC4-02EF-4903C57020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09633" y="4230014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FDB7AF-9A4C-9171-16BC-53F567DA5BEA}"/>
              </a:ext>
            </a:extLst>
          </p:cNvPr>
          <p:cNvCxnSpPr>
            <a:cxnSpLocks/>
            <a:stCxn id="6" idx="5"/>
            <a:endCxn id="11" idx="1"/>
          </p:cNvCxnSpPr>
          <p:nvPr/>
        </p:nvCxnSpPr>
        <p:spPr bwMode="gray">
          <a:xfrm>
            <a:off x="2470001" y="3982334"/>
            <a:ext cx="171264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E6E235-59B3-7C15-51E9-5DB562A706F5}"/>
              </a:ext>
            </a:extLst>
          </p:cNvPr>
          <p:cNvCxnSpPr>
            <a:cxnSpLocks/>
            <a:stCxn id="10" idx="3"/>
            <a:endCxn id="11" idx="7"/>
          </p:cNvCxnSpPr>
          <p:nvPr/>
        </p:nvCxnSpPr>
        <p:spPr bwMode="gray">
          <a:xfrm flipH="1">
            <a:off x="2794001" y="3982334"/>
            <a:ext cx="184902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6156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 animBg="1"/>
      <p:bldP spid="6" grpId="0" animBg="1"/>
      <p:bldP spid="10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45" grpId="0"/>
      <p:bldP spid="46" grpId="0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55536F-C2E6-CA7D-6D41-71E9A80A36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3564161"/>
          </a:xfrm>
        </p:spPr>
        <p:txBody>
          <a:bodyPr/>
          <a:lstStyle/>
          <a:p>
            <a:r>
              <a:rPr lang="en-US" b="1" dirty="0"/>
              <a:t>Skill Example (</a:t>
            </a:r>
            <a:r>
              <a:rPr lang="en-US" b="1" dirty="0" err="1"/>
              <a:t>ctd</a:t>
            </a:r>
            <a:r>
              <a:rPr lang="en-US" b="1" dirty="0"/>
              <a:t>)</a:t>
            </a:r>
            <a:r>
              <a:rPr lang="en-US" dirty="0"/>
              <a:t>: Consider the skills of two players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sz="1200" dirty="0"/>
              <a:t>Intuitive because </a:t>
            </a:r>
          </a:p>
          <a:p>
            <a:pPr lvl="2"/>
            <a:r>
              <a:rPr lang="en-US" sz="1200" dirty="0"/>
              <a:t>Before the match there is no information that “links” the skill of two players</a:t>
            </a:r>
          </a:p>
          <a:p>
            <a:pPr lvl="2"/>
            <a:r>
              <a:rPr lang="en-US" sz="1200" dirty="0"/>
              <a:t>After the match, if the skill of the winning player goes down (e.g., due to a loss in </a:t>
            </a:r>
            <a:r>
              <a:rPr lang="en-US" sz="1200"/>
              <a:t>a subsequent match) </a:t>
            </a:r>
            <a:r>
              <a:rPr lang="en-US" sz="1200" dirty="0"/>
              <a:t>then the skill of the opponent also needs to go down (or otherwise the observed match outcome would not have been possible)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BA71FA-AD23-95A1-9C21-AA1250DF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Independence: Skill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74435D-05DF-6171-5F26-CCCC7E79B514}"/>
                  </a:ext>
                </a:extLst>
              </p:cNvPr>
              <p:cNvSpPr txBox="1"/>
              <p:nvPr/>
            </p:nvSpPr>
            <p:spPr bwMode="gray">
              <a:xfrm>
                <a:off x="665819" y="3122730"/>
                <a:ext cx="252450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are independent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74435D-05DF-6171-5F26-CCCC7E79B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5819" y="3122730"/>
                <a:ext cx="2524508" cy="216024"/>
              </a:xfrm>
              <a:prstGeom prst="rect">
                <a:avLst/>
              </a:prstGeom>
              <a:blipFill>
                <a:blip r:embed="rId2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A98638-D243-943C-A5A5-704EFB726867}"/>
                  </a:ext>
                </a:extLst>
              </p:cNvPr>
              <p:cNvSpPr txBox="1"/>
              <p:nvPr/>
            </p:nvSpPr>
            <p:spPr bwMode="gray">
              <a:xfrm>
                <a:off x="4024235" y="3118390"/>
                <a:ext cx="2751801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and</m:t>
                      </m:r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are</m:t>
                      </m:r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00" b="1" i="0" dirty="0" smtClean="0">
                          <a:solidFill>
                            <a:srgbClr val="C00000"/>
                          </a:solidFill>
                        </a:rPr>
                        <m:t>not</m:t>
                      </m:r>
                      <m:r>
                        <m:rPr>
                          <m:nor/>
                        </m:rPr>
                        <a:rPr lang="en-US" sz="1000" b="0" i="0" dirty="0" smtClean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independent</m:t>
                      </m:r>
                    </m:oMath>
                  </m:oMathPara>
                </a14:m>
                <a:endParaRPr lang="x-non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A98638-D243-943C-A5A5-704EFB726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24235" y="3118390"/>
                <a:ext cx="2751801" cy="216024"/>
              </a:xfrm>
              <a:prstGeom prst="rect">
                <a:avLst/>
              </a:prstGeom>
              <a:blipFill>
                <a:blip r:embed="rId3"/>
                <a:stretch>
                  <a:fillRect t="-22222" b="-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0" name="Oval 1029">
                <a:extLst>
                  <a:ext uri="{FF2B5EF4-FFF2-40B4-BE49-F238E27FC236}">
                    <a16:creationId xmlns:a16="http://schemas.microsoft.com/office/drawing/2014/main" id="{FA8234D9-04D5-67DC-CD32-BED8C7A23138}"/>
                  </a:ext>
                </a:extLst>
              </p:cNvPr>
              <p:cNvSpPr/>
              <p:nvPr/>
            </p:nvSpPr>
            <p:spPr bwMode="gray">
              <a:xfrm>
                <a:off x="1531572" y="211461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0" name="Oval 1029">
                <a:extLst>
                  <a:ext uri="{FF2B5EF4-FFF2-40B4-BE49-F238E27FC236}">
                    <a16:creationId xmlns:a16="http://schemas.microsoft.com/office/drawing/2014/main" id="{FA8234D9-04D5-67DC-CD32-BED8C7A231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31572" y="2114610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1" name="Oval 1030">
                <a:extLst>
                  <a:ext uri="{FF2B5EF4-FFF2-40B4-BE49-F238E27FC236}">
                    <a16:creationId xmlns:a16="http://schemas.microsoft.com/office/drawing/2014/main" id="{664440AD-924D-5500-8C8B-9E179B9771A6}"/>
                  </a:ext>
                </a:extLst>
              </p:cNvPr>
              <p:cNvSpPr/>
              <p:nvPr/>
            </p:nvSpPr>
            <p:spPr bwMode="gray">
              <a:xfrm>
                <a:off x="2108073" y="211461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1" name="Oval 1030">
                <a:extLst>
                  <a:ext uri="{FF2B5EF4-FFF2-40B4-BE49-F238E27FC236}">
                    <a16:creationId xmlns:a16="http://schemas.microsoft.com/office/drawing/2014/main" id="{664440AD-924D-5500-8C8B-9E179B9771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08073" y="2114610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2" name="Oval 1031">
                <a:extLst>
                  <a:ext uri="{FF2B5EF4-FFF2-40B4-BE49-F238E27FC236}">
                    <a16:creationId xmlns:a16="http://schemas.microsoft.com/office/drawing/2014/main" id="{62909F31-C68D-315A-E5A3-AD271B83A85D}"/>
                  </a:ext>
                </a:extLst>
              </p:cNvPr>
              <p:cNvSpPr/>
              <p:nvPr/>
            </p:nvSpPr>
            <p:spPr bwMode="gray">
              <a:xfrm>
                <a:off x="1531572" y="247465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2" name="Oval 1031">
                <a:extLst>
                  <a:ext uri="{FF2B5EF4-FFF2-40B4-BE49-F238E27FC236}">
                    <a16:creationId xmlns:a16="http://schemas.microsoft.com/office/drawing/2014/main" id="{62909F31-C68D-315A-E5A3-AD271B83A8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31572" y="2474658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3" name="Oval 1032">
                <a:extLst>
                  <a:ext uri="{FF2B5EF4-FFF2-40B4-BE49-F238E27FC236}">
                    <a16:creationId xmlns:a16="http://schemas.microsoft.com/office/drawing/2014/main" id="{1C139E3E-9E22-0D20-593E-426F39D4AE32}"/>
                  </a:ext>
                </a:extLst>
              </p:cNvPr>
              <p:cNvSpPr/>
              <p:nvPr/>
            </p:nvSpPr>
            <p:spPr bwMode="gray">
              <a:xfrm>
                <a:off x="2108073" y="247465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3" name="Oval 1032">
                <a:extLst>
                  <a:ext uri="{FF2B5EF4-FFF2-40B4-BE49-F238E27FC236}">
                    <a16:creationId xmlns:a16="http://schemas.microsoft.com/office/drawing/2014/main" id="{1C139E3E-9E22-0D20-593E-426F39D4AE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08073" y="2474658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" name="Oval 1033">
                <a:extLst>
                  <a:ext uri="{FF2B5EF4-FFF2-40B4-BE49-F238E27FC236}">
                    <a16:creationId xmlns:a16="http://schemas.microsoft.com/office/drawing/2014/main" id="{CCC3D2F8-4FDC-4958-3B25-5C01EC241767}"/>
                  </a:ext>
                </a:extLst>
              </p:cNvPr>
              <p:cNvSpPr/>
              <p:nvPr/>
            </p:nvSpPr>
            <p:spPr bwMode="gray">
              <a:xfrm>
                <a:off x="1820073" y="2834714"/>
                <a:ext cx="216000" cy="216000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4" name="Oval 1033">
                <a:extLst>
                  <a:ext uri="{FF2B5EF4-FFF2-40B4-BE49-F238E27FC236}">
                    <a16:creationId xmlns:a16="http://schemas.microsoft.com/office/drawing/2014/main" id="{CCC3D2F8-4FDC-4958-3B25-5C01EC241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20073" y="2834714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6AF4CFF1-A2E0-A604-5FEE-74A904CB4611}"/>
              </a:ext>
            </a:extLst>
          </p:cNvPr>
          <p:cNvCxnSpPr>
            <a:stCxn id="1030" idx="4"/>
            <a:endCxn id="1032" idx="0"/>
          </p:cNvCxnSpPr>
          <p:nvPr/>
        </p:nvCxnSpPr>
        <p:spPr bwMode="gray">
          <a:xfrm>
            <a:off x="1639572" y="2330610"/>
            <a:ext cx="0" cy="144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715F4054-86ED-EAE9-021E-88C2FFD7A64F}"/>
              </a:ext>
            </a:extLst>
          </p:cNvPr>
          <p:cNvCxnSpPr>
            <a:cxnSpLocks/>
            <a:stCxn id="1031" idx="4"/>
            <a:endCxn id="1033" idx="0"/>
          </p:cNvCxnSpPr>
          <p:nvPr/>
        </p:nvCxnSpPr>
        <p:spPr bwMode="gray">
          <a:xfrm>
            <a:off x="2216073" y="2330610"/>
            <a:ext cx="0" cy="144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4FF51778-A571-8032-46A4-082368C4D440}"/>
              </a:ext>
            </a:extLst>
          </p:cNvPr>
          <p:cNvCxnSpPr>
            <a:cxnSpLocks/>
            <a:stCxn id="1033" idx="4"/>
            <a:endCxn id="1034" idx="7"/>
          </p:cNvCxnSpPr>
          <p:nvPr/>
        </p:nvCxnSpPr>
        <p:spPr bwMode="gray">
          <a:xfrm flipH="1">
            <a:off x="2004441" y="2690658"/>
            <a:ext cx="211632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BAC1F905-B9D2-F3D5-6938-AE07C60BB123}"/>
              </a:ext>
            </a:extLst>
          </p:cNvPr>
          <p:cNvCxnSpPr>
            <a:cxnSpLocks/>
            <a:stCxn id="1032" idx="4"/>
            <a:endCxn id="1034" idx="1"/>
          </p:cNvCxnSpPr>
          <p:nvPr/>
        </p:nvCxnSpPr>
        <p:spPr bwMode="gray">
          <a:xfrm>
            <a:off x="1639572" y="2690658"/>
            <a:ext cx="212133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9" name="Oval 1038">
                <a:extLst>
                  <a:ext uri="{FF2B5EF4-FFF2-40B4-BE49-F238E27FC236}">
                    <a16:creationId xmlns:a16="http://schemas.microsoft.com/office/drawing/2014/main" id="{8CC72C2B-AC49-9AEC-C648-380FFD96EC39}"/>
                  </a:ext>
                </a:extLst>
              </p:cNvPr>
              <p:cNvSpPr/>
              <p:nvPr/>
            </p:nvSpPr>
            <p:spPr bwMode="gray">
              <a:xfrm>
                <a:off x="5003635" y="211461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9" name="Oval 1038">
                <a:extLst>
                  <a:ext uri="{FF2B5EF4-FFF2-40B4-BE49-F238E27FC236}">
                    <a16:creationId xmlns:a16="http://schemas.microsoft.com/office/drawing/2014/main" id="{8CC72C2B-AC49-9AEC-C648-380FFD96EC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03635" y="2114618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0" name="Oval 1039">
                <a:extLst>
                  <a:ext uri="{FF2B5EF4-FFF2-40B4-BE49-F238E27FC236}">
                    <a16:creationId xmlns:a16="http://schemas.microsoft.com/office/drawing/2014/main" id="{F04E2F2E-560B-0642-C368-1A610F911FCB}"/>
                  </a:ext>
                </a:extLst>
              </p:cNvPr>
              <p:cNvSpPr/>
              <p:nvPr/>
            </p:nvSpPr>
            <p:spPr bwMode="gray">
              <a:xfrm>
                <a:off x="5580136" y="211461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0" name="Oval 1039">
                <a:extLst>
                  <a:ext uri="{FF2B5EF4-FFF2-40B4-BE49-F238E27FC236}">
                    <a16:creationId xmlns:a16="http://schemas.microsoft.com/office/drawing/2014/main" id="{F04E2F2E-560B-0642-C368-1A610F911F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0136" y="2114618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1" name="Oval 1040">
                <a:extLst>
                  <a:ext uri="{FF2B5EF4-FFF2-40B4-BE49-F238E27FC236}">
                    <a16:creationId xmlns:a16="http://schemas.microsoft.com/office/drawing/2014/main" id="{AE585AA5-1F2F-B67D-3836-7C826EAFECA1}"/>
                  </a:ext>
                </a:extLst>
              </p:cNvPr>
              <p:cNvSpPr/>
              <p:nvPr/>
            </p:nvSpPr>
            <p:spPr bwMode="gray">
              <a:xfrm>
                <a:off x="5003635" y="247466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1" name="Oval 1040">
                <a:extLst>
                  <a:ext uri="{FF2B5EF4-FFF2-40B4-BE49-F238E27FC236}">
                    <a16:creationId xmlns:a16="http://schemas.microsoft.com/office/drawing/2014/main" id="{AE585AA5-1F2F-B67D-3836-7C826EAFE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03635" y="2474666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2" name="Oval 1041">
                <a:extLst>
                  <a:ext uri="{FF2B5EF4-FFF2-40B4-BE49-F238E27FC236}">
                    <a16:creationId xmlns:a16="http://schemas.microsoft.com/office/drawing/2014/main" id="{654B74F3-4D6E-6375-9FEC-D25764C09097}"/>
                  </a:ext>
                </a:extLst>
              </p:cNvPr>
              <p:cNvSpPr/>
              <p:nvPr/>
            </p:nvSpPr>
            <p:spPr bwMode="gray">
              <a:xfrm>
                <a:off x="5580136" y="247466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2" name="Oval 1041">
                <a:extLst>
                  <a:ext uri="{FF2B5EF4-FFF2-40B4-BE49-F238E27FC236}">
                    <a16:creationId xmlns:a16="http://schemas.microsoft.com/office/drawing/2014/main" id="{654B74F3-4D6E-6375-9FEC-D25764C090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0136" y="2474666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3" name="Oval 1042">
                <a:extLst>
                  <a:ext uri="{FF2B5EF4-FFF2-40B4-BE49-F238E27FC236}">
                    <a16:creationId xmlns:a16="http://schemas.microsoft.com/office/drawing/2014/main" id="{7204CD99-B7BE-7FD5-9A78-F4B2800A8142}"/>
                  </a:ext>
                </a:extLst>
              </p:cNvPr>
              <p:cNvSpPr/>
              <p:nvPr/>
            </p:nvSpPr>
            <p:spPr bwMode="gray">
              <a:xfrm>
                <a:off x="5292136" y="2834722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3" name="Oval 1042">
                <a:extLst>
                  <a:ext uri="{FF2B5EF4-FFF2-40B4-BE49-F238E27FC236}">
                    <a16:creationId xmlns:a16="http://schemas.microsoft.com/office/drawing/2014/main" id="{7204CD99-B7BE-7FD5-9A78-F4B2800A81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92136" y="2834722"/>
                <a:ext cx="216000" cy="2160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EA19EA13-65A2-4094-7AB5-6BA290C09576}"/>
              </a:ext>
            </a:extLst>
          </p:cNvPr>
          <p:cNvCxnSpPr>
            <a:stCxn id="1039" idx="4"/>
            <a:endCxn id="1041" idx="0"/>
          </p:cNvCxnSpPr>
          <p:nvPr/>
        </p:nvCxnSpPr>
        <p:spPr bwMode="gray">
          <a:xfrm>
            <a:off x="5111635" y="2330618"/>
            <a:ext cx="0" cy="144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Arrow Connector 1044">
            <a:extLst>
              <a:ext uri="{FF2B5EF4-FFF2-40B4-BE49-F238E27FC236}">
                <a16:creationId xmlns:a16="http://schemas.microsoft.com/office/drawing/2014/main" id="{1355A7DF-3AFC-DA1A-C88C-ECBB4BEF99C2}"/>
              </a:ext>
            </a:extLst>
          </p:cNvPr>
          <p:cNvCxnSpPr>
            <a:cxnSpLocks/>
            <a:stCxn id="1040" idx="4"/>
            <a:endCxn id="1042" idx="0"/>
          </p:cNvCxnSpPr>
          <p:nvPr/>
        </p:nvCxnSpPr>
        <p:spPr bwMode="gray">
          <a:xfrm>
            <a:off x="5688136" y="2330618"/>
            <a:ext cx="0" cy="144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23EAD48C-646F-08BF-13E9-E7842CA7881C}"/>
              </a:ext>
            </a:extLst>
          </p:cNvPr>
          <p:cNvCxnSpPr>
            <a:cxnSpLocks/>
            <a:stCxn id="1042" idx="4"/>
            <a:endCxn id="1043" idx="7"/>
          </p:cNvCxnSpPr>
          <p:nvPr/>
        </p:nvCxnSpPr>
        <p:spPr bwMode="gray">
          <a:xfrm flipH="1">
            <a:off x="5476504" y="2690666"/>
            <a:ext cx="211632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7CE4E5E8-933A-1C3F-CCE3-C22B8D80AF8D}"/>
              </a:ext>
            </a:extLst>
          </p:cNvPr>
          <p:cNvCxnSpPr>
            <a:cxnSpLocks/>
            <a:stCxn id="1041" idx="4"/>
            <a:endCxn id="1043" idx="1"/>
          </p:cNvCxnSpPr>
          <p:nvPr/>
        </p:nvCxnSpPr>
        <p:spPr bwMode="gray">
          <a:xfrm>
            <a:off x="5111635" y="2690666"/>
            <a:ext cx="212133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9BA0EAF-0E7B-427E-1F6E-2CFC54D0A0E1}"/>
              </a:ext>
            </a:extLst>
          </p:cNvPr>
          <p:cNvCxnSpPr/>
          <p:nvPr/>
        </p:nvCxnSpPr>
        <p:spPr bwMode="gray">
          <a:xfrm flipH="1">
            <a:off x="1686127" y="2008922"/>
            <a:ext cx="146451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B2C46FA-759D-1A24-CF04-82FF44BA90C8}"/>
              </a:ext>
            </a:extLst>
          </p:cNvPr>
          <p:cNvCxnSpPr>
            <a:cxnSpLocks/>
          </p:cNvCxnSpPr>
          <p:nvPr/>
        </p:nvCxnSpPr>
        <p:spPr bwMode="gray">
          <a:xfrm flipH="1">
            <a:off x="2294670" y="2026778"/>
            <a:ext cx="146451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B16A83-29D0-FC0F-CA2D-E4919978EB69}"/>
              </a:ext>
            </a:extLst>
          </p:cNvPr>
          <p:cNvCxnSpPr/>
          <p:nvPr/>
        </p:nvCxnSpPr>
        <p:spPr bwMode="gray">
          <a:xfrm flipH="1">
            <a:off x="5114367" y="1995686"/>
            <a:ext cx="146451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5BF5E0-71CF-A936-227E-03E7CAC17206}"/>
              </a:ext>
            </a:extLst>
          </p:cNvPr>
          <p:cNvCxnSpPr>
            <a:cxnSpLocks/>
          </p:cNvCxnSpPr>
          <p:nvPr/>
        </p:nvCxnSpPr>
        <p:spPr bwMode="gray">
          <a:xfrm flipH="1">
            <a:off x="5722910" y="2013542"/>
            <a:ext cx="146451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D8D53F4-59FB-0A98-B0FD-3CE6CBF56D27}"/>
              </a:ext>
            </a:extLst>
          </p:cNvPr>
          <p:cNvSpPr txBox="1"/>
          <p:nvPr/>
        </p:nvSpPr>
        <p:spPr bwMode="gray">
          <a:xfrm>
            <a:off x="742187" y="1677196"/>
            <a:ext cx="252450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b="1" dirty="0">
                <a:solidFill>
                  <a:srgbClr val="C00000"/>
                </a:solidFill>
              </a:rPr>
              <a:t>Before match</a:t>
            </a:r>
            <a:endParaRPr lang="x-none" sz="1000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CA48D4-8CF0-CCE7-9EE4-D113B40DA3FD}"/>
              </a:ext>
            </a:extLst>
          </p:cNvPr>
          <p:cNvSpPr txBox="1"/>
          <p:nvPr/>
        </p:nvSpPr>
        <p:spPr bwMode="gray">
          <a:xfrm>
            <a:off x="4024235" y="1671500"/>
            <a:ext cx="275180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b="1" dirty="0">
                <a:solidFill>
                  <a:srgbClr val="C00000"/>
                </a:solidFill>
              </a:rPr>
              <a:t>After match</a:t>
            </a:r>
            <a:endParaRPr lang="x-none" sz="1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3307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1030" grpId="0" animBg="1"/>
      <p:bldP spid="1031" grpId="0" animBg="1"/>
      <p:bldP spid="1032" grpId="0" animBg="1"/>
      <p:bldP spid="1033" grpId="0" animBg="1"/>
      <p:bldP spid="1034" grpId="0" animBg="1"/>
      <p:bldP spid="1039" grpId="0" animBg="1"/>
      <p:bldP spid="1040" grpId="0" animBg="1"/>
      <p:bldP spid="1041" grpId="0" animBg="1"/>
      <p:bldP spid="1042" grpId="0" animBg="1"/>
      <p:bldP spid="1043" grpId="0" animBg="1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E5F28-18D3-4F99-BC32-CCC97304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76204F-9121-E197-4CC2-AD28EADC4D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4" y="1239838"/>
            <a:ext cx="7309569" cy="356393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Graphical Models</a:t>
            </a:r>
          </a:p>
          <a:p>
            <a:r>
              <a:rPr lang="en-GB" dirty="0"/>
              <a:t>Directed Graphical Models: Bayesian Networks</a:t>
            </a:r>
          </a:p>
          <a:p>
            <a:r>
              <a:rPr lang="en-GB" b="1" dirty="0"/>
              <a:t>Undirected Graphical Models: Markov Random Fields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D85094-B0CA-1274-367A-25659D9FF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58485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35375BBA-7F89-AE7C-4E64-C1C628D1D64B}"/>
              </a:ext>
            </a:extLst>
          </p:cNvPr>
          <p:cNvSpPr/>
          <p:nvPr/>
        </p:nvSpPr>
        <p:spPr bwMode="gray">
          <a:xfrm>
            <a:off x="7020272" y="2931790"/>
            <a:ext cx="2016224" cy="1656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97CDBA9-4F7D-5C68-0F1F-D588D305648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07088" cy="3563938"/>
              </a:xfrm>
            </p:spPr>
            <p:txBody>
              <a:bodyPr/>
              <a:lstStyle/>
              <a:p>
                <a:r>
                  <a:rPr lang="en-US" b="1" dirty="0"/>
                  <a:t>Observation</a:t>
                </a:r>
                <a:r>
                  <a:rPr lang="en-US" dirty="0"/>
                  <a:t>: Bayesian networks are visual representations of conditional distributions, but conditional independence requires checking a graph property (d-separation) that is </a:t>
                </a:r>
              </a:p>
              <a:p>
                <a:pPr lvl="1"/>
                <a:r>
                  <a:rPr lang="en-US" sz="1200" dirty="0"/>
                  <a:t>based on removing the direction of the arrows </a:t>
                </a:r>
              </a:p>
              <a:p>
                <a:pPr lvl="1"/>
                <a:r>
                  <a:rPr lang="en-US" sz="1200" dirty="0"/>
                  <a:t>not entirely local</a:t>
                </a:r>
              </a:p>
              <a:p>
                <a:r>
                  <a:rPr lang="en-US" b="1" dirty="0"/>
                  <a:t>Idea</a:t>
                </a:r>
                <a:r>
                  <a:rPr lang="en-US" dirty="0"/>
                  <a:t>: Remove the direction of arrows in a graphical model and define conditional independence by pure connectivity!</a:t>
                </a:r>
              </a:p>
              <a:p>
                <a:r>
                  <a:rPr lang="en-US" b="1" dirty="0"/>
                  <a:t>Conditional Independence </a:t>
                </a:r>
                <a:r>
                  <a:rPr lang="en-US" dirty="0"/>
                  <a:t>. </a:t>
                </a:r>
                <a:r>
                  <a:rPr lang="en-US" i="1" dirty="0"/>
                  <a:t>Given an undirected graphical model and a subset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i="1" dirty="0"/>
                  <a:t> of observed variables, two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i="1" dirty="0"/>
                  <a:t> are </a:t>
                </a:r>
                <a:r>
                  <a:rPr lang="en-US" dirty="0"/>
                  <a:t>conditionally independent </a:t>
                </a:r>
                <a:r>
                  <a:rPr lang="en-US" i="1" dirty="0"/>
                  <a:t>if there is no path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i="1" dirty="0"/>
                  <a:t> when removing all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1"/>
                <a:r>
                  <a:rPr lang="en-US" sz="1200" dirty="0"/>
                  <a:t>This property is also called the </a:t>
                </a:r>
                <a:r>
                  <a:rPr lang="en-US" sz="1200" i="1" dirty="0"/>
                  <a:t>Markov property</a:t>
                </a:r>
                <a:r>
                  <a:rPr lang="en-US" sz="1200" dirty="0"/>
                  <a:t> of the graph of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</a:t>
                </a:r>
              </a:p>
              <a:p>
                <a:pPr lvl="1"/>
                <a:r>
                  <a:rPr lang="en-US" sz="1200" b="1" dirty="0"/>
                  <a:t>Pro</a:t>
                </a:r>
                <a:r>
                  <a:rPr lang="en-US" sz="1200" dirty="0"/>
                  <a:t>: Very easy to verify conditional independence of variable sets</a:t>
                </a:r>
              </a:p>
              <a:p>
                <a:pPr lvl="1"/>
                <a:r>
                  <a:rPr lang="en-US" sz="1200" b="1" dirty="0"/>
                  <a:t>Con</a:t>
                </a:r>
                <a:r>
                  <a:rPr lang="en-US" sz="1200" dirty="0"/>
                  <a:t>: Given this conditional independence definition, what is the functional form of the joint probability that satisfies this condition?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97CDBA9-4F7D-5C68-0F1F-D588D30564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07088" cy="3563938"/>
              </a:xfrm>
              <a:blipFill>
                <a:blip r:embed="rId2"/>
                <a:stretch>
                  <a:fillRect t="-355" r="-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D404BAE-CE54-6724-C3C1-C3ED0638A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 Revisited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F3E2F7-443F-7A6C-27EC-3FD9CE9D4DA7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 bwMode="gray">
          <a:xfrm>
            <a:off x="7564704" y="1321696"/>
            <a:ext cx="396664" cy="25765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45AA1C-E382-74F5-B172-50570DEE8E7A}"/>
              </a:ext>
            </a:extLst>
          </p:cNvPr>
          <p:cNvCxnSpPr>
            <a:cxnSpLocks/>
            <a:stCxn id="4" idx="3"/>
            <a:endCxn id="7" idx="7"/>
          </p:cNvCxnSpPr>
          <p:nvPr/>
        </p:nvCxnSpPr>
        <p:spPr bwMode="gray">
          <a:xfrm flipH="1">
            <a:off x="8114104" y="1321696"/>
            <a:ext cx="521976" cy="25765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E8BDF1-36E8-7DB0-94B8-0F3DF8E0F867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 bwMode="gray">
          <a:xfrm>
            <a:off x="8712448" y="1353328"/>
            <a:ext cx="0" cy="3384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22BD93-DFC3-6AA5-40B8-335A16488740}"/>
              </a:ext>
            </a:extLst>
          </p:cNvPr>
          <p:cNvCxnSpPr>
            <a:cxnSpLocks/>
            <a:stCxn id="7" idx="3"/>
            <a:endCxn id="6" idx="7"/>
          </p:cNvCxnSpPr>
          <p:nvPr/>
        </p:nvCxnSpPr>
        <p:spPr bwMode="gray">
          <a:xfrm flipH="1">
            <a:off x="7564704" y="1732091"/>
            <a:ext cx="396664" cy="23598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CC428E1-6B5E-11E8-2AD1-01FB05DD3BBF}"/>
                  </a:ext>
                </a:extLst>
              </p:cNvPr>
              <p:cNvSpPr/>
              <p:nvPr/>
            </p:nvSpPr>
            <p:spPr bwMode="gray">
              <a:xfrm>
                <a:off x="7380336" y="113732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CC428E1-6B5E-11E8-2AD1-01FB05DD3B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80336" y="1137328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17C4B0F-5265-FBDD-2D91-65CBD9FBCE27}"/>
                  </a:ext>
                </a:extLst>
              </p:cNvPr>
              <p:cNvSpPr/>
              <p:nvPr/>
            </p:nvSpPr>
            <p:spPr bwMode="gray">
              <a:xfrm>
                <a:off x="8604448" y="113732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17C4B0F-5265-FBDD-2D91-65CBD9FBCE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04448" y="1137328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0FB4C36-05C4-264F-273A-7DA2BF1D8C1A}"/>
                  </a:ext>
                </a:extLst>
              </p:cNvPr>
              <p:cNvSpPr/>
              <p:nvPr/>
            </p:nvSpPr>
            <p:spPr bwMode="gray">
              <a:xfrm>
                <a:off x="7380336" y="1936442"/>
                <a:ext cx="216000" cy="216000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0FB4C36-05C4-264F-273A-7DA2BF1D8C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80336" y="1936442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05701C0-E403-C350-78A8-BB5F14C954DA}"/>
                  </a:ext>
                </a:extLst>
              </p:cNvPr>
              <p:cNvSpPr/>
              <p:nvPr/>
            </p:nvSpPr>
            <p:spPr bwMode="gray">
              <a:xfrm>
                <a:off x="8604448" y="222449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05701C0-E403-C350-78A8-BB5F14C954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04448" y="2224498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C10390-CD43-F9E3-EAAA-CCCC8A8582F4}"/>
              </a:ext>
            </a:extLst>
          </p:cNvPr>
          <p:cNvCxnSpPr>
            <a:cxnSpLocks/>
            <a:stCxn id="8" idx="4"/>
            <a:endCxn id="15" idx="0"/>
          </p:cNvCxnSpPr>
          <p:nvPr/>
        </p:nvCxnSpPr>
        <p:spPr bwMode="gray">
          <a:xfrm>
            <a:off x="8712448" y="1907763"/>
            <a:ext cx="0" cy="3167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3F56AC-1918-30AE-6F1E-84CBF666910E}"/>
                  </a:ext>
                </a:extLst>
              </p:cNvPr>
              <p:cNvSpPr/>
              <p:nvPr/>
            </p:nvSpPr>
            <p:spPr bwMode="gray">
              <a:xfrm>
                <a:off x="8604448" y="1691763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13F56AC-1918-30AE-6F1E-84CBF66691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04448" y="1691763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84F3108-694A-E8C1-2C72-AC4D9F1D62DC}"/>
                  </a:ext>
                </a:extLst>
              </p:cNvPr>
              <p:cNvSpPr/>
              <p:nvPr/>
            </p:nvSpPr>
            <p:spPr bwMode="gray">
              <a:xfrm>
                <a:off x="7929736" y="1547723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84F3108-694A-E8C1-2C72-AC4D9F1D62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29736" y="1547723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D82F648-75FF-C63E-1AB1-B7859D4F5604}"/>
                  </a:ext>
                </a:extLst>
              </p:cNvPr>
              <p:cNvSpPr/>
              <p:nvPr/>
            </p:nvSpPr>
            <p:spPr bwMode="gray">
              <a:xfrm>
                <a:off x="7934072" y="2296506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D82F648-75FF-C63E-1AB1-B7859D4F56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34072" y="2296506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E51FF2-D925-D8FA-8C9C-54C5558DA231}"/>
              </a:ext>
            </a:extLst>
          </p:cNvPr>
          <p:cNvCxnSpPr>
            <a:cxnSpLocks/>
            <a:stCxn id="6" idx="5"/>
            <a:endCxn id="21" idx="1"/>
          </p:cNvCxnSpPr>
          <p:nvPr/>
        </p:nvCxnSpPr>
        <p:spPr bwMode="gray">
          <a:xfrm>
            <a:off x="7564704" y="2120810"/>
            <a:ext cx="401000" cy="2073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B22BD2-CC19-6F29-81EA-0EFC39D08283}"/>
              </a:ext>
            </a:extLst>
          </p:cNvPr>
          <p:cNvCxnSpPr>
            <a:cxnSpLocks/>
            <a:stCxn id="7" idx="4"/>
            <a:endCxn id="21" idx="0"/>
          </p:cNvCxnSpPr>
          <p:nvPr/>
        </p:nvCxnSpPr>
        <p:spPr bwMode="gray">
          <a:xfrm>
            <a:off x="8037736" y="1763723"/>
            <a:ext cx="4336" cy="53278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8962108-A53A-FF71-6076-DD6BD3E85E08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 bwMode="gray">
          <a:xfrm>
            <a:off x="8145736" y="1655723"/>
            <a:ext cx="458712" cy="1440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CA10C6-5862-D71D-CE2E-A7087279D1C5}"/>
              </a:ext>
            </a:extLst>
          </p:cNvPr>
          <p:cNvCxnSpPr>
            <a:cxnSpLocks/>
            <a:endCxn id="5" idx="7"/>
          </p:cNvCxnSpPr>
          <p:nvPr/>
        </p:nvCxnSpPr>
        <p:spPr bwMode="gray">
          <a:xfrm flipH="1">
            <a:off x="7564704" y="1059582"/>
            <a:ext cx="133376" cy="10937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411F026-6890-D7F3-454B-4BB36FA4AD49}"/>
              </a:ext>
            </a:extLst>
          </p:cNvPr>
          <p:cNvCxnSpPr>
            <a:cxnSpLocks/>
            <a:endCxn id="4" idx="7"/>
          </p:cNvCxnSpPr>
          <p:nvPr/>
        </p:nvCxnSpPr>
        <p:spPr bwMode="gray">
          <a:xfrm flipH="1">
            <a:off x="8788816" y="1072346"/>
            <a:ext cx="114424" cy="9661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52FF435-39B9-32F6-99D9-A100FC63158E}"/>
              </a:ext>
            </a:extLst>
          </p:cNvPr>
          <p:cNvCxnSpPr>
            <a:cxnSpLocks/>
            <a:stCxn id="60" idx="5"/>
            <a:endCxn id="66" idx="1"/>
          </p:cNvCxnSpPr>
          <p:nvPr/>
        </p:nvCxnSpPr>
        <p:spPr bwMode="gray">
          <a:xfrm>
            <a:off x="7564704" y="3265912"/>
            <a:ext cx="396664" cy="25765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1F325C7-6579-00F4-F4FD-8CAACC56EA1F}"/>
              </a:ext>
            </a:extLst>
          </p:cNvPr>
          <p:cNvCxnSpPr>
            <a:cxnSpLocks/>
            <a:stCxn id="61" idx="3"/>
            <a:endCxn id="66" idx="7"/>
          </p:cNvCxnSpPr>
          <p:nvPr/>
        </p:nvCxnSpPr>
        <p:spPr bwMode="gray">
          <a:xfrm flipH="1">
            <a:off x="8114104" y="3265912"/>
            <a:ext cx="521976" cy="25765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D18E3C2-90A1-6880-DA0D-19FB48C8C84E}"/>
              </a:ext>
            </a:extLst>
          </p:cNvPr>
          <p:cNvCxnSpPr>
            <a:cxnSpLocks/>
            <a:stCxn id="61" idx="4"/>
            <a:endCxn id="65" idx="0"/>
          </p:cNvCxnSpPr>
          <p:nvPr/>
        </p:nvCxnSpPr>
        <p:spPr bwMode="gray">
          <a:xfrm>
            <a:off x="8712448" y="3297544"/>
            <a:ext cx="0" cy="3384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56D989B-C09E-E2A1-0CC1-4425D06F34A3}"/>
              </a:ext>
            </a:extLst>
          </p:cNvPr>
          <p:cNvCxnSpPr>
            <a:cxnSpLocks/>
            <a:stCxn id="66" idx="3"/>
            <a:endCxn id="62" idx="7"/>
          </p:cNvCxnSpPr>
          <p:nvPr/>
        </p:nvCxnSpPr>
        <p:spPr bwMode="gray">
          <a:xfrm flipH="1">
            <a:off x="7564704" y="3676307"/>
            <a:ext cx="396664" cy="23598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EEBA778-6C14-262F-370A-FD70CB79A683}"/>
                  </a:ext>
                </a:extLst>
              </p:cNvPr>
              <p:cNvSpPr/>
              <p:nvPr/>
            </p:nvSpPr>
            <p:spPr bwMode="gray">
              <a:xfrm>
                <a:off x="7380336" y="308154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EEBA778-6C14-262F-370A-FD70CB79A6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80336" y="3081544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1B0FB3BF-5CD6-7279-076F-1A719070A812}"/>
                  </a:ext>
                </a:extLst>
              </p:cNvPr>
              <p:cNvSpPr/>
              <p:nvPr/>
            </p:nvSpPr>
            <p:spPr bwMode="gray">
              <a:xfrm>
                <a:off x="8604448" y="308154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1B0FB3BF-5CD6-7279-076F-1A719070A8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04448" y="3081544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943106C4-4DD3-03F1-0AE4-3A6257C2A9E9}"/>
                  </a:ext>
                </a:extLst>
              </p:cNvPr>
              <p:cNvSpPr/>
              <p:nvPr/>
            </p:nvSpPr>
            <p:spPr bwMode="gray">
              <a:xfrm>
                <a:off x="7380336" y="3880658"/>
                <a:ext cx="216000" cy="216000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943106C4-4DD3-03F1-0AE4-3A6257C2A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80336" y="3880658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53F8094-D318-F96D-8168-073B5C259E95}"/>
                  </a:ext>
                </a:extLst>
              </p:cNvPr>
              <p:cNvSpPr/>
              <p:nvPr/>
            </p:nvSpPr>
            <p:spPr bwMode="gray">
              <a:xfrm>
                <a:off x="8604448" y="416871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53F8094-D318-F96D-8168-073B5C259E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04448" y="4168714"/>
                <a:ext cx="216000" cy="216000"/>
              </a:xfrm>
              <a:prstGeom prst="ellipse">
                <a:avLst/>
              </a:prstGeom>
              <a:blipFill>
                <a:blip r:embed="rId13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CB6D8F1-B701-B5DD-A4E4-02D7DFA84708}"/>
              </a:ext>
            </a:extLst>
          </p:cNvPr>
          <p:cNvCxnSpPr>
            <a:cxnSpLocks/>
            <a:stCxn id="65" idx="4"/>
            <a:endCxn id="63" idx="0"/>
          </p:cNvCxnSpPr>
          <p:nvPr/>
        </p:nvCxnSpPr>
        <p:spPr bwMode="gray">
          <a:xfrm>
            <a:off x="8712448" y="3851979"/>
            <a:ext cx="0" cy="3167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4D8E93A3-05B2-2F0A-D2B2-8451178A8D73}"/>
                  </a:ext>
                </a:extLst>
              </p:cNvPr>
              <p:cNvSpPr/>
              <p:nvPr/>
            </p:nvSpPr>
            <p:spPr bwMode="gray">
              <a:xfrm>
                <a:off x="8604448" y="363597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4D8E93A3-05B2-2F0A-D2B2-8451178A8D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04448" y="3635979"/>
                <a:ext cx="216000" cy="216000"/>
              </a:xfrm>
              <a:prstGeom prst="ellipse">
                <a:avLst/>
              </a:prstGeom>
              <a:blipFill>
                <a:blip r:embed="rId14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D64915FC-3E3E-3171-F28D-1800AFEF7485}"/>
                  </a:ext>
                </a:extLst>
              </p:cNvPr>
              <p:cNvSpPr/>
              <p:nvPr/>
            </p:nvSpPr>
            <p:spPr bwMode="gray">
              <a:xfrm>
                <a:off x="7929736" y="349193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D64915FC-3E3E-3171-F28D-1800AFEF7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29736" y="3491939"/>
                <a:ext cx="216000" cy="216000"/>
              </a:xfrm>
              <a:prstGeom prst="ellipse">
                <a:avLst/>
              </a:prstGeom>
              <a:blipFill>
                <a:blip r:embed="rId15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121591C-2C43-ACE6-D4BD-CDA50F611776}"/>
                  </a:ext>
                </a:extLst>
              </p:cNvPr>
              <p:cNvSpPr/>
              <p:nvPr/>
            </p:nvSpPr>
            <p:spPr bwMode="gray">
              <a:xfrm>
                <a:off x="7934072" y="4240722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121591C-2C43-ACE6-D4BD-CDA50F6117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34072" y="4240722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6D885B2-E173-FA26-81E0-CA75F07E2342}"/>
              </a:ext>
            </a:extLst>
          </p:cNvPr>
          <p:cNvCxnSpPr>
            <a:cxnSpLocks/>
            <a:stCxn id="62" idx="5"/>
            <a:endCxn id="67" idx="1"/>
          </p:cNvCxnSpPr>
          <p:nvPr/>
        </p:nvCxnSpPr>
        <p:spPr bwMode="gray">
          <a:xfrm>
            <a:off x="7564704" y="4065026"/>
            <a:ext cx="401000" cy="2073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6AAEFA4-F27A-CFC3-D610-4D4BFC760262}"/>
              </a:ext>
            </a:extLst>
          </p:cNvPr>
          <p:cNvCxnSpPr>
            <a:cxnSpLocks/>
            <a:stCxn id="66" idx="4"/>
            <a:endCxn id="67" idx="0"/>
          </p:cNvCxnSpPr>
          <p:nvPr/>
        </p:nvCxnSpPr>
        <p:spPr bwMode="gray">
          <a:xfrm>
            <a:off x="8037736" y="3707939"/>
            <a:ext cx="4336" cy="53278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B952484-643B-FCFE-9990-ABDE3D47F021}"/>
              </a:ext>
            </a:extLst>
          </p:cNvPr>
          <p:cNvCxnSpPr>
            <a:cxnSpLocks/>
            <a:stCxn id="66" idx="6"/>
            <a:endCxn id="65" idx="2"/>
          </p:cNvCxnSpPr>
          <p:nvPr/>
        </p:nvCxnSpPr>
        <p:spPr bwMode="gray">
          <a:xfrm>
            <a:off x="8145736" y="3599939"/>
            <a:ext cx="458712" cy="1440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F971DC4-F3E7-927E-8201-FB3CB3EA550F}"/>
              </a:ext>
            </a:extLst>
          </p:cNvPr>
          <p:cNvCxnSpPr>
            <a:cxnSpLocks/>
            <a:endCxn id="60" idx="7"/>
          </p:cNvCxnSpPr>
          <p:nvPr/>
        </p:nvCxnSpPr>
        <p:spPr bwMode="gray">
          <a:xfrm flipH="1">
            <a:off x="7564704" y="3003798"/>
            <a:ext cx="133376" cy="10937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2CF6EB7-1255-379D-6415-A9B07CB75122}"/>
              </a:ext>
            </a:extLst>
          </p:cNvPr>
          <p:cNvCxnSpPr>
            <a:cxnSpLocks/>
            <a:endCxn id="61" idx="7"/>
          </p:cNvCxnSpPr>
          <p:nvPr/>
        </p:nvCxnSpPr>
        <p:spPr bwMode="gray">
          <a:xfrm flipH="1">
            <a:off x="8788816" y="3016562"/>
            <a:ext cx="114424" cy="9661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DAD17F3-39FD-0C3E-7FAE-1B63812AC3C4}"/>
                  </a:ext>
                </a:extLst>
              </p:cNvPr>
              <p:cNvSpPr txBox="1"/>
              <p:nvPr/>
            </p:nvSpPr>
            <p:spPr bwMode="gray">
              <a:xfrm>
                <a:off x="6537860" y="2571750"/>
                <a:ext cx="252450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</a:t>
                </a:r>
                <a:r>
                  <a:rPr lang="en-US" sz="1000" dirty="0">
                    <a:solidFill>
                      <a:srgbClr val="C00000"/>
                    </a:solidFill>
                  </a:rPr>
                  <a:t>are</a:t>
                </a:r>
                <a:r>
                  <a:rPr lang="x-none" sz="1000">
                    <a:solidFill>
                      <a:srgbClr val="C00000"/>
                    </a:solidFill>
                  </a:rPr>
                  <a:t> </a:t>
                </a:r>
                <a:r>
                  <a:rPr lang="en-US" sz="1000" dirty="0">
                    <a:solidFill>
                      <a:srgbClr val="C00000"/>
                    </a:solidFill>
                  </a:rPr>
                  <a:t>conditionally </a:t>
                </a:r>
                <a:r>
                  <a:rPr lang="x-none" sz="1000">
                    <a:solidFill>
                      <a:srgbClr val="C00000"/>
                    </a:solidFill>
                  </a:rPr>
                  <a:t>independent</a:t>
                </a:r>
                <a:endParaRPr lang="x-non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DAD17F3-39FD-0C3E-7FAE-1B63812AC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37860" y="2571750"/>
                <a:ext cx="2524508" cy="216024"/>
              </a:xfrm>
              <a:prstGeom prst="rect">
                <a:avLst/>
              </a:prstGeom>
              <a:blipFill>
                <a:blip r:embed="rId17"/>
                <a:stretch>
                  <a:fillRect t="-555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BB13366-DDAE-5D3A-E253-5AD7A4A7F785}"/>
                  </a:ext>
                </a:extLst>
              </p:cNvPr>
              <p:cNvSpPr txBox="1"/>
              <p:nvPr/>
            </p:nvSpPr>
            <p:spPr bwMode="gray">
              <a:xfrm>
                <a:off x="6300192" y="4443958"/>
                <a:ext cx="2776959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</a:t>
                </a:r>
                <a:r>
                  <a:rPr lang="en-US" sz="1000" dirty="0">
                    <a:solidFill>
                      <a:srgbClr val="C00000"/>
                    </a:solidFill>
                  </a:rPr>
                  <a:t>are </a:t>
                </a:r>
                <a:r>
                  <a:rPr lang="x-none" sz="1000" b="1">
                    <a:solidFill>
                      <a:srgbClr val="C00000"/>
                    </a:solidFill>
                  </a:rPr>
                  <a:t>not</a:t>
                </a:r>
                <a:r>
                  <a:rPr lang="x-none" sz="1000">
                    <a:solidFill>
                      <a:srgbClr val="C00000"/>
                    </a:solidFill>
                  </a:rPr>
                  <a:t> </a:t>
                </a:r>
                <a:r>
                  <a:rPr lang="en-US" sz="1000" dirty="0">
                    <a:solidFill>
                      <a:srgbClr val="C00000"/>
                    </a:solidFill>
                  </a:rPr>
                  <a:t>conditionally </a:t>
                </a:r>
                <a:r>
                  <a:rPr lang="x-none" sz="1000">
                    <a:solidFill>
                      <a:srgbClr val="C00000"/>
                    </a:solidFill>
                  </a:rPr>
                  <a:t>independent</a:t>
                </a:r>
                <a:endParaRPr lang="x-non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BB13366-DDAE-5D3A-E253-5AD7A4A7F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00192" y="4443958"/>
                <a:ext cx="2776959" cy="216024"/>
              </a:xfrm>
              <a:prstGeom prst="rect">
                <a:avLst/>
              </a:prstGeom>
              <a:blipFill>
                <a:blip r:embed="rId18"/>
                <a:stretch>
                  <a:fillRect t="-555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62848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93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97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0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3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15" grpId="0" animBg="1"/>
      <p:bldP spid="8" grpId="0" animBg="1"/>
      <p:bldP spid="7" grpId="0" animBg="1"/>
      <p:bldP spid="7" grpId="1" animBg="1"/>
      <p:bldP spid="21" grpId="0" animBg="1"/>
      <p:bldP spid="21" grpId="1" animBg="1"/>
      <p:bldP spid="60" grpId="0" animBg="1"/>
      <p:bldP spid="61" grpId="0" animBg="1"/>
      <p:bldP spid="62" grpId="0" animBg="1"/>
      <p:bldP spid="63" grpId="0" animBg="1"/>
      <p:bldP spid="65" grpId="0" animBg="1"/>
      <p:bldP spid="66" grpId="0" animBg="1"/>
      <p:bldP spid="67" grpId="0" animBg="1"/>
      <p:bldP spid="67" grpId="1" animBg="1"/>
      <p:bldP spid="74" grpId="0"/>
      <p:bldP spid="7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DA5A290-4383-18D0-2616-9F2D7C5FBB0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8"/>
                <a:ext cx="7282988" cy="1883364"/>
              </a:xfrm>
            </p:spPr>
            <p:txBody>
              <a:bodyPr/>
              <a:lstStyle/>
              <a:p>
                <a:r>
                  <a:rPr lang="en-US" b="1" dirty="0"/>
                  <a:t>Hammersley-Clifford (1971)</a:t>
                </a:r>
                <a:r>
                  <a:rPr lang="en-US" dirty="0"/>
                  <a:t>. Given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a density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satisfies the Markov property for an undirected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if and only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268287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are strictly positive functions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are the values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indexed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sz="1200" dirty="0"/>
                  <a:t>Computing the density up to normalization is computationally easy but the normalization constant is computationally hard as it requires sums/integrals of products of potentials!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DA5A290-4383-18D0-2616-9F2D7C5FBB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8"/>
                <a:ext cx="7282988" cy="1883364"/>
              </a:xfrm>
              <a:blipFill>
                <a:blip r:embed="rId2"/>
                <a:stretch>
                  <a:fillRect t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E22C9F8-7B2F-2068-BCE3-9753E103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Hammersley-Clifford Theorem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98D5BC-F58A-0931-62DA-DDE28BAAF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021" y="1347614"/>
            <a:ext cx="599062" cy="7036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A2A27C-7BF1-3524-E4E9-2B10E878AC8E}"/>
              </a:ext>
            </a:extLst>
          </p:cNvPr>
          <p:cNvSpPr txBox="1"/>
          <p:nvPr/>
        </p:nvSpPr>
        <p:spPr bwMode="gray">
          <a:xfrm>
            <a:off x="7641764" y="2017172"/>
            <a:ext cx="1323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John Hammersley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(1920 – 2004)</a:t>
            </a:r>
            <a:endParaRPr lang="en-US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A92081-AF76-E797-4880-1C51EE01BB60}"/>
              </a:ext>
            </a:extLst>
          </p:cNvPr>
          <p:cNvSpPr txBox="1"/>
          <p:nvPr/>
        </p:nvSpPr>
        <p:spPr bwMode="gray">
          <a:xfrm>
            <a:off x="7647157" y="3291830"/>
            <a:ext cx="1323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Peter Clifford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(1943 – 2025)</a:t>
            </a:r>
            <a:endParaRPr lang="en-US" sz="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A44FDC-AA31-6809-8100-B58367444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9123" y="2536724"/>
            <a:ext cx="653960" cy="783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B513AF-F848-9F76-A73B-9147E27D2A0C}"/>
                  </a:ext>
                </a:extLst>
              </p:cNvPr>
              <p:cNvSpPr txBox="1"/>
              <p:nvPr/>
            </p:nvSpPr>
            <p:spPr bwMode="gray">
              <a:xfrm>
                <a:off x="3275856" y="1730092"/>
                <a:ext cx="2480549" cy="64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cliques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B513AF-F848-9F76-A73B-9147E27D2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75856" y="1730092"/>
                <a:ext cx="2480549" cy="642420"/>
              </a:xfrm>
              <a:prstGeom prst="rect">
                <a:avLst/>
              </a:prstGeom>
              <a:blipFill>
                <a:blip r:embed="rId5"/>
                <a:stretch>
                  <a:fillRect t="-113725" b="-15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B83CBF-A32C-8E34-2147-E0BD0B6F67EC}"/>
              </a:ext>
            </a:extLst>
          </p:cNvPr>
          <p:cNvCxnSpPr>
            <a:cxnSpLocks/>
            <a:stCxn id="17" idx="5"/>
            <a:endCxn id="23" idx="1"/>
          </p:cNvCxnSpPr>
          <p:nvPr/>
        </p:nvCxnSpPr>
        <p:spPr bwMode="gray">
          <a:xfrm>
            <a:off x="1011952" y="3646004"/>
            <a:ext cx="396664" cy="25765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F685B6-FFE1-EFE9-5302-A84F50A45CE7}"/>
              </a:ext>
            </a:extLst>
          </p:cNvPr>
          <p:cNvCxnSpPr>
            <a:cxnSpLocks/>
            <a:stCxn id="18" idx="3"/>
            <a:endCxn id="23" idx="7"/>
          </p:cNvCxnSpPr>
          <p:nvPr/>
        </p:nvCxnSpPr>
        <p:spPr bwMode="gray">
          <a:xfrm flipH="1">
            <a:off x="1561352" y="3646004"/>
            <a:ext cx="521976" cy="25765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06C3CA-C9AB-8110-FDDA-CD0206EF1505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 bwMode="gray">
          <a:xfrm>
            <a:off x="2159696" y="3677636"/>
            <a:ext cx="0" cy="3384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6EC97F-FA0E-2F84-2809-E26CD9E56F89}"/>
              </a:ext>
            </a:extLst>
          </p:cNvPr>
          <p:cNvCxnSpPr>
            <a:cxnSpLocks/>
            <a:stCxn id="23" idx="3"/>
            <a:endCxn id="19" idx="7"/>
          </p:cNvCxnSpPr>
          <p:nvPr/>
        </p:nvCxnSpPr>
        <p:spPr bwMode="gray">
          <a:xfrm flipH="1">
            <a:off x="1011952" y="4056399"/>
            <a:ext cx="396664" cy="23598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F500784-3803-8E63-E181-083D52C67EE6}"/>
                  </a:ext>
                </a:extLst>
              </p:cNvPr>
              <p:cNvSpPr/>
              <p:nvPr/>
            </p:nvSpPr>
            <p:spPr bwMode="gray">
              <a:xfrm>
                <a:off x="827584" y="346163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F500784-3803-8E63-E181-083D52C67E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7584" y="3461636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AEC2147-B320-8F99-0E15-85F30E3A8185}"/>
                  </a:ext>
                </a:extLst>
              </p:cNvPr>
              <p:cNvSpPr/>
              <p:nvPr/>
            </p:nvSpPr>
            <p:spPr bwMode="gray">
              <a:xfrm>
                <a:off x="2051696" y="346163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AEC2147-B320-8F99-0E15-85F30E3A81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51696" y="3461636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688B262-DF1D-A9CB-A4E9-BB97936980AA}"/>
                  </a:ext>
                </a:extLst>
              </p:cNvPr>
              <p:cNvSpPr/>
              <p:nvPr/>
            </p:nvSpPr>
            <p:spPr bwMode="gray">
              <a:xfrm>
                <a:off x="827584" y="4260750"/>
                <a:ext cx="216000" cy="216000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688B262-DF1D-A9CB-A4E9-BB97936980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7584" y="4260750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77FBDC2-D469-074D-8485-6D6329CEDB2A}"/>
                  </a:ext>
                </a:extLst>
              </p:cNvPr>
              <p:cNvSpPr/>
              <p:nvPr/>
            </p:nvSpPr>
            <p:spPr bwMode="gray">
              <a:xfrm>
                <a:off x="2051696" y="454880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77FBDC2-D469-074D-8485-6D6329CEDB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51696" y="4548806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ECDD2F-8385-8B1F-124E-258C500F7E05}"/>
              </a:ext>
            </a:extLst>
          </p:cNvPr>
          <p:cNvCxnSpPr>
            <a:cxnSpLocks/>
            <a:stCxn id="22" idx="4"/>
            <a:endCxn id="20" idx="0"/>
          </p:cNvCxnSpPr>
          <p:nvPr/>
        </p:nvCxnSpPr>
        <p:spPr bwMode="gray">
          <a:xfrm>
            <a:off x="2159696" y="4232071"/>
            <a:ext cx="0" cy="3167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FAF1E97-CDF9-CA1C-ECB4-054696710DC9}"/>
                  </a:ext>
                </a:extLst>
              </p:cNvPr>
              <p:cNvSpPr/>
              <p:nvPr/>
            </p:nvSpPr>
            <p:spPr bwMode="gray">
              <a:xfrm>
                <a:off x="2051696" y="401607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FAF1E97-CDF9-CA1C-ECB4-054696710D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51696" y="4016071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84522ED-3392-A8CA-1523-DCF3929661C3}"/>
                  </a:ext>
                </a:extLst>
              </p:cNvPr>
              <p:cNvSpPr/>
              <p:nvPr/>
            </p:nvSpPr>
            <p:spPr bwMode="gray">
              <a:xfrm>
                <a:off x="1376984" y="3872031"/>
                <a:ext cx="216000" cy="216000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84522ED-3392-A8CA-1523-DCF3929661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76984" y="3872031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3760A86-73AD-662A-5CFF-96E279F78D8C}"/>
                  </a:ext>
                </a:extLst>
              </p:cNvPr>
              <p:cNvSpPr/>
              <p:nvPr/>
            </p:nvSpPr>
            <p:spPr bwMode="gray">
              <a:xfrm>
                <a:off x="1381320" y="4620814"/>
                <a:ext cx="216000" cy="216000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3760A86-73AD-662A-5CFF-96E279F78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81320" y="4620814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A798180-31A6-5E5A-7B96-A52BF25C457E}"/>
              </a:ext>
            </a:extLst>
          </p:cNvPr>
          <p:cNvCxnSpPr>
            <a:cxnSpLocks/>
            <a:stCxn id="19" idx="5"/>
            <a:endCxn id="24" idx="1"/>
          </p:cNvCxnSpPr>
          <p:nvPr/>
        </p:nvCxnSpPr>
        <p:spPr bwMode="gray">
          <a:xfrm>
            <a:off x="1011952" y="4445118"/>
            <a:ext cx="401000" cy="2073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5C53A0-B11F-385F-E2B1-A6C452F39A84}"/>
              </a:ext>
            </a:extLst>
          </p:cNvPr>
          <p:cNvCxnSpPr>
            <a:cxnSpLocks/>
            <a:stCxn id="23" idx="4"/>
            <a:endCxn id="24" idx="0"/>
          </p:cNvCxnSpPr>
          <p:nvPr/>
        </p:nvCxnSpPr>
        <p:spPr bwMode="gray">
          <a:xfrm>
            <a:off x="1484984" y="4088031"/>
            <a:ext cx="4336" cy="53278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CC2C7BC-1754-BB3E-94A2-0CF89EEEC251}"/>
              </a:ext>
            </a:extLst>
          </p:cNvPr>
          <p:cNvCxnSpPr>
            <a:cxnSpLocks/>
            <a:stCxn id="23" idx="6"/>
            <a:endCxn id="22" idx="2"/>
          </p:cNvCxnSpPr>
          <p:nvPr/>
        </p:nvCxnSpPr>
        <p:spPr bwMode="gray">
          <a:xfrm>
            <a:off x="1592984" y="3980031"/>
            <a:ext cx="458712" cy="1440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BA438F5-20C6-B3A3-007A-D11F34E42454}"/>
              </a:ext>
            </a:extLst>
          </p:cNvPr>
          <p:cNvSpPr txBox="1"/>
          <p:nvPr/>
        </p:nvSpPr>
        <p:spPr bwMode="gray">
          <a:xfrm>
            <a:off x="2870914" y="3183818"/>
            <a:ext cx="107063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Cliques of size 1</a:t>
            </a:r>
            <a:endParaRPr lang="x-none" sz="1000" dirty="0">
              <a:solidFill>
                <a:srgbClr val="C0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73CEE6-306E-1020-6520-01B7382A3C62}"/>
              </a:ext>
            </a:extLst>
          </p:cNvPr>
          <p:cNvSpPr txBox="1"/>
          <p:nvPr/>
        </p:nvSpPr>
        <p:spPr bwMode="gray">
          <a:xfrm>
            <a:off x="4626298" y="3183818"/>
            <a:ext cx="107063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Cliques of size 2</a:t>
            </a:r>
            <a:endParaRPr lang="x-none" sz="1000" dirty="0">
              <a:solidFill>
                <a:srgbClr val="C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C435F1-54DC-FE03-F6DC-6FC4A8DFAADD}"/>
              </a:ext>
            </a:extLst>
          </p:cNvPr>
          <p:cNvSpPr txBox="1"/>
          <p:nvPr/>
        </p:nvSpPr>
        <p:spPr bwMode="gray">
          <a:xfrm>
            <a:off x="6381682" y="3183818"/>
            <a:ext cx="107063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Cliques of size 3</a:t>
            </a:r>
            <a:endParaRPr lang="x-none" sz="1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64E7070-39B5-58EB-CD2F-20A99B3B20EE}"/>
                  </a:ext>
                </a:extLst>
              </p:cNvPr>
              <p:cNvSpPr/>
              <p:nvPr/>
            </p:nvSpPr>
            <p:spPr bwMode="gray">
              <a:xfrm>
                <a:off x="2997895" y="351265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64E7070-39B5-58EB-CD2F-20A99B3B20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97895" y="3512659"/>
                <a:ext cx="216000" cy="216000"/>
              </a:xfrm>
              <a:prstGeom prst="ellipse">
                <a:avLst/>
              </a:prstGeom>
              <a:blipFill>
                <a:blip r:embed="rId1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1988DE9-8D00-2A85-D98B-C1E2E6626215}"/>
                  </a:ext>
                </a:extLst>
              </p:cNvPr>
              <p:cNvSpPr/>
              <p:nvPr/>
            </p:nvSpPr>
            <p:spPr bwMode="gray">
              <a:xfrm>
                <a:off x="3516063" y="351265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1988DE9-8D00-2A85-D98B-C1E2E66262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16063" y="3512659"/>
                <a:ext cx="216000" cy="216000"/>
              </a:xfrm>
              <a:prstGeom prst="ellipse">
                <a:avLst/>
              </a:prstGeom>
              <a:blipFill>
                <a:blip r:embed="rId1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B902336-37BB-E67B-1078-2D63CBA57446}"/>
                  </a:ext>
                </a:extLst>
              </p:cNvPr>
              <p:cNvSpPr/>
              <p:nvPr/>
            </p:nvSpPr>
            <p:spPr bwMode="gray">
              <a:xfrm>
                <a:off x="2997895" y="3947420"/>
                <a:ext cx="216000" cy="216000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B902336-37BB-E67B-1078-2D63CBA574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97895" y="3947420"/>
                <a:ext cx="216000" cy="216000"/>
              </a:xfrm>
              <a:prstGeom prst="ellipse">
                <a:avLst/>
              </a:prstGeom>
              <a:blipFill>
                <a:blip r:embed="rId1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074A3EC-83EA-1634-2B71-2A5A2F872C89}"/>
                  </a:ext>
                </a:extLst>
              </p:cNvPr>
              <p:cNvSpPr/>
              <p:nvPr/>
            </p:nvSpPr>
            <p:spPr bwMode="gray">
              <a:xfrm>
                <a:off x="3522561" y="394742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074A3EC-83EA-1634-2B71-2A5A2F872C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22561" y="3947420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2F97798-3A76-6C74-F7BC-4EA4424A8D50}"/>
                  </a:ext>
                </a:extLst>
              </p:cNvPr>
              <p:cNvSpPr/>
              <p:nvPr/>
            </p:nvSpPr>
            <p:spPr bwMode="gray">
              <a:xfrm>
                <a:off x="3510397" y="4382181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2F97798-3A76-6C74-F7BC-4EA4424A8D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10397" y="4382181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AB3FDB0E-1AD4-54A8-4E48-E4BBD9EE60F9}"/>
                  </a:ext>
                </a:extLst>
              </p:cNvPr>
              <p:cNvSpPr/>
              <p:nvPr/>
            </p:nvSpPr>
            <p:spPr bwMode="gray">
              <a:xfrm>
                <a:off x="2997895" y="4382181"/>
                <a:ext cx="216000" cy="216000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AB3FDB0E-1AD4-54A8-4E48-E4BBD9EE60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97895" y="4382181"/>
                <a:ext cx="216000" cy="216000"/>
              </a:xfrm>
              <a:prstGeom prst="ellipse">
                <a:avLst/>
              </a:prstGeom>
              <a:blipFill>
                <a:blip r:embed="rId18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7D84BFD-D095-EF06-21CD-7B9FC0FC1D14}"/>
                  </a:ext>
                </a:extLst>
              </p:cNvPr>
              <p:cNvSpPr/>
              <p:nvPr/>
            </p:nvSpPr>
            <p:spPr bwMode="gray">
              <a:xfrm>
                <a:off x="2997895" y="4816941"/>
                <a:ext cx="216000" cy="216000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7D84BFD-D095-EF06-21CD-7B9FC0FC1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97895" y="4816941"/>
                <a:ext cx="216000" cy="216000"/>
              </a:xfrm>
              <a:prstGeom prst="ellipse">
                <a:avLst/>
              </a:prstGeom>
              <a:blipFill>
                <a:blip r:embed="rId1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E1347DA-9B78-E2C3-E6AB-57EB6B664555}"/>
              </a:ext>
            </a:extLst>
          </p:cNvPr>
          <p:cNvGrpSpPr/>
          <p:nvPr/>
        </p:nvGrpSpPr>
        <p:grpSpPr>
          <a:xfrm>
            <a:off x="4308330" y="3506177"/>
            <a:ext cx="789101" cy="222482"/>
            <a:chOff x="4308330" y="3506177"/>
            <a:chExt cx="789101" cy="222482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9370D6D-B51E-9959-4728-0BEF052AE22B}"/>
                </a:ext>
              </a:extLst>
            </p:cNvPr>
            <p:cNvCxnSpPr>
              <a:cxnSpLocks/>
              <a:stCxn id="44" idx="6"/>
              <a:endCxn id="45" idx="2"/>
            </p:cNvCxnSpPr>
            <p:nvPr/>
          </p:nvCxnSpPr>
          <p:spPr bwMode="gray">
            <a:xfrm>
              <a:off x="4524330" y="3614177"/>
              <a:ext cx="357101" cy="6482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0855F962-FE6F-698F-275F-7C2E7BF046A5}"/>
                    </a:ext>
                  </a:extLst>
                </p:cNvPr>
                <p:cNvSpPr/>
                <p:nvPr/>
              </p:nvSpPr>
              <p:spPr bwMode="gray">
                <a:xfrm>
                  <a:off x="4308330" y="3506177"/>
                  <a:ext cx="216000" cy="21600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0855F962-FE6F-698F-275F-7C2E7BF046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308330" y="3506177"/>
                  <a:ext cx="216000" cy="216000"/>
                </a:xfrm>
                <a:prstGeom prst="ellipse">
                  <a:avLst/>
                </a:prstGeom>
                <a:blipFill>
                  <a:blip r:embed="rId20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1400153C-9C2A-66BF-9EEB-9AF7DC1D0156}"/>
                    </a:ext>
                  </a:extLst>
                </p:cNvPr>
                <p:cNvSpPr/>
                <p:nvPr/>
              </p:nvSpPr>
              <p:spPr bwMode="gray">
                <a:xfrm>
                  <a:off x="4881431" y="3512659"/>
                  <a:ext cx="216000" cy="216000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1400153C-9C2A-66BF-9EEB-9AF7DC1D01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881431" y="3512659"/>
                  <a:ext cx="216000" cy="216000"/>
                </a:xfrm>
                <a:prstGeom prst="ellipse">
                  <a:avLst/>
                </a:prstGeom>
                <a:blipFill>
                  <a:blip r:embed="rId21"/>
                  <a:stretch>
                    <a:fillRect l="-1111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52DEE58-ED04-D71E-A2A0-7AD51835A269}"/>
              </a:ext>
            </a:extLst>
          </p:cNvPr>
          <p:cNvGrpSpPr/>
          <p:nvPr/>
        </p:nvGrpSpPr>
        <p:grpSpPr>
          <a:xfrm>
            <a:off x="4308330" y="3843096"/>
            <a:ext cx="783858" cy="216000"/>
            <a:chOff x="4308330" y="3872031"/>
            <a:chExt cx="783858" cy="216000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5099FEA-F58E-A4A4-372D-565EEFAF3FA3}"/>
                </a:ext>
              </a:extLst>
            </p:cNvPr>
            <p:cNvCxnSpPr>
              <a:cxnSpLocks/>
              <a:stCxn id="52" idx="2"/>
              <a:endCxn id="51" idx="6"/>
            </p:cNvCxnSpPr>
            <p:nvPr/>
          </p:nvCxnSpPr>
          <p:spPr bwMode="gray">
            <a:xfrm flipH="1">
              <a:off x="4524330" y="3980031"/>
              <a:ext cx="35185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FB959D9E-BF67-F882-F9D8-AB3B5FF5CF32}"/>
                    </a:ext>
                  </a:extLst>
                </p:cNvPr>
                <p:cNvSpPr/>
                <p:nvPr/>
              </p:nvSpPr>
              <p:spPr bwMode="gray">
                <a:xfrm>
                  <a:off x="4308330" y="3872031"/>
                  <a:ext cx="216000" cy="216000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FB959D9E-BF67-F882-F9D8-AB3B5FF5CF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308330" y="3872031"/>
                  <a:ext cx="216000" cy="216000"/>
                </a:xfrm>
                <a:prstGeom prst="ellipse">
                  <a:avLst/>
                </a:prstGeom>
                <a:blipFill>
                  <a:blip r:embed="rId22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4099EBC4-B3D8-09B7-847D-C4B9C0AA507C}"/>
                    </a:ext>
                  </a:extLst>
                </p:cNvPr>
                <p:cNvSpPr/>
                <p:nvPr/>
              </p:nvSpPr>
              <p:spPr bwMode="gray">
                <a:xfrm>
                  <a:off x="4876188" y="3872031"/>
                  <a:ext cx="216000" cy="216000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4099EBC4-B3D8-09B7-847D-C4B9C0AA50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876188" y="3872031"/>
                  <a:ext cx="216000" cy="216000"/>
                </a:xfrm>
                <a:prstGeom prst="ellipse">
                  <a:avLst/>
                </a:prstGeom>
                <a:blipFill>
                  <a:blip r:embed="rId23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6D3F82A-BB04-D473-F3C3-006CF7933983}"/>
              </a:ext>
            </a:extLst>
          </p:cNvPr>
          <p:cNvGrpSpPr/>
          <p:nvPr/>
        </p:nvGrpSpPr>
        <p:grpSpPr>
          <a:xfrm>
            <a:off x="4309685" y="4180015"/>
            <a:ext cx="787482" cy="219445"/>
            <a:chOff x="4309685" y="4282438"/>
            <a:chExt cx="787482" cy="2194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B4DB26ED-2709-8162-8523-7174850EB8BE}"/>
                    </a:ext>
                  </a:extLst>
                </p:cNvPr>
                <p:cNvSpPr/>
                <p:nvPr/>
              </p:nvSpPr>
              <p:spPr bwMode="gray">
                <a:xfrm>
                  <a:off x="4309685" y="4282438"/>
                  <a:ext cx="216000" cy="216000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B4DB26ED-2709-8162-8523-7174850EB8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309685" y="4282438"/>
                  <a:ext cx="216000" cy="216000"/>
                </a:xfrm>
                <a:prstGeom prst="ellipse">
                  <a:avLst/>
                </a:prstGeom>
                <a:blipFill>
                  <a:blip r:embed="rId24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9F17D38B-EE21-73E6-E2AD-88966AFC9980}"/>
                    </a:ext>
                  </a:extLst>
                </p:cNvPr>
                <p:cNvSpPr/>
                <p:nvPr/>
              </p:nvSpPr>
              <p:spPr bwMode="gray">
                <a:xfrm>
                  <a:off x="4881167" y="4285883"/>
                  <a:ext cx="216000" cy="216000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9F17D38B-EE21-73E6-E2AD-88966AFC99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881167" y="4285883"/>
                  <a:ext cx="216000" cy="216000"/>
                </a:xfrm>
                <a:prstGeom prst="ellipse">
                  <a:avLst/>
                </a:prstGeom>
                <a:blipFill>
                  <a:blip r:embed="rId25"/>
                  <a:stretch>
                    <a:fillRect l="-1111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FB5A850F-0649-D115-E415-FB75D2BF8C5F}"/>
                </a:ext>
              </a:extLst>
            </p:cNvPr>
            <p:cNvCxnSpPr>
              <a:cxnSpLocks/>
              <a:stCxn id="58" idx="6"/>
              <a:endCxn id="59" idx="2"/>
            </p:cNvCxnSpPr>
            <p:nvPr/>
          </p:nvCxnSpPr>
          <p:spPr bwMode="gray">
            <a:xfrm>
              <a:off x="4525685" y="4390438"/>
              <a:ext cx="355482" cy="3445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6A28B2D-2875-CADC-526E-B4977C7A0DA6}"/>
              </a:ext>
            </a:extLst>
          </p:cNvPr>
          <p:cNvGrpSpPr/>
          <p:nvPr/>
        </p:nvGrpSpPr>
        <p:grpSpPr>
          <a:xfrm>
            <a:off x="4308330" y="4520379"/>
            <a:ext cx="783858" cy="221573"/>
            <a:chOff x="4308330" y="4538873"/>
            <a:chExt cx="783858" cy="2215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6C25AF46-D60D-A18E-67CC-41F4D4A0C8B4}"/>
                    </a:ext>
                  </a:extLst>
                </p:cNvPr>
                <p:cNvSpPr/>
                <p:nvPr/>
              </p:nvSpPr>
              <p:spPr bwMode="gray">
                <a:xfrm>
                  <a:off x="4308330" y="4538873"/>
                  <a:ext cx="216000" cy="216000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6C25AF46-D60D-A18E-67CC-41F4D4A0C8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308330" y="4538873"/>
                  <a:ext cx="216000" cy="216000"/>
                </a:xfrm>
                <a:prstGeom prst="ellipse">
                  <a:avLst/>
                </a:prstGeom>
                <a:blipFill>
                  <a:blip r:embed="rId26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978C6375-A0E2-E7F7-726B-DCBEECCA89ED}"/>
                    </a:ext>
                  </a:extLst>
                </p:cNvPr>
                <p:cNvSpPr/>
                <p:nvPr/>
              </p:nvSpPr>
              <p:spPr bwMode="gray">
                <a:xfrm>
                  <a:off x="4876188" y="4544446"/>
                  <a:ext cx="216000" cy="216000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978C6375-A0E2-E7F7-726B-DCBEECCA89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876188" y="4544446"/>
                  <a:ext cx="216000" cy="216000"/>
                </a:xfrm>
                <a:prstGeom prst="ellipse">
                  <a:avLst/>
                </a:prstGeom>
                <a:blipFill>
                  <a:blip r:embed="rId27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9393B55-96A6-37C4-341A-E4F85FC4BE30}"/>
                </a:ext>
              </a:extLst>
            </p:cNvPr>
            <p:cNvCxnSpPr>
              <a:cxnSpLocks/>
              <a:stCxn id="66" idx="6"/>
              <a:endCxn id="67" idx="2"/>
            </p:cNvCxnSpPr>
            <p:nvPr/>
          </p:nvCxnSpPr>
          <p:spPr bwMode="gray">
            <a:xfrm>
              <a:off x="4524330" y="4646873"/>
              <a:ext cx="351858" cy="557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CC8311B-5580-FFE1-134B-2340C158D16C}"/>
              </a:ext>
            </a:extLst>
          </p:cNvPr>
          <p:cNvGrpSpPr/>
          <p:nvPr/>
        </p:nvGrpSpPr>
        <p:grpSpPr>
          <a:xfrm>
            <a:off x="4308330" y="4862873"/>
            <a:ext cx="783858" cy="216000"/>
            <a:chOff x="4308330" y="4862873"/>
            <a:chExt cx="783858" cy="216000"/>
          </a:xfrm>
        </p:grpSpPr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43B7BB1E-B868-B29A-6063-00E61DBA2931}"/>
                </a:ext>
              </a:extLst>
            </p:cNvPr>
            <p:cNvCxnSpPr>
              <a:cxnSpLocks/>
              <a:stCxn id="75" idx="2"/>
              <a:endCxn id="76" idx="6"/>
            </p:cNvCxnSpPr>
            <p:nvPr/>
          </p:nvCxnSpPr>
          <p:spPr bwMode="gray">
            <a:xfrm flipH="1">
              <a:off x="4524330" y="4970873"/>
              <a:ext cx="35185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C563021A-DDA6-0C80-854D-182227587659}"/>
                    </a:ext>
                  </a:extLst>
                </p:cNvPr>
                <p:cNvSpPr/>
                <p:nvPr/>
              </p:nvSpPr>
              <p:spPr bwMode="gray">
                <a:xfrm>
                  <a:off x="4876188" y="4862873"/>
                  <a:ext cx="216000" cy="21600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C563021A-DDA6-0C80-854D-1822275876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876188" y="4862873"/>
                  <a:ext cx="216000" cy="216000"/>
                </a:xfrm>
                <a:prstGeom prst="ellipse">
                  <a:avLst/>
                </a:prstGeom>
                <a:blipFill>
                  <a:blip r:embed="rId28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EA44726F-013C-8379-5D4B-E51C83B3415B}"/>
                    </a:ext>
                  </a:extLst>
                </p:cNvPr>
                <p:cNvSpPr/>
                <p:nvPr/>
              </p:nvSpPr>
              <p:spPr bwMode="gray">
                <a:xfrm>
                  <a:off x="4308330" y="4862873"/>
                  <a:ext cx="216000" cy="216000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EA44726F-013C-8379-5D4B-E51C83B341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308330" y="4862873"/>
                  <a:ext cx="216000" cy="216000"/>
                </a:xfrm>
                <a:prstGeom prst="ellipse">
                  <a:avLst/>
                </a:prstGeom>
                <a:blipFill>
                  <a:blip r:embed="rId29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230F757-4B6A-0E4B-E6D8-A8AEF3A90D66}"/>
              </a:ext>
            </a:extLst>
          </p:cNvPr>
          <p:cNvGrpSpPr/>
          <p:nvPr/>
        </p:nvGrpSpPr>
        <p:grpSpPr>
          <a:xfrm>
            <a:off x="5232250" y="3512004"/>
            <a:ext cx="779058" cy="216655"/>
            <a:chOff x="5232250" y="3512004"/>
            <a:chExt cx="779058" cy="2166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E8AC062F-869E-C427-6CC1-50403A642B03}"/>
                    </a:ext>
                  </a:extLst>
                </p:cNvPr>
                <p:cNvSpPr/>
                <p:nvPr/>
              </p:nvSpPr>
              <p:spPr bwMode="gray">
                <a:xfrm>
                  <a:off x="5795308" y="3512659"/>
                  <a:ext cx="216000" cy="21600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E8AC062F-869E-C427-6CC1-50403A642B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5795308" y="3512659"/>
                  <a:ext cx="216000" cy="216000"/>
                </a:xfrm>
                <a:prstGeom prst="ellipse">
                  <a:avLst/>
                </a:prstGeom>
                <a:blipFill>
                  <a:blip r:embed="rId30"/>
                  <a:stretch>
                    <a:fillRect l="-1111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37C87C01-7043-0D86-1289-6A963EC54B1A}"/>
                    </a:ext>
                  </a:extLst>
                </p:cNvPr>
                <p:cNvSpPr/>
                <p:nvPr/>
              </p:nvSpPr>
              <p:spPr bwMode="gray">
                <a:xfrm>
                  <a:off x="5232250" y="3512004"/>
                  <a:ext cx="216000" cy="216000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37C87C01-7043-0D86-1289-6A963EC54B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5232250" y="3512004"/>
                  <a:ext cx="216000" cy="216000"/>
                </a:xfrm>
                <a:prstGeom prst="ellipse">
                  <a:avLst/>
                </a:prstGeom>
                <a:blipFill>
                  <a:blip r:embed="rId31"/>
                  <a:stretch>
                    <a:fillRect l="-10526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D82183E-9AC1-6D53-1A9E-CADD9703A6D2}"/>
                </a:ext>
              </a:extLst>
            </p:cNvPr>
            <p:cNvCxnSpPr>
              <a:cxnSpLocks/>
              <a:stCxn id="87" idx="6"/>
              <a:endCxn id="86" idx="2"/>
            </p:cNvCxnSpPr>
            <p:nvPr/>
          </p:nvCxnSpPr>
          <p:spPr bwMode="gray">
            <a:xfrm>
              <a:off x="5448250" y="3620004"/>
              <a:ext cx="347058" cy="655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D7AEE56-6C5B-BBE8-827F-F78417DE5ACC}"/>
              </a:ext>
            </a:extLst>
          </p:cNvPr>
          <p:cNvGrpSpPr/>
          <p:nvPr/>
        </p:nvGrpSpPr>
        <p:grpSpPr>
          <a:xfrm>
            <a:off x="5228046" y="3838330"/>
            <a:ext cx="783262" cy="220766"/>
            <a:chOff x="5228046" y="3867265"/>
            <a:chExt cx="783262" cy="220766"/>
          </a:xfrm>
        </p:grpSpPr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8B0CB079-871A-6A70-8591-BF041D04FF8A}"/>
                </a:ext>
              </a:extLst>
            </p:cNvPr>
            <p:cNvCxnSpPr>
              <a:cxnSpLocks/>
              <a:stCxn id="94" idx="6"/>
              <a:endCxn id="95" idx="2"/>
            </p:cNvCxnSpPr>
            <p:nvPr/>
          </p:nvCxnSpPr>
          <p:spPr bwMode="gray">
            <a:xfrm>
              <a:off x="5444046" y="3975265"/>
              <a:ext cx="351262" cy="4766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8A4AB975-99B7-9BB9-C6D5-A435746F1FF6}"/>
                    </a:ext>
                  </a:extLst>
                </p:cNvPr>
                <p:cNvSpPr/>
                <p:nvPr/>
              </p:nvSpPr>
              <p:spPr bwMode="gray">
                <a:xfrm>
                  <a:off x="5228046" y="3867265"/>
                  <a:ext cx="216000" cy="21600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8A4AB975-99B7-9BB9-C6D5-A435746F1F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5228046" y="3867265"/>
                  <a:ext cx="216000" cy="216000"/>
                </a:xfrm>
                <a:prstGeom prst="ellipse">
                  <a:avLst/>
                </a:prstGeom>
                <a:blipFill>
                  <a:blip r:embed="rId32"/>
                  <a:stretch>
                    <a:fillRect l="-10526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CF5A1BE2-2B17-9714-EE3E-91DC9922A7B3}"/>
                    </a:ext>
                  </a:extLst>
                </p:cNvPr>
                <p:cNvSpPr/>
                <p:nvPr/>
              </p:nvSpPr>
              <p:spPr bwMode="gray">
                <a:xfrm>
                  <a:off x="5795308" y="3872031"/>
                  <a:ext cx="216000" cy="21600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CF5A1BE2-2B17-9714-EE3E-91DC9922A7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5795308" y="3872031"/>
                  <a:ext cx="216000" cy="216000"/>
                </a:xfrm>
                <a:prstGeom prst="ellipse">
                  <a:avLst/>
                </a:prstGeom>
                <a:blipFill>
                  <a:blip r:embed="rId33"/>
                  <a:stretch>
                    <a:fillRect l="-1111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EE4257D-6C82-9A1F-8C02-D2F2A5FAFC84}"/>
              </a:ext>
            </a:extLst>
          </p:cNvPr>
          <p:cNvGrpSpPr/>
          <p:nvPr/>
        </p:nvGrpSpPr>
        <p:grpSpPr>
          <a:xfrm>
            <a:off x="5231222" y="4183460"/>
            <a:ext cx="780086" cy="216000"/>
            <a:chOff x="5228046" y="4260750"/>
            <a:chExt cx="780086" cy="21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2D635874-DF23-D911-A075-13B89991F860}"/>
                    </a:ext>
                  </a:extLst>
                </p:cNvPr>
                <p:cNvSpPr/>
                <p:nvPr/>
              </p:nvSpPr>
              <p:spPr bwMode="gray">
                <a:xfrm>
                  <a:off x="5792132" y="4260750"/>
                  <a:ext cx="216000" cy="21600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2D635874-DF23-D911-A075-13B89991F8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5792132" y="4260750"/>
                  <a:ext cx="216000" cy="216000"/>
                </a:xfrm>
                <a:prstGeom prst="ellipse">
                  <a:avLst/>
                </a:prstGeom>
                <a:blipFill>
                  <a:blip r:embed="rId34"/>
                  <a:stretch>
                    <a:fillRect l="-1111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D755C079-CE25-780E-46F3-5040AF821D74}"/>
                </a:ext>
              </a:extLst>
            </p:cNvPr>
            <p:cNvCxnSpPr>
              <a:cxnSpLocks/>
              <a:stCxn id="103" idx="6"/>
              <a:endCxn id="101" idx="2"/>
            </p:cNvCxnSpPr>
            <p:nvPr/>
          </p:nvCxnSpPr>
          <p:spPr bwMode="gray">
            <a:xfrm>
              <a:off x="5444046" y="4368750"/>
              <a:ext cx="3480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7156A5CA-E12D-54E9-E1B0-C81262E560CB}"/>
                    </a:ext>
                  </a:extLst>
                </p:cNvPr>
                <p:cNvSpPr/>
                <p:nvPr/>
              </p:nvSpPr>
              <p:spPr bwMode="gray">
                <a:xfrm>
                  <a:off x="5228046" y="4260750"/>
                  <a:ext cx="216000" cy="21600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7156A5CA-E12D-54E9-E1B0-C81262E560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5228046" y="4260750"/>
                  <a:ext cx="216000" cy="216000"/>
                </a:xfrm>
                <a:prstGeom prst="ellipse">
                  <a:avLst/>
                </a:prstGeom>
                <a:blipFill>
                  <a:blip r:embed="rId35"/>
                  <a:stretch>
                    <a:fillRect l="-10526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764A8F2-81F2-D600-FC68-E07D1064A474}"/>
              </a:ext>
            </a:extLst>
          </p:cNvPr>
          <p:cNvGrpSpPr/>
          <p:nvPr/>
        </p:nvGrpSpPr>
        <p:grpSpPr>
          <a:xfrm>
            <a:off x="6431614" y="3579886"/>
            <a:ext cx="769736" cy="648024"/>
            <a:chOff x="6391766" y="3629062"/>
            <a:chExt cx="769736" cy="648024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E196533-B04D-0A02-634A-9B516B98A17D}"/>
                </a:ext>
              </a:extLst>
            </p:cNvPr>
            <p:cNvCxnSpPr>
              <a:cxnSpLocks/>
              <a:stCxn id="112" idx="3"/>
              <a:endCxn id="111" idx="7"/>
            </p:cNvCxnSpPr>
            <p:nvPr/>
          </p:nvCxnSpPr>
          <p:spPr bwMode="gray">
            <a:xfrm flipH="1">
              <a:off x="6576134" y="3813430"/>
              <a:ext cx="396664" cy="8156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2489376B-A015-EDAA-F080-56E67A4DF2B3}"/>
                    </a:ext>
                  </a:extLst>
                </p:cNvPr>
                <p:cNvSpPr/>
                <p:nvPr/>
              </p:nvSpPr>
              <p:spPr bwMode="gray">
                <a:xfrm>
                  <a:off x="6391766" y="3863361"/>
                  <a:ext cx="216000" cy="216000"/>
                </a:xfrm>
                <a:prstGeom prst="ellipse">
                  <a:avLst/>
                </a:prstGeom>
                <a:noFill/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2489376B-A015-EDAA-F080-56E67A4DF2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391766" y="3863361"/>
                  <a:ext cx="216000" cy="216000"/>
                </a:xfrm>
                <a:prstGeom prst="ellipse">
                  <a:avLst/>
                </a:prstGeom>
                <a:blipFill>
                  <a:blip r:embed="rId36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06FF5868-C96C-6A69-514F-E029438E30FE}"/>
                    </a:ext>
                  </a:extLst>
                </p:cNvPr>
                <p:cNvSpPr/>
                <p:nvPr/>
              </p:nvSpPr>
              <p:spPr bwMode="gray">
                <a:xfrm>
                  <a:off x="6941166" y="3629062"/>
                  <a:ext cx="216000" cy="216000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06FF5868-C96C-6A69-514F-E029438E30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941166" y="3629062"/>
                  <a:ext cx="216000" cy="216000"/>
                </a:xfrm>
                <a:prstGeom prst="ellipse">
                  <a:avLst/>
                </a:prstGeom>
                <a:blipFill>
                  <a:blip r:embed="rId37"/>
                  <a:stretch>
                    <a:fillRect l="-10526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07BFDD97-6B76-42E8-5BF2-4652C22BCAD7}"/>
                    </a:ext>
                  </a:extLst>
                </p:cNvPr>
                <p:cNvSpPr/>
                <p:nvPr/>
              </p:nvSpPr>
              <p:spPr bwMode="gray">
                <a:xfrm>
                  <a:off x="6945502" y="4061086"/>
                  <a:ext cx="216000" cy="216000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07BFDD97-6B76-42E8-5BF2-4652C22BCA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945502" y="4061086"/>
                  <a:ext cx="216000" cy="216000"/>
                </a:xfrm>
                <a:prstGeom prst="ellipse">
                  <a:avLst/>
                </a:prstGeom>
                <a:blipFill>
                  <a:blip r:embed="rId38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CF2A3A57-6428-EC8A-2982-9EC39B61BDAF}"/>
                </a:ext>
              </a:extLst>
            </p:cNvPr>
            <p:cNvCxnSpPr>
              <a:cxnSpLocks/>
              <a:stCxn id="111" idx="6"/>
              <a:endCxn id="113" idx="1"/>
            </p:cNvCxnSpPr>
            <p:nvPr/>
          </p:nvCxnSpPr>
          <p:spPr bwMode="gray">
            <a:xfrm>
              <a:off x="6607766" y="3971361"/>
              <a:ext cx="369368" cy="121357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6932DB93-0DD5-B24B-352A-EFEAB601197B}"/>
                </a:ext>
              </a:extLst>
            </p:cNvPr>
            <p:cNvCxnSpPr>
              <a:cxnSpLocks/>
              <a:stCxn id="112" idx="4"/>
              <a:endCxn id="113" idx="0"/>
            </p:cNvCxnSpPr>
            <p:nvPr/>
          </p:nvCxnSpPr>
          <p:spPr bwMode="gray">
            <a:xfrm>
              <a:off x="7049166" y="3845062"/>
              <a:ext cx="4336" cy="216024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7AC75B5-B78D-79D4-7435-F314C6F19666}"/>
              </a:ext>
            </a:extLst>
          </p:cNvPr>
          <p:cNvGrpSpPr/>
          <p:nvPr/>
        </p:nvGrpSpPr>
        <p:grpSpPr>
          <a:xfrm>
            <a:off x="6380535" y="4363879"/>
            <a:ext cx="783103" cy="640334"/>
            <a:chOff x="6372224" y="4443982"/>
            <a:chExt cx="783103" cy="640334"/>
          </a:xfrm>
        </p:grpSpPr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4EB31D50-8C59-B4C7-A948-3422595068C0}"/>
                </a:ext>
              </a:extLst>
            </p:cNvPr>
            <p:cNvCxnSpPr>
              <a:cxnSpLocks/>
              <a:stCxn id="119" idx="3"/>
              <a:endCxn id="121" idx="7"/>
            </p:cNvCxnSpPr>
            <p:nvPr/>
          </p:nvCxnSpPr>
          <p:spPr bwMode="gray">
            <a:xfrm flipH="1">
              <a:off x="6556592" y="4628350"/>
              <a:ext cx="414367" cy="127558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BAE2ECE1-F856-81EB-A222-6427DCBE20D4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 bwMode="gray">
            <a:xfrm>
              <a:off x="7047327" y="4659982"/>
              <a:ext cx="0" cy="208334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2A767E25-2FF0-2988-91C4-172243155903}"/>
                    </a:ext>
                  </a:extLst>
                </p:cNvPr>
                <p:cNvSpPr/>
                <p:nvPr/>
              </p:nvSpPr>
              <p:spPr bwMode="gray">
                <a:xfrm>
                  <a:off x="6939327" y="4443982"/>
                  <a:ext cx="216000" cy="21600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2A767E25-2FF0-2988-91C4-1722431559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939327" y="4443982"/>
                  <a:ext cx="216000" cy="216000"/>
                </a:xfrm>
                <a:prstGeom prst="ellipse">
                  <a:avLst/>
                </a:prstGeom>
                <a:blipFill>
                  <a:blip r:embed="rId39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EF498F87-DD43-1A68-D61F-1F457E07930C}"/>
                    </a:ext>
                  </a:extLst>
                </p:cNvPr>
                <p:cNvSpPr/>
                <p:nvPr/>
              </p:nvSpPr>
              <p:spPr bwMode="gray">
                <a:xfrm>
                  <a:off x="6939327" y="4868316"/>
                  <a:ext cx="216000" cy="216000"/>
                </a:xfrm>
                <a:prstGeom prst="ellips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EF498F87-DD43-1A68-D61F-1F457E0793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939327" y="4868316"/>
                  <a:ext cx="216000" cy="216000"/>
                </a:xfrm>
                <a:prstGeom prst="ellipse">
                  <a:avLst/>
                </a:prstGeom>
                <a:blipFill>
                  <a:blip r:embed="rId40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0EB03FE6-495F-9D51-89FF-86B3C89B9BD3}"/>
                    </a:ext>
                  </a:extLst>
                </p:cNvPr>
                <p:cNvSpPr/>
                <p:nvPr/>
              </p:nvSpPr>
              <p:spPr bwMode="gray">
                <a:xfrm>
                  <a:off x="6372224" y="4724276"/>
                  <a:ext cx="216000" cy="216000"/>
                </a:xfrm>
                <a:prstGeom prst="ellipse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0EB03FE6-495F-9D51-89FF-86B3C89B9B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372224" y="4724276"/>
                  <a:ext cx="216000" cy="216000"/>
                </a:xfrm>
                <a:prstGeom prst="ellipse">
                  <a:avLst/>
                </a:prstGeom>
                <a:blipFill>
                  <a:blip r:embed="rId41"/>
                  <a:stretch>
                    <a:fillRect l="-1111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79D149CB-C224-CFF6-C32B-D49F681F7E94}"/>
                </a:ext>
              </a:extLst>
            </p:cNvPr>
            <p:cNvCxnSpPr>
              <a:cxnSpLocks/>
              <a:stCxn id="121" idx="6"/>
              <a:endCxn id="120" idx="2"/>
            </p:cNvCxnSpPr>
            <p:nvPr/>
          </p:nvCxnSpPr>
          <p:spPr bwMode="gray">
            <a:xfrm>
              <a:off x="6588224" y="4832276"/>
              <a:ext cx="351103" cy="14404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92696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500"/>
                            </p:stCondLst>
                            <p:childTnLst>
                              <p:par>
                                <p:cTn id="1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00"/>
                            </p:stCondLst>
                            <p:childTnLst>
                              <p:par>
                                <p:cTn id="1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500"/>
                            </p:stCondLst>
                            <p:childTnLst>
                              <p:par>
                                <p:cTn id="1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30" grpId="0"/>
      <p:bldP spid="31" grpId="0"/>
      <p:bldP spid="32" grpId="0"/>
      <p:bldP spid="33" grpId="0" animBg="1"/>
      <p:bldP spid="34" grpId="0" animBg="1"/>
      <p:bldP spid="35" grpId="0" animBg="1"/>
      <p:bldP spid="37" grpId="0" animBg="1"/>
      <p:bldP spid="36" grpId="0" animBg="1"/>
      <p:bldP spid="38" grpId="0" animBg="1"/>
      <p:bldP spid="3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03791D5-0885-32E2-39E7-3F6B688B73E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658705" cy="835699"/>
              </a:xfrm>
            </p:spPr>
            <p:txBody>
              <a:bodyPr/>
              <a:lstStyle/>
              <a:p>
                <a:r>
                  <a:rPr lang="en-US" sz="1200" dirty="0"/>
                  <a:t>Assume that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∝</m:t>
                    </m:r>
                    <m:nary>
                      <m:naryPr>
                        <m:chr m:val="∏"/>
                        <m:supHide m:val="on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2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cliques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1200" dirty="0"/>
                  <a:t> and pick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1200" dirty="0"/>
                  <a:t>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such that removing all variables in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from the graph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200" dirty="0"/>
                  <a:t> separates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. Define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∖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2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2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03791D5-0885-32E2-39E7-3F6B688B7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658705" cy="835699"/>
              </a:xfrm>
              <a:blipFill>
                <a:blip r:embed="rId2"/>
                <a:stretch>
                  <a:fillRect t="-31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 Placeholder 1">
                <a:extLst>
                  <a:ext uri="{FF2B5EF4-FFF2-40B4-BE49-F238E27FC236}">
                    <a16:creationId xmlns:a16="http://schemas.microsoft.com/office/drawing/2014/main" id="{2C8B087D-872B-F455-509E-EBEBED66C340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51626" y="1868102"/>
                <a:ext cx="6483962" cy="2879558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dirty="0"/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cliques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sz="1200" dirty="0"/>
                  <a:t> separates in three disjoint sets</a:t>
                </a:r>
              </a:p>
              <a:p>
                <a:endParaRPr lang="en-US" sz="1200" dirty="0"/>
              </a:p>
              <a:p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r>
                  <a:rPr lang="en-US" sz="1200" dirty="0"/>
                  <a:t>Thus, the joint density has the following property</a:t>
                </a:r>
              </a:p>
              <a:p>
                <a:endParaRPr lang="en-US" sz="1200" dirty="0"/>
              </a:p>
              <a:p>
                <a:endParaRPr lang="en-US" sz="1200" dirty="0"/>
              </a:p>
              <a:p>
                <a:r>
                  <a:rPr lang="en-US" sz="1200" dirty="0"/>
                  <a:t>Because all variables in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separate</a:t>
                </a:r>
                <a:r>
                  <a:rPr lang="en-US" sz="1200" dirty="0">
                    <a:solidFill>
                      <a:srgbClr val="FFC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 we have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US" sz="1200" dirty="0"/>
                  <a:t> which are disjoint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are the variables in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200" dirty="0"/>
                  <a:t> which are in cliques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𝒞</m:t>
                        </m:r>
                      </m:e>
                      <m:sub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200" dirty="0"/>
                  <a:t> (and similar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). Thus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97" name="Text Placeholder 1">
                <a:extLst>
                  <a:ext uri="{FF2B5EF4-FFF2-40B4-BE49-F238E27FC236}">
                    <a16:creationId xmlns:a16="http://schemas.microsoft.com/office/drawing/2014/main" id="{2C8B087D-872B-F455-509E-EBEBED66C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1626" y="1868102"/>
                <a:ext cx="6483962" cy="2879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ectangle 77">
            <a:extLst>
              <a:ext uri="{FF2B5EF4-FFF2-40B4-BE49-F238E27FC236}">
                <a16:creationId xmlns:a16="http://schemas.microsoft.com/office/drawing/2014/main" id="{8F5ACFE8-7DDB-16ED-E972-4F39EDDCCA3A}"/>
              </a:ext>
            </a:extLst>
          </p:cNvPr>
          <p:cNvSpPr/>
          <p:nvPr/>
        </p:nvSpPr>
        <p:spPr bwMode="gray">
          <a:xfrm>
            <a:off x="7020272" y="3291830"/>
            <a:ext cx="2016224" cy="1656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08677A-F0AB-F112-659F-28249313A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the Hammersley-Clifford Theorem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984CFDA-2C1B-FEE6-1270-CF616706DBAC}"/>
              </a:ext>
            </a:extLst>
          </p:cNvPr>
          <p:cNvCxnSpPr>
            <a:cxnSpLocks/>
            <a:stCxn id="8" idx="5"/>
            <a:endCxn id="14" idx="1"/>
          </p:cNvCxnSpPr>
          <p:nvPr/>
        </p:nvCxnSpPr>
        <p:spPr bwMode="gray">
          <a:xfrm>
            <a:off x="7564704" y="1321696"/>
            <a:ext cx="396664" cy="25765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22F973-E4C8-0BA0-78C2-116F5B40935A}"/>
              </a:ext>
            </a:extLst>
          </p:cNvPr>
          <p:cNvCxnSpPr>
            <a:cxnSpLocks/>
            <a:stCxn id="9" idx="3"/>
            <a:endCxn id="14" idx="7"/>
          </p:cNvCxnSpPr>
          <p:nvPr/>
        </p:nvCxnSpPr>
        <p:spPr bwMode="gray">
          <a:xfrm flipH="1">
            <a:off x="8114104" y="1321696"/>
            <a:ext cx="521976" cy="25765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AEA355-7404-D218-07C5-99748553465F}"/>
              </a:ext>
            </a:extLst>
          </p:cNvPr>
          <p:cNvCxnSpPr>
            <a:cxnSpLocks/>
            <a:stCxn id="9" idx="4"/>
            <a:endCxn id="13" idx="0"/>
          </p:cNvCxnSpPr>
          <p:nvPr/>
        </p:nvCxnSpPr>
        <p:spPr bwMode="gray">
          <a:xfrm>
            <a:off x="8712448" y="1353328"/>
            <a:ext cx="0" cy="3384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3BEF16-AD87-9EA7-F6C0-F44F1D8B2986}"/>
              </a:ext>
            </a:extLst>
          </p:cNvPr>
          <p:cNvCxnSpPr>
            <a:cxnSpLocks/>
            <a:stCxn id="14" idx="3"/>
            <a:endCxn id="10" idx="7"/>
          </p:cNvCxnSpPr>
          <p:nvPr/>
        </p:nvCxnSpPr>
        <p:spPr bwMode="gray">
          <a:xfrm flipH="1">
            <a:off x="7564704" y="1732091"/>
            <a:ext cx="396664" cy="23598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2729E25-B2BB-635D-5002-376BE78BBFEF}"/>
                  </a:ext>
                </a:extLst>
              </p:cNvPr>
              <p:cNvSpPr/>
              <p:nvPr/>
            </p:nvSpPr>
            <p:spPr bwMode="gray">
              <a:xfrm>
                <a:off x="7380336" y="1137328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2729E25-B2BB-635D-5002-376BE78BB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80336" y="1137328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235F8D3-D3BE-9BF4-50C8-1B531208ED66}"/>
                  </a:ext>
                </a:extLst>
              </p:cNvPr>
              <p:cNvSpPr/>
              <p:nvPr/>
            </p:nvSpPr>
            <p:spPr bwMode="gray">
              <a:xfrm>
                <a:off x="8604448" y="1137328"/>
                <a:ext cx="216000" cy="216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235F8D3-D3BE-9BF4-50C8-1B531208ED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04448" y="1137328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1B547CC-6280-6546-88FB-E375E88DA661}"/>
                  </a:ext>
                </a:extLst>
              </p:cNvPr>
              <p:cNvSpPr/>
              <p:nvPr/>
            </p:nvSpPr>
            <p:spPr bwMode="gray">
              <a:xfrm>
                <a:off x="7380336" y="1936442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1B547CC-6280-6546-88FB-E375E88DA6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80336" y="1936442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144770F-EB16-B7A4-A17F-69C503A95A1B}"/>
                  </a:ext>
                </a:extLst>
              </p:cNvPr>
              <p:cNvSpPr/>
              <p:nvPr/>
            </p:nvSpPr>
            <p:spPr bwMode="gray">
              <a:xfrm>
                <a:off x="8604448" y="2224498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144770F-EB16-B7A4-A17F-69C503A95A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04448" y="2224498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96FB53-D27A-77BD-9FC2-7BBAAAA6BB72}"/>
              </a:ext>
            </a:extLst>
          </p:cNvPr>
          <p:cNvCxnSpPr>
            <a:cxnSpLocks/>
            <a:stCxn id="13" idx="4"/>
            <a:endCxn id="11" idx="0"/>
          </p:cNvCxnSpPr>
          <p:nvPr/>
        </p:nvCxnSpPr>
        <p:spPr bwMode="gray">
          <a:xfrm>
            <a:off x="8712448" y="1907763"/>
            <a:ext cx="0" cy="3167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011D4AD-D9DB-CDCC-3117-4DA2F4200FF4}"/>
                  </a:ext>
                </a:extLst>
              </p:cNvPr>
              <p:cNvSpPr/>
              <p:nvPr/>
            </p:nvSpPr>
            <p:spPr bwMode="gray">
              <a:xfrm>
                <a:off x="8604448" y="1691763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011D4AD-D9DB-CDCC-3117-4DA2F4200F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04448" y="1691763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287D7B-3B89-0303-D53C-8A32C9D99D2B}"/>
                  </a:ext>
                </a:extLst>
              </p:cNvPr>
              <p:cNvSpPr/>
              <p:nvPr/>
            </p:nvSpPr>
            <p:spPr bwMode="gray">
              <a:xfrm>
                <a:off x="7929736" y="1547723"/>
                <a:ext cx="216000" cy="2160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287D7B-3B89-0303-D53C-8A32C9D99D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29736" y="1547723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ED239BD-56DB-F247-9354-6FB190B201AE}"/>
                  </a:ext>
                </a:extLst>
              </p:cNvPr>
              <p:cNvSpPr/>
              <p:nvPr/>
            </p:nvSpPr>
            <p:spPr bwMode="gray">
              <a:xfrm>
                <a:off x="7934072" y="2296506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ED239BD-56DB-F247-9354-6FB190B201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34072" y="2296506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84A424-EA9F-638C-3909-AA849C475D08}"/>
              </a:ext>
            </a:extLst>
          </p:cNvPr>
          <p:cNvCxnSpPr>
            <a:cxnSpLocks/>
            <a:stCxn id="10" idx="5"/>
            <a:endCxn id="15" idx="1"/>
          </p:cNvCxnSpPr>
          <p:nvPr/>
        </p:nvCxnSpPr>
        <p:spPr bwMode="gray">
          <a:xfrm>
            <a:off x="7564704" y="2120810"/>
            <a:ext cx="401000" cy="2073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CF171E7-2AC1-292C-14E7-6C593168A451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 bwMode="gray">
          <a:xfrm>
            <a:off x="8037736" y="1763723"/>
            <a:ext cx="4336" cy="53278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7F4EE8-D342-60AC-A70B-785EEF6FF4FD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 bwMode="gray">
          <a:xfrm>
            <a:off x="8145736" y="1655723"/>
            <a:ext cx="458712" cy="1440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7A6468-DC8D-9849-3582-B3B3F8B9A0A0}"/>
              </a:ext>
            </a:extLst>
          </p:cNvPr>
          <p:cNvCxnSpPr>
            <a:cxnSpLocks/>
            <a:endCxn id="10" idx="0"/>
          </p:cNvCxnSpPr>
          <p:nvPr/>
        </p:nvCxnSpPr>
        <p:spPr bwMode="gray">
          <a:xfrm>
            <a:off x="7488336" y="1799763"/>
            <a:ext cx="0" cy="13667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A2F448-80F8-5AFF-2B5B-685B021F3492}"/>
              </a:ext>
            </a:extLst>
          </p:cNvPr>
          <p:cNvCxnSpPr>
            <a:cxnSpLocks/>
            <a:endCxn id="9" idx="7"/>
          </p:cNvCxnSpPr>
          <p:nvPr/>
        </p:nvCxnSpPr>
        <p:spPr bwMode="gray">
          <a:xfrm flipH="1">
            <a:off x="8788816" y="1072346"/>
            <a:ext cx="114424" cy="9661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4552A65-834E-0537-4B25-BF44FD4D10FD}"/>
                  </a:ext>
                </a:extLst>
              </p:cNvPr>
              <p:cNvSpPr/>
              <p:nvPr/>
            </p:nvSpPr>
            <p:spPr bwMode="gray">
              <a:xfrm>
                <a:off x="7441175" y="3032929"/>
                <a:ext cx="216000" cy="216000"/>
              </a:xfrm>
              <a:prstGeom prst="ellipse">
                <a:avLst/>
              </a:prstGeom>
              <a:solidFill>
                <a:srgbClr val="FFC000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4552A65-834E-0537-4B25-BF44FD4D10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41175" y="3032929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AC5B99D-65DD-4873-A677-7D16C231BDBB}"/>
                  </a:ext>
                </a:extLst>
              </p:cNvPr>
              <p:cNvSpPr/>
              <p:nvPr/>
            </p:nvSpPr>
            <p:spPr bwMode="gray">
              <a:xfrm>
                <a:off x="8441794" y="3032071"/>
                <a:ext cx="216000" cy="216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AC5B99D-65DD-4873-A677-7D16C231BD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441794" y="3032071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16EA281-4031-015C-7C19-D61D3ED4A91F}"/>
                  </a:ext>
                </a:extLst>
              </p:cNvPr>
              <p:cNvSpPr/>
              <p:nvPr/>
            </p:nvSpPr>
            <p:spPr bwMode="gray">
              <a:xfrm>
                <a:off x="5203324" y="1472065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16EA281-4031-015C-7C19-D61D3ED4A9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03324" y="1472065"/>
                <a:ext cx="216000" cy="216000"/>
              </a:xfrm>
              <a:prstGeom prst="ellipse">
                <a:avLst/>
              </a:prstGeom>
              <a:blipFill>
                <a:blip r:embed="rId1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BF5C10B-4568-7A56-6E1F-A892C2C7094F}"/>
                  </a:ext>
                </a:extLst>
              </p:cNvPr>
              <p:cNvSpPr/>
              <p:nvPr/>
            </p:nvSpPr>
            <p:spPr bwMode="gray">
              <a:xfrm>
                <a:off x="6345935" y="1472065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BF5C10B-4568-7A56-6E1F-A892C2C709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45935" y="1472065"/>
                <a:ext cx="216000" cy="216000"/>
              </a:xfrm>
              <a:prstGeom prst="ellipse">
                <a:avLst/>
              </a:prstGeom>
              <a:blipFill>
                <a:blip r:embed="rId14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4E81CA1-8A5C-2491-9F4D-6E7519FA4B4A}"/>
                  </a:ext>
                </a:extLst>
              </p:cNvPr>
              <p:cNvSpPr/>
              <p:nvPr/>
            </p:nvSpPr>
            <p:spPr bwMode="gray">
              <a:xfrm>
                <a:off x="6726806" y="1472065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4E81CA1-8A5C-2491-9F4D-6E7519FA4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26806" y="1472065"/>
                <a:ext cx="216000" cy="216000"/>
              </a:xfrm>
              <a:prstGeom prst="ellipse">
                <a:avLst/>
              </a:prstGeom>
              <a:blipFill>
                <a:blip r:embed="rId15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295D764-496E-1710-C706-FEB1B6FE0DE7}"/>
                  </a:ext>
                </a:extLst>
              </p:cNvPr>
              <p:cNvSpPr/>
              <p:nvPr/>
            </p:nvSpPr>
            <p:spPr bwMode="gray">
              <a:xfrm>
                <a:off x="5584194" y="1472065"/>
                <a:ext cx="216000" cy="21600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295D764-496E-1710-C706-FEB1B6FE0D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4194" y="1472065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FDEB0A4-37F6-B398-855E-C807CC94CA20}"/>
                  </a:ext>
                </a:extLst>
              </p:cNvPr>
              <p:cNvSpPr/>
              <p:nvPr/>
            </p:nvSpPr>
            <p:spPr bwMode="gray">
              <a:xfrm>
                <a:off x="5965064" y="1472065"/>
                <a:ext cx="216000" cy="216000"/>
              </a:xfrm>
              <a:prstGeom prst="ellipse">
                <a:avLst/>
              </a:prstGeom>
              <a:solidFill>
                <a:srgbClr val="00B050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FDEB0A4-37F6-B398-855E-C807CC94CA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65064" y="1472065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E8E85BF1-ECE3-36B1-719A-EB69A6E63E3E}"/>
              </a:ext>
            </a:extLst>
          </p:cNvPr>
          <p:cNvGrpSpPr/>
          <p:nvPr/>
        </p:nvGrpSpPr>
        <p:grpSpPr>
          <a:xfrm>
            <a:off x="6156370" y="1853054"/>
            <a:ext cx="789101" cy="222482"/>
            <a:chOff x="4308330" y="3506177"/>
            <a:chExt cx="789101" cy="22248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746E6C5-767A-3D88-518C-CD4A39539B2F}"/>
                </a:ext>
              </a:extLst>
            </p:cNvPr>
            <p:cNvCxnSpPr>
              <a:cxnSpLocks/>
              <a:stCxn id="30" idx="6"/>
              <a:endCxn id="31" idx="2"/>
            </p:cNvCxnSpPr>
            <p:nvPr/>
          </p:nvCxnSpPr>
          <p:spPr bwMode="gray">
            <a:xfrm>
              <a:off x="4524330" y="3614177"/>
              <a:ext cx="357101" cy="6482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B4C85C21-C722-63CD-6AC2-9DEFC3F33EDD}"/>
                    </a:ext>
                  </a:extLst>
                </p:cNvPr>
                <p:cNvSpPr/>
                <p:nvPr/>
              </p:nvSpPr>
              <p:spPr bwMode="gray">
                <a:xfrm>
                  <a:off x="4308330" y="3506177"/>
                  <a:ext cx="216000" cy="216000"/>
                </a:xfrm>
                <a:prstGeom prst="ellipse">
                  <a:avLst/>
                </a:prstGeom>
                <a:solidFill>
                  <a:srgbClr val="00B050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B4C85C21-C722-63CD-6AC2-9DEFC3F33E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308330" y="3506177"/>
                  <a:ext cx="216000" cy="216000"/>
                </a:xfrm>
                <a:prstGeom prst="ellipse">
                  <a:avLst/>
                </a:prstGeom>
                <a:blipFill>
                  <a:blip r:embed="rId18"/>
                  <a:stretch>
                    <a:fillRect l="-10526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41D32716-9D0E-F245-DDD6-E6D9D9079666}"/>
                    </a:ext>
                  </a:extLst>
                </p:cNvPr>
                <p:cNvSpPr/>
                <p:nvPr/>
              </p:nvSpPr>
              <p:spPr bwMode="gray">
                <a:xfrm>
                  <a:off x="4881431" y="3512659"/>
                  <a:ext cx="216000" cy="216000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41D32716-9D0E-F245-DDD6-E6D9D90796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881431" y="3512659"/>
                  <a:ext cx="216000" cy="216000"/>
                </a:xfrm>
                <a:prstGeom prst="ellipse">
                  <a:avLst/>
                </a:prstGeom>
                <a:blipFill>
                  <a:blip r:embed="rId19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BB285FD-1B83-F181-C56E-25A97E876E56}"/>
              </a:ext>
            </a:extLst>
          </p:cNvPr>
          <p:cNvGrpSpPr/>
          <p:nvPr/>
        </p:nvGrpSpPr>
        <p:grpSpPr>
          <a:xfrm>
            <a:off x="7166634" y="3842025"/>
            <a:ext cx="783858" cy="216000"/>
            <a:chOff x="4308330" y="3872031"/>
            <a:chExt cx="783858" cy="216000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1D14C78-5AC1-EAF6-C8B6-A2E15AC3BB02}"/>
                </a:ext>
              </a:extLst>
            </p:cNvPr>
            <p:cNvCxnSpPr>
              <a:cxnSpLocks/>
              <a:stCxn id="35" idx="2"/>
              <a:endCxn id="34" idx="6"/>
            </p:cNvCxnSpPr>
            <p:nvPr/>
          </p:nvCxnSpPr>
          <p:spPr bwMode="gray">
            <a:xfrm flipH="1">
              <a:off x="4524330" y="3980031"/>
              <a:ext cx="35185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6C76CEC1-90DD-8DBC-8C3A-EFE15CA1FC0E}"/>
                    </a:ext>
                  </a:extLst>
                </p:cNvPr>
                <p:cNvSpPr/>
                <p:nvPr/>
              </p:nvSpPr>
              <p:spPr bwMode="gray">
                <a:xfrm>
                  <a:off x="4308330" y="3872031"/>
                  <a:ext cx="216000" cy="216000"/>
                </a:xfrm>
                <a:prstGeom prst="ellipse">
                  <a:avLst/>
                </a:prstGeom>
                <a:solidFill>
                  <a:srgbClr val="FFC000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6C76CEC1-90DD-8DBC-8C3A-EFE15CA1FC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308330" y="3872031"/>
                  <a:ext cx="216000" cy="216000"/>
                </a:xfrm>
                <a:prstGeom prst="ellipse">
                  <a:avLst/>
                </a:prstGeom>
                <a:blipFill>
                  <a:blip r:embed="rId20"/>
                  <a:stretch>
                    <a:fillRect l="-1111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3D807522-E6A5-7A2E-60DC-0D4923419202}"/>
                    </a:ext>
                  </a:extLst>
                </p:cNvPr>
                <p:cNvSpPr/>
                <p:nvPr/>
              </p:nvSpPr>
              <p:spPr bwMode="gray">
                <a:xfrm>
                  <a:off x="4876188" y="3872031"/>
                  <a:ext cx="216000" cy="216000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3D807522-E6A5-7A2E-60DC-0D49234192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876188" y="3872031"/>
                  <a:ext cx="216000" cy="216000"/>
                </a:xfrm>
                <a:prstGeom prst="ellipse">
                  <a:avLst/>
                </a:prstGeom>
                <a:blipFill>
                  <a:blip r:embed="rId21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DDE626E-46CE-18CB-FE81-38A8FF1C124C}"/>
              </a:ext>
            </a:extLst>
          </p:cNvPr>
          <p:cNvGrpSpPr/>
          <p:nvPr/>
        </p:nvGrpSpPr>
        <p:grpSpPr>
          <a:xfrm>
            <a:off x="7161127" y="3393572"/>
            <a:ext cx="787482" cy="219445"/>
            <a:chOff x="4309685" y="4282438"/>
            <a:chExt cx="787482" cy="2194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B97EAAE7-E957-9AE3-CF04-7B41E29EDEC6}"/>
                    </a:ext>
                  </a:extLst>
                </p:cNvPr>
                <p:cNvSpPr/>
                <p:nvPr/>
              </p:nvSpPr>
              <p:spPr bwMode="gray">
                <a:xfrm>
                  <a:off x="4309685" y="4282438"/>
                  <a:ext cx="216000" cy="216000"/>
                </a:xfrm>
                <a:prstGeom prst="ellipse">
                  <a:avLst/>
                </a:prstGeom>
                <a:solidFill>
                  <a:srgbClr val="FFC000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B97EAAE7-E957-9AE3-CF04-7B41E29EDE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309685" y="4282438"/>
                  <a:ext cx="216000" cy="216000"/>
                </a:xfrm>
                <a:prstGeom prst="ellipse">
                  <a:avLst/>
                </a:prstGeom>
                <a:blipFill>
                  <a:blip r:embed="rId22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2BA8A2DD-0295-427C-1C65-FCF789765628}"/>
                    </a:ext>
                  </a:extLst>
                </p:cNvPr>
                <p:cNvSpPr/>
                <p:nvPr/>
              </p:nvSpPr>
              <p:spPr bwMode="gray">
                <a:xfrm>
                  <a:off x="4881167" y="4285883"/>
                  <a:ext cx="216000" cy="216000"/>
                </a:xfrm>
                <a:prstGeom prst="ellipse">
                  <a:avLst/>
                </a:prstGeom>
                <a:solidFill>
                  <a:srgbClr val="00B050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2BA8A2DD-0295-427C-1C65-FCF7897656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881167" y="4285883"/>
                  <a:ext cx="216000" cy="216000"/>
                </a:xfrm>
                <a:prstGeom prst="ellipse">
                  <a:avLst/>
                </a:prstGeom>
                <a:blipFill>
                  <a:blip r:embed="rId23"/>
                  <a:stretch>
                    <a:fillRect l="-10526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9D21BB4-65E8-AA1C-F1A1-8A93C21E09A2}"/>
                </a:ext>
              </a:extLst>
            </p:cNvPr>
            <p:cNvCxnSpPr>
              <a:cxnSpLocks/>
              <a:stCxn id="37" idx="6"/>
              <a:endCxn id="38" idx="2"/>
            </p:cNvCxnSpPr>
            <p:nvPr/>
          </p:nvCxnSpPr>
          <p:spPr bwMode="gray">
            <a:xfrm>
              <a:off x="4525685" y="4390438"/>
              <a:ext cx="355482" cy="3445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439AFC5-CE76-AB5C-4009-B3271EF2DA3F}"/>
              </a:ext>
            </a:extLst>
          </p:cNvPr>
          <p:cNvGrpSpPr/>
          <p:nvPr/>
        </p:nvGrpSpPr>
        <p:grpSpPr>
          <a:xfrm>
            <a:off x="6157392" y="2279232"/>
            <a:ext cx="783858" cy="221573"/>
            <a:chOff x="4308330" y="4538873"/>
            <a:chExt cx="783858" cy="2215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B63C8A1-C596-1FF9-7655-D5934C7C745B}"/>
                    </a:ext>
                  </a:extLst>
                </p:cNvPr>
                <p:cNvSpPr/>
                <p:nvPr/>
              </p:nvSpPr>
              <p:spPr bwMode="gray">
                <a:xfrm>
                  <a:off x="4308330" y="4538873"/>
                  <a:ext cx="216000" cy="216000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B63C8A1-C596-1FF9-7655-D5934C7C74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308330" y="4538873"/>
                  <a:ext cx="216000" cy="216000"/>
                </a:xfrm>
                <a:prstGeom prst="ellipse">
                  <a:avLst/>
                </a:prstGeom>
                <a:blipFill>
                  <a:blip r:embed="rId24"/>
                  <a:stretch>
                    <a:fillRect l="-10526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FE0CD43D-E2EE-AC2F-5D05-E7EC659AD0AC}"/>
                    </a:ext>
                  </a:extLst>
                </p:cNvPr>
                <p:cNvSpPr/>
                <p:nvPr/>
              </p:nvSpPr>
              <p:spPr bwMode="gray">
                <a:xfrm>
                  <a:off x="4876188" y="4544446"/>
                  <a:ext cx="216000" cy="216000"/>
                </a:xfrm>
                <a:prstGeom prst="ellipse">
                  <a:avLst/>
                </a:prstGeom>
                <a:solidFill>
                  <a:srgbClr val="00B050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FE0CD43D-E2EE-AC2F-5D05-E7EC659AD0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876188" y="4544446"/>
                  <a:ext cx="216000" cy="216000"/>
                </a:xfrm>
                <a:prstGeom prst="ellipse">
                  <a:avLst/>
                </a:prstGeom>
                <a:blipFill>
                  <a:blip r:embed="rId25"/>
                  <a:stretch>
                    <a:fillRect l="-5000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97E70F4-0A88-0286-BD66-BCCDDC1F85EC}"/>
                </a:ext>
              </a:extLst>
            </p:cNvPr>
            <p:cNvCxnSpPr>
              <a:cxnSpLocks/>
              <a:stCxn id="41" idx="6"/>
              <a:endCxn id="42" idx="2"/>
            </p:cNvCxnSpPr>
            <p:nvPr/>
          </p:nvCxnSpPr>
          <p:spPr bwMode="gray">
            <a:xfrm>
              <a:off x="4524330" y="4646873"/>
              <a:ext cx="351858" cy="557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1999142-AF96-B5AA-1010-22B4F38EACC8}"/>
              </a:ext>
            </a:extLst>
          </p:cNvPr>
          <p:cNvGrpSpPr/>
          <p:nvPr/>
        </p:nvGrpSpPr>
        <p:grpSpPr>
          <a:xfrm>
            <a:off x="8130266" y="3842025"/>
            <a:ext cx="783858" cy="216000"/>
            <a:chOff x="4308330" y="4862873"/>
            <a:chExt cx="783858" cy="216000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8363F80-A98C-AB26-E061-376DA00C4C6F}"/>
                </a:ext>
              </a:extLst>
            </p:cNvPr>
            <p:cNvCxnSpPr>
              <a:cxnSpLocks/>
              <a:stCxn id="46" idx="2"/>
              <a:endCxn id="47" idx="6"/>
            </p:cNvCxnSpPr>
            <p:nvPr/>
          </p:nvCxnSpPr>
          <p:spPr bwMode="gray">
            <a:xfrm flipH="1">
              <a:off x="4524330" y="4970873"/>
              <a:ext cx="35185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1C543460-F212-0457-EE93-3FB9DE18497B}"/>
                    </a:ext>
                  </a:extLst>
                </p:cNvPr>
                <p:cNvSpPr/>
                <p:nvPr/>
              </p:nvSpPr>
              <p:spPr bwMode="gray">
                <a:xfrm>
                  <a:off x="4876188" y="4862873"/>
                  <a:ext cx="216000" cy="21600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1C543460-F212-0457-EE93-3FB9DE1849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876188" y="4862873"/>
                  <a:ext cx="216000" cy="216000"/>
                </a:xfrm>
                <a:prstGeom prst="ellipse">
                  <a:avLst/>
                </a:prstGeom>
                <a:blipFill>
                  <a:blip r:embed="rId26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1A3CDE24-B99A-6BE6-3A63-7B58D3948583}"/>
                    </a:ext>
                  </a:extLst>
                </p:cNvPr>
                <p:cNvSpPr/>
                <p:nvPr/>
              </p:nvSpPr>
              <p:spPr bwMode="gray">
                <a:xfrm>
                  <a:off x="4308330" y="4862873"/>
                  <a:ext cx="216000" cy="216000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1A3CDE24-B99A-6BE6-3A63-7B58D39485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4308330" y="4862873"/>
                  <a:ext cx="216000" cy="216000"/>
                </a:xfrm>
                <a:prstGeom prst="ellipse">
                  <a:avLst/>
                </a:prstGeom>
                <a:blipFill>
                  <a:blip r:embed="rId27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77BAADC-6B16-4B1D-5D68-B64DCFE63E7F}"/>
              </a:ext>
            </a:extLst>
          </p:cNvPr>
          <p:cNvGrpSpPr/>
          <p:nvPr/>
        </p:nvGrpSpPr>
        <p:grpSpPr>
          <a:xfrm>
            <a:off x="5203324" y="1847716"/>
            <a:ext cx="779058" cy="216655"/>
            <a:chOff x="5232250" y="3512004"/>
            <a:chExt cx="779058" cy="2166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31B5AC6-1007-A033-27AA-47D4EEDBE7C9}"/>
                    </a:ext>
                  </a:extLst>
                </p:cNvPr>
                <p:cNvSpPr/>
                <p:nvPr/>
              </p:nvSpPr>
              <p:spPr bwMode="gray">
                <a:xfrm>
                  <a:off x="5795308" y="3512659"/>
                  <a:ext cx="216000" cy="216000"/>
                </a:xfrm>
                <a:prstGeom prst="ellipse">
                  <a:avLst/>
                </a:prstGeom>
                <a:solidFill>
                  <a:srgbClr val="00B050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31B5AC6-1007-A033-27AA-47D4EEDBE7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5795308" y="3512659"/>
                  <a:ext cx="216000" cy="216000"/>
                </a:xfrm>
                <a:prstGeom prst="ellipse">
                  <a:avLst/>
                </a:prstGeom>
                <a:blipFill>
                  <a:blip r:embed="rId28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3D2FDDB-91E9-2F3C-429D-46A5AE6FAF5E}"/>
                    </a:ext>
                  </a:extLst>
                </p:cNvPr>
                <p:cNvSpPr/>
                <p:nvPr/>
              </p:nvSpPr>
              <p:spPr bwMode="gray">
                <a:xfrm>
                  <a:off x="5232250" y="3512004"/>
                  <a:ext cx="216000" cy="216000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3D2FDDB-91E9-2F3C-429D-46A5AE6FAF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5232250" y="3512004"/>
                  <a:ext cx="216000" cy="216000"/>
                </a:xfrm>
                <a:prstGeom prst="ellipse">
                  <a:avLst/>
                </a:prstGeom>
                <a:blipFill>
                  <a:blip r:embed="rId29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6926F6D-4083-86EC-301F-999F8719EDF8}"/>
                </a:ext>
              </a:extLst>
            </p:cNvPr>
            <p:cNvCxnSpPr>
              <a:cxnSpLocks/>
              <a:stCxn id="50" idx="6"/>
              <a:endCxn id="49" idx="2"/>
            </p:cNvCxnSpPr>
            <p:nvPr/>
          </p:nvCxnSpPr>
          <p:spPr bwMode="gray">
            <a:xfrm>
              <a:off x="5448250" y="3620004"/>
              <a:ext cx="347058" cy="655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4A57A15-06AB-1808-D578-175F6EFA4A07}"/>
              </a:ext>
            </a:extLst>
          </p:cNvPr>
          <p:cNvGrpSpPr/>
          <p:nvPr/>
        </p:nvGrpSpPr>
        <p:grpSpPr>
          <a:xfrm>
            <a:off x="8125237" y="3405666"/>
            <a:ext cx="783262" cy="220766"/>
            <a:chOff x="5228046" y="3867265"/>
            <a:chExt cx="783262" cy="220766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88D5336-4E9A-0310-12AC-7DCEC415E733}"/>
                </a:ext>
              </a:extLst>
            </p:cNvPr>
            <p:cNvCxnSpPr>
              <a:cxnSpLocks/>
              <a:stCxn id="54" idx="6"/>
              <a:endCxn id="55" idx="2"/>
            </p:cNvCxnSpPr>
            <p:nvPr/>
          </p:nvCxnSpPr>
          <p:spPr bwMode="gray">
            <a:xfrm>
              <a:off x="5444046" y="3975265"/>
              <a:ext cx="351262" cy="4766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49EDE8E-E8E4-70B2-BA81-33DBFECFF3AB}"/>
                    </a:ext>
                  </a:extLst>
                </p:cNvPr>
                <p:cNvSpPr/>
                <p:nvPr/>
              </p:nvSpPr>
              <p:spPr bwMode="gray">
                <a:xfrm>
                  <a:off x="5228046" y="3867265"/>
                  <a:ext cx="216000" cy="21600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49EDE8E-E8E4-70B2-BA81-33DBFECFF3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5228046" y="3867265"/>
                  <a:ext cx="216000" cy="216000"/>
                </a:xfrm>
                <a:prstGeom prst="ellipse">
                  <a:avLst/>
                </a:prstGeom>
                <a:blipFill>
                  <a:blip r:embed="rId30"/>
                  <a:stretch>
                    <a:fillRect l="-10526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3AFF251D-C54C-4A2C-40B4-D7EAEBD696E7}"/>
                    </a:ext>
                  </a:extLst>
                </p:cNvPr>
                <p:cNvSpPr/>
                <p:nvPr/>
              </p:nvSpPr>
              <p:spPr bwMode="gray">
                <a:xfrm>
                  <a:off x="5795308" y="3872031"/>
                  <a:ext cx="216000" cy="216000"/>
                </a:xfrm>
                <a:prstGeom prst="ellipse">
                  <a:avLst/>
                </a:prstGeom>
                <a:solidFill>
                  <a:srgbClr val="00B050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3AFF251D-C54C-4A2C-40B4-D7EAEBD696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5795308" y="3872031"/>
                  <a:ext cx="216000" cy="216000"/>
                </a:xfrm>
                <a:prstGeom prst="ellipse">
                  <a:avLst/>
                </a:prstGeom>
                <a:blipFill>
                  <a:blip r:embed="rId31"/>
                  <a:stretch>
                    <a:fillRect l="-1111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DA7BE33-177E-B08C-2C83-AED41F6903B7}"/>
              </a:ext>
            </a:extLst>
          </p:cNvPr>
          <p:cNvGrpSpPr/>
          <p:nvPr/>
        </p:nvGrpSpPr>
        <p:grpSpPr>
          <a:xfrm>
            <a:off x="5203324" y="2282019"/>
            <a:ext cx="780086" cy="216000"/>
            <a:chOff x="5228046" y="4260750"/>
            <a:chExt cx="780086" cy="21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F805CB03-0502-A801-D788-25F916B601A4}"/>
                    </a:ext>
                  </a:extLst>
                </p:cNvPr>
                <p:cNvSpPr/>
                <p:nvPr/>
              </p:nvSpPr>
              <p:spPr bwMode="gray">
                <a:xfrm>
                  <a:off x="5792132" y="4260750"/>
                  <a:ext cx="216000" cy="216000"/>
                </a:xfrm>
                <a:prstGeom prst="ellipse">
                  <a:avLst/>
                </a:prstGeom>
                <a:solidFill>
                  <a:srgbClr val="00B050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F805CB03-0502-A801-D788-25F916B601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5792132" y="4260750"/>
                  <a:ext cx="216000" cy="216000"/>
                </a:xfrm>
                <a:prstGeom prst="ellipse">
                  <a:avLst/>
                </a:prstGeom>
                <a:blipFill>
                  <a:blip r:embed="rId32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7E926929-FDE3-D150-0B70-6113946153DB}"/>
                </a:ext>
              </a:extLst>
            </p:cNvPr>
            <p:cNvCxnSpPr>
              <a:cxnSpLocks/>
              <a:stCxn id="59" idx="6"/>
              <a:endCxn id="57" idx="2"/>
            </p:cNvCxnSpPr>
            <p:nvPr/>
          </p:nvCxnSpPr>
          <p:spPr bwMode="gray">
            <a:xfrm>
              <a:off x="5444046" y="4368750"/>
              <a:ext cx="3480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00CD820B-323C-8BC6-7BE1-EDFABFFF8F94}"/>
                    </a:ext>
                  </a:extLst>
                </p:cNvPr>
                <p:cNvSpPr/>
                <p:nvPr/>
              </p:nvSpPr>
              <p:spPr bwMode="gray">
                <a:xfrm>
                  <a:off x="5228046" y="4260750"/>
                  <a:ext cx="216000" cy="216000"/>
                </a:xfrm>
                <a:prstGeom prst="ellipse">
                  <a:avLst/>
                </a:prstGeom>
                <a:solidFill>
                  <a:srgbClr val="00B050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00CD820B-323C-8BC6-7BE1-EDFABFFF8F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5228046" y="4260750"/>
                  <a:ext cx="216000" cy="216000"/>
                </a:xfrm>
                <a:prstGeom prst="ellipse">
                  <a:avLst/>
                </a:prstGeom>
                <a:blipFill>
                  <a:blip r:embed="rId33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595C13C-BB7E-1D8C-CAD1-400B14973790}"/>
              </a:ext>
            </a:extLst>
          </p:cNvPr>
          <p:cNvGrpSpPr/>
          <p:nvPr/>
        </p:nvGrpSpPr>
        <p:grpSpPr>
          <a:xfrm>
            <a:off x="7157879" y="4299990"/>
            <a:ext cx="769736" cy="648024"/>
            <a:chOff x="6391766" y="3629062"/>
            <a:chExt cx="769736" cy="648024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4C1256FB-B41C-D4F6-7332-29378FDDD3D1}"/>
                </a:ext>
              </a:extLst>
            </p:cNvPr>
            <p:cNvCxnSpPr>
              <a:cxnSpLocks/>
              <a:stCxn id="63" idx="3"/>
              <a:endCxn id="62" idx="7"/>
            </p:cNvCxnSpPr>
            <p:nvPr/>
          </p:nvCxnSpPr>
          <p:spPr bwMode="gray">
            <a:xfrm flipH="1">
              <a:off x="6576134" y="3813430"/>
              <a:ext cx="396664" cy="8156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13B570B5-336E-6513-6EA3-D4751D3D1B3F}"/>
                    </a:ext>
                  </a:extLst>
                </p:cNvPr>
                <p:cNvSpPr/>
                <p:nvPr/>
              </p:nvSpPr>
              <p:spPr bwMode="gray">
                <a:xfrm>
                  <a:off x="6391766" y="3863361"/>
                  <a:ext cx="216000" cy="216000"/>
                </a:xfrm>
                <a:prstGeom prst="ellipse">
                  <a:avLst/>
                </a:prstGeom>
                <a:solidFill>
                  <a:srgbClr val="FFC000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13B570B5-336E-6513-6EA3-D4751D3D1B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391766" y="3863361"/>
                  <a:ext cx="216000" cy="216000"/>
                </a:xfrm>
                <a:prstGeom prst="ellipse">
                  <a:avLst/>
                </a:prstGeom>
                <a:blipFill>
                  <a:blip r:embed="rId34"/>
                  <a:stretch>
                    <a:fillRect l="-10526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3D5DDB15-6968-1B4E-F874-AAE2238BBC60}"/>
                    </a:ext>
                  </a:extLst>
                </p:cNvPr>
                <p:cNvSpPr/>
                <p:nvPr/>
              </p:nvSpPr>
              <p:spPr bwMode="gray">
                <a:xfrm>
                  <a:off x="6941166" y="3629062"/>
                  <a:ext cx="216000" cy="216000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3D5DDB15-6968-1B4E-F874-AAE2238BBC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941166" y="3629062"/>
                  <a:ext cx="216000" cy="216000"/>
                </a:xfrm>
                <a:prstGeom prst="ellipse">
                  <a:avLst/>
                </a:prstGeom>
                <a:blipFill>
                  <a:blip r:embed="rId35"/>
                  <a:stretch>
                    <a:fillRect l="-10526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4C02256E-7EE1-2930-512A-F6381D6B28FE}"/>
                    </a:ext>
                  </a:extLst>
                </p:cNvPr>
                <p:cNvSpPr/>
                <p:nvPr/>
              </p:nvSpPr>
              <p:spPr bwMode="gray">
                <a:xfrm>
                  <a:off x="6945502" y="4061086"/>
                  <a:ext cx="216000" cy="216000"/>
                </a:xfrm>
                <a:prstGeom prst="ellipse">
                  <a:avLst/>
                </a:prstGeom>
                <a:solidFill>
                  <a:srgbClr val="00B050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4C02256E-7EE1-2930-512A-F6381D6B28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945502" y="4061086"/>
                  <a:ext cx="216000" cy="216000"/>
                </a:xfrm>
                <a:prstGeom prst="ellipse">
                  <a:avLst/>
                </a:prstGeom>
                <a:blipFill>
                  <a:blip r:embed="rId36"/>
                  <a:stretch>
                    <a:fillRect l="-5263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2BC4AA5-0F71-44D8-4EF5-1D43A20DDD0B}"/>
                </a:ext>
              </a:extLst>
            </p:cNvPr>
            <p:cNvCxnSpPr>
              <a:cxnSpLocks/>
              <a:stCxn id="62" idx="6"/>
              <a:endCxn id="64" idx="1"/>
            </p:cNvCxnSpPr>
            <p:nvPr/>
          </p:nvCxnSpPr>
          <p:spPr bwMode="gray">
            <a:xfrm>
              <a:off x="6607766" y="3971361"/>
              <a:ext cx="369368" cy="121357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A03F27C-068F-EBD3-9DA7-EDB7B672CE1A}"/>
                </a:ext>
              </a:extLst>
            </p:cNvPr>
            <p:cNvCxnSpPr>
              <a:cxnSpLocks/>
              <a:stCxn id="63" idx="4"/>
              <a:endCxn id="64" idx="0"/>
            </p:cNvCxnSpPr>
            <p:nvPr/>
          </p:nvCxnSpPr>
          <p:spPr bwMode="gray">
            <a:xfrm>
              <a:off x="7049166" y="3845062"/>
              <a:ext cx="4336" cy="216024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9B92F5E-E686-56EB-E797-0B38060B4A1D}"/>
              </a:ext>
            </a:extLst>
          </p:cNvPr>
          <p:cNvGrpSpPr/>
          <p:nvPr/>
        </p:nvGrpSpPr>
        <p:grpSpPr>
          <a:xfrm>
            <a:off x="8123299" y="4275820"/>
            <a:ext cx="783103" cy="640334"/>
            <a:chOff x="6372224" y="4443982"/>
            <a:chExt cx="783103" cy="640334"/>
          </a:xfrm>
        </p:grpSpPr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45D220D-4DD7-AF4D-88ED-2E98E0596CCC}"/>
                </a:ext>
              </a:extLst>
            </p:cNvPr>
            <p:cNvCxnSpPr>
              <a:cxnSpLocks/>
              <a:stCxn id="70" idx="3"/>
              <a:endCxn id="72" idx="7"/>
            </p:cNvCxnSpPr>
            <p:nvPr/>
          </p:nvCxnSpPr>
          <p:spPr bwMode="gray">
            <a:xfrm flipH="1">
              <a:off x="6556592" y="4628350"/>
              <a:ext cx="414367" cy="127558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0E60A9C-27F3-208D-E25E-DB49A1CA1A95}"/>
                </a:ext>
              </a:extLst>
            </p:cNvPr>
            <p:cNvCxnSpPr>
              <a:cxnSpLocks/>
              <a:stCxn id="70" idx="4"/>
              <a:endCxn id="71" idx="0"/>
            </p:cNvCxnSpPr>
            <p:nvPr/>
          </p:nvCxnSpPr>
          <p:spPr bwMode="gray">
            <a:xfrm>
              <a:off x="7047327" y="4659982"/>
              <a:ext cx="0" cy="208334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D5F656DA-9A16-E5D2-ED24-738BCE8D3558}"/>
                    </a:ext>
                  </a:extLst>
                </p:cNvPr>
                <p:cNvSpPr/>
                <p:nvPr/>
              </p:nvSpPr>
              <p:spPr bwMode="gray">
                <a:xfrm>
                  <a:off x="6939327" y="4443982"/>
                  <a:ext cx="216000" cy="216000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D5F656DA-9A16-E5D2-ED24-738BCE8D35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939327" y="4443982"/>
                  <a:ext cx="216000" cy="216000"/>
                </a:xfrm>
                <a:prstGeom prst="ellipse">
                  <a:avLst/>
                </a:prstGeom>
                <a:blipFill>
                  <a:blip r:embed="rId37"/>
                  <a:stretch>
                    <a:fillRect l="-1111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9E38760B-9A3B-A5B2-6FC5-C9814E6ECD97}"/>
                    </a:ext>
                  </a:extLst>
                </p:cNvPr>
                <p:cNvSpPr/>
                <p:nvPr/>
              </p:nvSpPr>
              <p:spPr bwMode="gray">
                <a:xfrm>
                  <a:off x="6939327" y="4868316"/>
                  <a:ext cx="216000" cy="216000"/>
                </a:xfrm>
                <a:prstGeom prst="ellipse">
                  <a:avLst/>
                </a:prstGeom>
                <a:solidFill>
                  <a:srgbClr val="00B050"/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9E38760B-9A3B-A5B2-6FC5-C9814E6ECD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939327" y="4868316"/>
                  <a:ext cx="216000" cy="216000"/>
                </a:xfrm>
                <a:prstGeom prst="ellipse">
                  <a:avLst/>
                </a:prstGeom>
                <a:blipFill>
                  <a:blip r:embed="rId38"/>
                  <a:stretch>
                    <a:fillRect l="-11111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DF436483-7D42-C718-950F-D25FDBE3412E}"/>
                    </a:ext>
                  </a:extLst>
                </p:cNvPr>
                <p:cNvSpPr/>
                <p:nvPr/>
              </p:nvSpPr>
              <p:spPr bwMode="gray">
                <a:xfrm>
                  <a:off x="6372224" y="4724276"/>
                  <a:ext cx="216000" cy="216000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x-none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DF436483-7D42-C718-950F-D25FDBE341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6372224" y="4724276"/>
                  <a:ext cx="216000" cy="216000"/>
                </a:xfrm>
                <a:prstGeom prst="ellipse">
                  <a:avLst/>
                </a:prstGeom>
                <a:blipFill>
                  <a:blip r:embed="rId39"/>
                  <a:stretch>
                    <a:fillRect l="-10526"/>
                  </a:stretch>
                </a:blipFill>
                <a:ln w="952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8D384C3-AE7A-1FF6-91F3-8EC5C28106E7}"/>
                </a:ext>
              </a:extLst>
            </p:cNvPr>
            <p:cNvCxnSpPr>
              <a:cxnSpLocks/>
              <a:stCxn id="72" idx="6"/>
              <a:endCxn id="71" idx="2"/>
            </p:cNvCxnSpPr>
            <p:nvPr/>
          </p:nvCxnSpPr>
          <p:spPr bwMode="gray">
            <a:xfrm>
              <a:off x="6588224" y="4832276"/>
              <a:ext cx="351103" cy="14404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AE0EF8A-7CA7-D644-20D6-3ACC3A7FC750}"/>
                  </a:ext>
                </a:extLst>
              </p:cNvPr>
              <p:cNvSpPr txBox="1"/>
              <p:nvPr/>
            </p:nvSpPr>
            <p:spPr bwMode="gray">
              <a:xfrm>
                <a:off x="7357998" y="2703744"/>
                <a:ext cx="382354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dirty="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x-non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AE0EF8A-7CA7-D644-20D6-3ACC3A7FC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57998" y="2703744"/>
                <a:ext cx="382354" cy="216024"/>
              </a:xfrm>
              <a:prstGeom prst="rect">
                <a:avLst/>
              </a:prstGeom>
              <a:blipFill>
                <a:blip r:embed="rId40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F2F0AC3-C099-75A5-A237-17DF0C6523B3}"/>
                  </a:ext>
                </a:extLst>
              </p:cNvPr>
              <p:cNvSpPr txBox="1"/>
              <p:nvPr/>
            </p:nvSpPr>
            <p:spPr bwMode="gray">
              <a:xfrm>
                <a:off x="8358158" y="2732926"/>
                <a:ext cx="382354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dirty="0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x-non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F2F0AC3-C099-75A5-A237-17DF0C652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58158" y="2732926"/>
                <a:ext cx="382354" cy="216024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AB81AF3-11A8-A817-FF9C-DCEFB8753A74}"/>
                  </a:ext>
                </a:extLst>
              </p:cNvPr>
              <p:cNvSpPr txBox="1"/>
              <p:nvPr/>
            </p:nvSpPr>
            <p:spPr bwMode="gray">
              <a:xfrm>
                <a:off x="5669547" y="1172920"/>
                <a:ext cx="382354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AB81AF3-11A8-A817-FF9C-DCEFB8753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69547" y="1172920"/>
                <a:ext cx="382354" cy="216024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AB12D33E-42F1-45DA-9DD4-CCDA7490AABA}"/>
              </a:ext>
            </a:extLst>
          </p:cNvPr>
          <p:cNvSpPr/>
          <p:nvPr/>
        </p:nvSpPr>
        <p:spPr bwMode="gray">
          <a:xfrm>
            <a:off x="7092280" y="2628909"/>
            <a:ext cx="900934" cy="238902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37442B0A-F96A-C7C7-7CAC-8026FB50C23D}"/>
              </a:ext>
            </a:extLst>
          </p:cNvPr>
          <p:cNvSpPr/>
          <p:nvPr/>
        </p:nvSpPr>
        <p:spPr bwMode="gray">
          <a:xfrm>
            <a:off x="8073779" y="2630995"/>
            <a:ext cx="899336" cy="238902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C4A57FD3-3B18-6A70-0C40-7FE226D6DC6B}"/>
              </a:ext>
            </a:extLst>
          </p:cNvPr>
          <p:cNvSpPr/>
          <p:nvPr/>
        </p:nvSpPr>
        <p:spPr bwMode="gray">
          <a:xfrm>
            <a:off x="5067388" y="1131590"/>
            <a:ext cx="1930603" cy="149731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7D83EAC-A22D-56C0-B553-29317ACF9547}"/>
                  </a:ext>
                </a:extLst>
              </p:cNvPr>
              <p:cNvSpPr txBox="1"/>
              <p:nvPr/>
            </p:nvSpPr>
            <p:spPr bwMode="gray">
              <a:xfrm>
                <a:off x="1298031" y="2314320"/>
                <a:ext cx="3200805" cy="3264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=∅∧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∩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smtClean="0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≠∅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7D83EAC-A22D-56C0-B553-29317ACF9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98031" y="2314320"/>
                <a:ext cx="3200805" cy="326436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631F50A-E20E-4B5C-CA80-B7183C2F1775}"/>
                  </a:ext>
                </a:extLst>
              </p:cNvPr>
              <p:cNvSpPr txBox="1"/>
              <p:nvPr/>
            </p:nvSpPr>
            <p:spPr bwMode="gray">
              <a:xfrm>
                <a:off x="1298031" y="2582618"/>
                <a:ext cx="3200805" cy="3046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=∅∧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∩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smtClean="0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631F50A-E20E-4B5C-CA80-B7183C2F1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98031" y="2582618"/>
                <a:ext cx="3200805" cy="304635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A7AFF7B-FAF0-5B14-113F-79EB7E6C5E1B}"/>
                  </a:ext>
                </a:extLst>
              </p:cNvPr>
              <p:cNvSpPr txBox="1"/>
              <p:nvPr/>
            </p:nvSpPr>
            <p:spPr bwMode="gray">
              <a:xfrm>
                <a:off x="1298031" y="2067694"/>
                <a:ext cx="3200805" cy="307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∅∧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∩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smtClean="0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=∅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A7AFF7B-FAF0-5B14-113F-79EB7E6C5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98031" y="2067694"/>
                <a:ext cx="3200805" cy="307841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9C66996-16DA-43D1-36E2-8DDDFCD67EFB}"/>
                  </a:ext>
                </a:extLst>
              </p:cNvPr>
              <p:cNvSpPr txBox="1"/>
              <p:nvPr/>
            </p:nvSpPr>
            <p:spPr bwMode="gray">
              <a:xfrm>
                <a:off x="916014" y="3149871"/>
                <a:ext cx="5317276" cy="613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 smtClean="0">
                                          <a:solidFill>
                                            <a:schemeClr val="accent1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chemeClr val="accent1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solidFill>
                                            <a:schemeClr val="accent1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9C66996-16DA-43D1-36E2-8DDDFCD67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16014" y="3149871"/>
                <a:ext cx="5317276" cy="613438"/>
              </a:xfrm>
              <a:prstGeom prst="rect">
                <a:avLst/>
              </a:prstGeom>
              <a:blipFill>
                <a:blip r:embed="rId46"/>
                <a:stretch>
                  <a:fillRect t="-100000" b="-130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78EB5BE8-78F7-2149-A3A4-AFF0392295E4}"/>
                  </a:ext>
                </a:extLst>
              </p:cNvPr>
              <p:cNvSpPr txBox="1"/>
              <p:nvPr/>
            </p:nvSpPr>
            <p:spPr bwMode="gray">
              <a:xfrm>
                <a:off x="916014" y="4147429"/>
                <a:ext cx="5766522" cy="679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200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𝒞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i="1" smtClean="0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∪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𝒞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 dirty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dirty="0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𝒞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i="1" smtClean="0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∪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𝒞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200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𝒞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78EB5BE8-78F7-2149-A3A4-AFF039229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16014" y="4147429"/>
                <a:ext cx="5766522" cy="679289"/>
              </a:xfrm>
              <a:prstGeom prst="rect">
                <a:avLst/>
              </a:prstGeom>
              <a:blipFill>
                <a:blip r:embed="rId47"/>
                <a:stretch>
                  <a:fillRect t="-87273" b="-10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42FB6378-B1BD-BEDB-ABE2-93614887AD95}"/>
              </a:ext>
            </a:extLst>
          </p:cNvPr>
          <p:cNvSpPr/>
          <p:nvPr/>
        </p:nvSpPr>
        <p:spPr bwMode="gray">
          <a:xfrm>
            <a:off x="2112964" y="4169022"/>
            <a:ext cx="1450924" cy="65418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780EB5C-1B08-4B10-0007-904FDC805AA5}"/>
                  </a:ext>
                </a:extLst>
              </p:cNvPr>
              <p:cNvSpPr txBox="1"/>
              <p:nvPr/>
            </p:nvSpPr>
            <p:spPr bwMode="gray">
              <a:xfrm>
                <a:off x="2195736" y="4902266"/>
                <a:ext cx="331524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000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rgbClr val="C00000"/>
                    </a:solidFill>
                  </a:rPr>
                  <a:t> </a:t>
                </a:r>
                <a:endParaRPr lang="x-non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780EB5C-1B08-4B10-0007-904FDC805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36" y="4902266"/>
                <a:ext cx="331524" cy="216024"/>
              </a:xfrm>
              <a:prstGeom prst="rect">
                <a:avLst/>
              </a:prstGeom>
              <a:blipFill>
                <a:blip r:embed="rId48"/>
                <a:stretch>
                  <a:fillRect l="-14286" r="-10714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181FCDD-68CD-849C-7316-6C79261FD814}"/>
              </a:ext>
            </a:extLst>
          </p:cNvPr>
          <p:cNvCxnSpPr>
            <a:cxnSpLocks/>
            <a:stCxn id="100" idx="3"/>
            <a:endCxn id="99" idx="2"/>
          </p:cNvCxnSpPr>
          <p:nvPr/>
        </p:nvCxnSpPr>
        <p:spPr bwMode="gray">
          <a:xfrm flipV="1">
            <a:off x="2527260" y="4823208"/>
            <a:ext cx="311166" cy="18707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29A1783C-8228-6363-8431-CEB98EFB4A80}"/>
              </a:ext>
            </a:extLst>
          </p:cNvPr>
          <p:cNvSpPr/>
          <p:nvPr/>
        </p:nvSpPr>
        <p:spPr bwMode="gray">
          <a:xfrm>
            <a:off x="3670012" y="4166872"/>
            <a:ext cx="1450924" cy="65418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452A0D0-939E-9C2D-CF9C-82CB2B1CC9A7}"/>
                  </a:ext>
                </a:extLst>
              </p:cNvPr>
              <p:cNvSpPr txBox="1"/>
              <p:nvPr/>
            </p:nvSpPr>
            <p:spPr bwMode="gray">
              <a:xfrm>
                <a:off x="3752784" y="4890419"/>
                <a:ext cx="331524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00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dirty="0">
                    <a:solidFill>
                      <a:srgbClr val="C00000"/>
                    </a:solidFill>
                  </a:rPr>
                  <a:t> </a:t>
                </a:r>
                <a:endParaRPr lang="x-non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452A0D0-939E-9C2D-CF9C-82CB2B1CC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52784" y="4890419"/>
                <a:ext cx="331524" cy="216024"/>
              </a:xfrm>
              <a:prstGeom prst="rect">
                <a:avLst/>
              </a:prstGeom>
              <a:blipFill>
                <a:blip r:embed="rId49"/>
                <a:stretch>
                  <a:fillRect l="-18519" r="-11111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1035DA6-B114-3387-7118-7D0A15D136EE}"/>
              </a:ext>
            </a:extLst>
          </p:cNvPr>
          <p:cNvCxnSpPr>
            <a:cxnSpLocks/>
            <a:stCxn id="110" idx="3"/>
            <a:endCxn id="109" idx="2"/>
          </p:cNvCxnSpPr>
          <p:nvPr/>
        </p:nvCxnSpPr>
        <p:spPr bwMode="gray">
          <a:xfrm flipV="1">
            <a:off x="4084308" y="4821058"/>
            <a:ext cx="311166" cy="17737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2A5B0D7A-E0E6-6DD8-E82A-877AC7B29214}"/>
              </a:ext>
            </a:extLst>
          </p:cNvPr>
          <p:cNvSpPr/>
          <p:nvPr/>
        </p:nvSpPr>
        <p:spPr bwMode="gray">
          <a:xfrm>
            <a:off x="5224066" y="4191975"/>
            <a:ext cx="1220142" cy="629083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CA7D9C5-ED25-9FE0-167F-236ED5411C6D}"/>
              </a:ext>
            </a:extLst>
          </p:cNvPr>
          <p:cNvSpPr txBox="1"/>
          <p:nvPr/>
        </p:nvSpPr>
        <p:spPr bwMode="gray">
          <a:xfrm>
            <a:off x="5059694" y="4890419"/>
            <a:ext cx="57866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constant 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9B34B9C-D445-2DDF-6741-044FBF234400}"/>
              </a:ext>
            </a:extLst>
          </p:cNvPr>
          <p:cNvCxnSpPr>
            <a:cxnSpLocks/>
            <a:stCxn id="113" idx="3"/>
            <a:endCxn id="112" idx="2"/>
          </p:cNvCxnSpPr>
          <p:nvPr/>
        </p:nvCxnSpPr>
        <p:spPr bwMode="gray">
          <a:xfrm flipV="1">
            <a:off x="5638362" y="4821058"/>
            <a:ext cx="195775" cy="17737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716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48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DCFFF"/>
                                      </p:to>
                                    </p:animClr>
                                    <p:set>
                                      <p:cBhvr>
                                        <p:cTn id="52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D8C9D"/>
                                      </p:to>
                                    </p:animClr>
                                    <p:set>
                                      <p:cBhvr>
                                        <p:cTn id="56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6B050"/>
                                      </p:to>
                                    </p:animClr>
                                    <p:set>
                                      <p:cBhvr>
                                        <p:cTn id="6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6B050"/>
                                      </p:to>
                                    </p:animClr>
                                    <p:set>
                                      <p:cBhvr>
                                        <p:cTn id="6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6B050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6B050"/>
                                      </p:to>
                                    </p:animClr>
                                    <p:set>
                                      <p:cBhvr>
                                        <p:cTn id="74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74" grpId="0"/>
      <p:bldP spid="75" grpId="0"/>
      <p:bldP spid="76" grpId="0"/>
      <p:bldP spid="77" grpId="0" animBg="1"/>
      <p:bldP spid="79" grpId="0" animBg="1"/>
      <p:bldP spid="80" grpId="0" animBg="1"/>
      <p:bldP spid="86" grpId="0"/>
      <p:bldP spid="87" grpId="0"/>
      <p:bldP spid="88" grpId="0"/>
      <p:bldP spid="91" grpId="0"/>
      <p:bldP spid="98" grpId="0"/>
      <p:bldP spid="99" grpId="0" animBg="1"/>
      <p:bldP spid="100" grpId="0"/>
      <p:bldP spid="109" grpId="0" animBg="1"/>
      <p:bldP spid="110" grpId="0"/>
      <p:bldP spid="112" grpId="0" animBg="1"/>
      <p:bldP spid="1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F9D56-3503-E694-F990-7CDE4B87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7252820-F6D7-4B6F-BF36-8E0647FAD3D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37560" cy="3132113"/>
              </a:xfrm>
            </p:spPr>
            <p:txBody>
              <a:bodyPr/>
              <a:lstStyle/>
              <a:p>
                <a:r>
                  <a:rPr lang="en-US" dirty="0"/>
                  <a:t>If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discrete random variables, we can </a:t>
                </a:r>
                <a:r>
                  <a:rPr lang="en-US" i="1" dirty="0"/>
                  <a:t>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as follows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b="1" dirty="0"/>
              </a:p>
              <a:p>
                <a:r>
                  <a:rPr lang="en-US" b="1" dirty="0"/>
                  <a:t>Assumption</a:t>
                </a:r>
                <a:r>
                  <a:rPr lang="en-US" dirty="0"/>
                  <a:t>: There are only a few cliques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𝒞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∩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≠∅</m:t>
                        </m:r>
                      </m:e>
                    </m:d>
                  </m:oMath>
                </a14:m>
                <a:r>
                  <a:rPr lang="en-US" dirty="0"/>
                  <a:t> because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endParaRPr lang="en-US" sz="1200" dirty="0"/>
              </a:p>
              <a:p>
                <a:endParaRPr lang="en-US" b="1" dirty="0"/>
              </a:p>
              <a:p>
                <a:r>
                  <a:rPr lang="en-US" b="1" dirty="0"/>
                  <a:t>Problem</a:t>
                </a:r>
                <a:r>
                  <a:rPr lang="en-US" dirty="0"/>
                  <a:t>: Step 2 produced highly correlated samples (thus we skip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samples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b="1" dirty="0"/>
              </a:p>
              <a:p>
                <a:r>
                  <a:rPr lang="en-US" b="1" dirty="0"/>
                  <a:t>Advantage</a:t>
                </a:r>
                <a:r>
                  <a:rPr lang="en-US" dirty="0"/>
                  <a:t>: We can easily condition on observed variables thereby reducing the number of elements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in step 2!</a:t>
                </a:r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7252820-F6D7-4B6F-BF36-8E0647FAD3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37560" cy="3132113"/>
              </a:xfrm>
              <a:blipFill>
                <a:blip r:embed="rId2"/>
                <a:stretch>
                  <a:fillRect t="-403" b="-20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7F9F592-64E0-5173-4D11-3D5DB46F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an Undirected Graphical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C45829-C342-6B7B-E8C3-6E9CB1141D29}"/>
                  </a:ext>
                </a:extLst>
              </p:cNvPr>
              <p:cNvSpPr txBox="1"/>
              <p:nvPr/>
            </p:nvSpPr>
            <p:spPr bwMode="gray">
              <a:xfrm>
                <a:off x="394892" y="1780612"/>
                <a:ext cx="6985419" cy="95410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68287" lvl="1" algn="ctr"/>
                <a:r>
                  <a:rPr lang="en-US" sz="1400" b="1" dirty="0"/>
                  <a:t>Gibbs Sampling</a:t>
                </a:r>
                <a:endParaRPr lang="en-US" sz="14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400" dirty="0"/>
                  <a:t>Initialize all random variables with a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400" dirty="0"/>
                  <a:t>For all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∈{1,…,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4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400" dirty="0"/>
                  <a:t>Skip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400" dirty="0"/>
                  <a:t> such generated samples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400" dirty="0"/>
                  <a:t> to remove</a:t>
                </a:r>
                <a:endParaRPr lang="x-none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C45829-C342-6B7B-E8C3-6E9CB1141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4892" y="1780612"/>
                <a:ext cx="6985419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B6EDF17C-BC8F-34A8-F0A6-2737B4FED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475" y="1074093"/>
            <a:ext cx="759973" cy="101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F47841-B173-9D17-9147-E1BB792AC1BA}"/>
              </a:ext>
            </a:extLst>
          </p:cNvPr>
          <p:cNvSpPr txBox="1"/>
          <p:nvPr/>
        </p:nvSpPr>
        <p:spPr bwMode="gray">
          <a:xfrm>
            <a:off x="7735838" y="2089180"/>
            <a:ext cx="1013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Josiah W. Gibbs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(1839 – 1903)</a:t>
            </a:r>
            <a:endParaRPr lang="en-US" sz="800" dirty="0"/>
          </a:p>
        </p:txBody>
      </p:sp>
      <p:pic>
        <p:nvPicPr>
          <p:cNvPr id="1028" name="Picture 4" descr="Dr. Donald Geman">
            <a:extLst>
              <a:ext uri="{FF2B5EF4-FFF2-40B4-BE49-F238E27FC236}">
                <a16:creationId xmlns:a16="http://schemas.microsoft.com/office/drawing/2014/main" id="{7381FA8E-1D8F-96F7-445A-3AE46EBFA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501" y="2547372"/>
            <a:ext cx="765944" cy="76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98F91D-9F52-0D58-A2B5-08C652856509}"/>
              </a:ext>
            </a:extLst>
          </p:cNvPr>
          <p:cNvSpPr txBox="1"/>
          <p:nvPr/>
        </p:nvSpPr>
        <p:spPr bwMode="gray">
          <a:xfrm>
            <a:off x="7735838" y="3313316"/>
            <a:ext cx="1013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Donald </a:t>
            </a:r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Geman</a:t>
            </a:r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(1943 –)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3CDC81-3AE1-1D5F-C68D-C240DACBB1A8}"/>
                  </a:ext>
                </a:extLst>
              </p:cNvPr>
              <p:cNvSpPr txBox="1"/>
              <p:nvPr/>
            </p:nvSpPr>
            <p:spPr bwMode="gray">
              <a:xfrm>
                <a:off x="857817" y="3313896"/>
                <a:ext cx="590999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𝒞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3CDC81-3AE1-1D5F-C68D-C240DACBB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57817" y="3313896"/>
                <a:ext cx="5909999" cy="553998"/>
              </a:xfrm>
              <a:prstGeom prst="rect">
                <a:avLst/>
              </a:prstGeom>
              <a:blipFill>
                <a:blip r:embed="rId6"/>
                <a:stretch>
                  <a:fillRect t="-140909" b="-19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1139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13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FC3CA9E-D4CB-6DF9-C101-A885E4E067A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Ising Model</a:t>
                </a:r>
                <a:r>
                  <a:rPr lang="en-US" dirty="0"/>
                  <a:t>: Defined on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grid of binary labels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−1,+1</m:t>
                        </m:r>
                      </m:e>
                    </m:d>
                  </m:oMath>
                </a14:m>
                <a:r>
                  <a:rPr lang="en-US" dirty="0"/>
                  <a:t> with 4-neighbourhood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FC3CA9E-D4CB-6DF9-C101-A885E4E067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2810D6E-5AFB-C46F-119A-29930357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an Undirected Graphical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911A0F-AC0D-AF26-66B7-8E129EBCDFF9}"/>
                  </a:ext>
                </a:extLst>
              </p:cNvPr>
              <p:cNvSpPr txBox="1"/>
              <p:nvPr/>
            </p:nvSpPr>
            <p:spPr bwMode="gray">
              <a:xfrm>
                <a:off x="1836776" y="1839434"/>
                <a:ext cx="4966392" cy="785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pHide m:val="on"/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m:rPr>
                                                          <m:brk m:alnAt="23"/>
                                                        </m:r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m:rPr>
                                                          <m:brk m:alnAt="23"/>
                                                        </m:r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m:rPr>
                                                      <m:brk m:alnAt="23"/>
                                                    </m:r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m:rPr>
                                                          <m:brk m:alnAt="23"/>
                                                        </m:r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m:rPr>
                                                          <m:brk m:alnAt="23"/>
                                                        </m:r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∈</m:t>
                                              </m:r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𝔑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e>
                                              </m:d>
                                            </m:sub>
                                            <m:sup/>
                                            <m:e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𝐽</m:t>
                                              </m:r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⋅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⋅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911A0F-AC0D-AF26-66B7-8E129EBCD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36776" y="1839434"/>
                <a:ext cx="4966392" cy="785921"/>
              </a:xfrm>
              <a:prstGeom prst="rect">
                <a:avLst/>
              </a:prstGeom>
              <a:blipFill>
                <a:blip r:embed="rId4"/>
                <a:stretch>
                  <a:fillRect t="-76190" b="-1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0118F87-8622-B882-9A31-C79A0224EEEF}"/>
              </a:ext>
            </a:extLst>
          </p:cNvPr>
          <p:cNvCxnSpPr>
            <a:cxnSpLocks/>
            <a:stCxn id="6" idx="1"/>
            <a:endCxn id="16" idx="2"/>
          </p:cNvCxnSpPr>
          <p:nvPr/>
        </p:nvCxnSpPr>
        <p:spPr bwMode="gray">
          <a:xfrm flipH="1" flipV="1">
            <a:off x="3851920" y="2338559"/>
            <a:ext cx="318972" cy="3887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13CD12-247D-533E-8D06-5DD6CF6EC08F}"/>
                  </a:ext>
                </a:extLst>
              </p:cNvPr>
              <p:cNvSpPr txBox="1"/>
              <p:nvPr/>
            </p:nvSpPr>
            <p:spPr bwMode="gray">
              <a:xfrm>
                <a:off x="4170892" y="2571750"/>
                <a:ext cx="2561348" cy="3111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GB" sz="1000" dirty="0">
                    <a:solidFill>
                      <a:srgbClr val="C00000"/>
                    </a:solidFill>
                  </a:rPr>
                  <a:t>With zero coupling,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1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1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=+1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1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1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0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10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=+1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x-none" sz="10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13CD12-247D-533E-8D06-5DD6CF6EC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70892" y="2571750"/>
                <a:ext cx="2561348" cy="311199"/>
              </a:xfrm>
              <a:prstGeom prst="rect">
                <a:avLst/>
              </a:prstGeom>
              <a:blipFill>
                <a:blip r:embed="rId5"/>
                <a:stretch>
                  <a:fillRect l="-990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003585-D17A-1A03-1293-A67EC5C2AF35}"/>
              </a:ext>
            </a:extLst>
          </p:cNvPr>
          <p:cNvCxnSpPr>
            <a:cxnSpLocks/>
            <a:stCxn id="11" idx="1"/>
            <a:endCxn id="18" idx="0"/>
          </p:cNvCxnSpPr>
          <p:nvPr/>
        </p:nvCxnSpPr>
        <p:spPr bwMode="gray">
          <a:xfrm flipH="1">
            <a:off x="5357073" y="1753224"/>
            <a:ext cx="506614" cy="36835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0323045-D414-F2D6-6273-0E0DCB999F6E}"/>
              </a:ext>
            </a:extLst>
          </p:cNvPr>
          <p:cNvSpPr txBox="1"/>
          <p:nvPr/>
        </p:nvSpPr>
        <p:spPr bwMode="gray">
          <a:xfrm>
            <a:off x="5863687" y="1494484"/>
            <a:ext cx="1396506" cy="5174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Coupling strength that </a:t>
            </a:r>
            <a:br>
              <a:rPr lang="en-GB" sz="1000" dirty="0">
                <a:solidFill>
                  <a:srgbClr val="C00000"/>
                </a:solidFill>
              </a:rPr>
            </a:br>
            <a:r>
              <a:rPr lang="en-GB" sz="1000" dirty="0">
                <a:solidFill>
                  <a:srgbClr val="C00000"/>
                </a:solidFill>
              </a:rPr>
              <a:t>a pixel has the same </a:t>
            </a:r>
            <a:br>
              <a:rPr lang="en-GB" sz="1000" dirty="0">
                <a:solidFill>
                  <a:srgbClr val="C00000"/>
                </a:solidFill>
              </a:rPr>
            </a:br>
            <a:r>
              <a:rPr lang="en-GB" sz="1000" dirty="0">
                <a:solidFill>
                  <a:srgbClr val="C00000"/>
                </a:solidFill>
              </a:rPr>
              <a:t>label as its neighbours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472FECE-4FC5-B1D0-5951-98C5F9C27623}"/>
              </a:ext>
            </a:extLst>
          </p:cNvPr>
          <p:cNvSpPr/>
          <p:nvPr/>
        </p:nvSpPr>
        <p:spPr bwMode="gray">
          <a:xfrm>
            <a:off x="3779912" y="2121573"/>
            <a:ext cx="144016" cy="21698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9F057A4-6334-5909-296E-26ADF2254893}"/>
              </a:ext>
            </a:extLst>
          </p:cNvPr>
          <p:cNvSpPr/>
          <p:nvPr/>
        </p:nvSpPr>
        <p:spPr bwMode="gray">
          <a:xfrm>
            <a:off x="5285065" y="2121574"/>
            <a:ext cx="144016" cy="21259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81BD622-3BAC-6699-8F22-7A8AEE4F46A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161068" y="1315624"/>
                <a:ext cx="342000" cy="342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81BD622-3BAC-6699-8F22-7A8AEE4F46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61068" y="1315624"/>
                <a:ext cx="342000" cy="34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ACEFEAE-DFF6-4602-AFCA-91231933050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161068" y="1656602"/>
                <a:ext cx="342000" cy="342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ACEFEAE-DFF6-4602-AFCA-9123193305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61068" y="1656602"/>
                <a:ext cx="342000" cy="34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88E8DB7-CB8B-F809-A44F-29A88ABDE2B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503068" y="1656602"/>
                <a:ext cx="342000" cy="342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88E8DB7-CB8B-F809-A44F-29A88ABDE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503068" y="1656602"/>
                <a:ext cx="342000" cy="342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45BA6A0-B84E-54D6-DEA3-EF2642D195A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161068" y="1998602"/>
                <a:ext cx="342000" cy="342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45BA6A0-B84E-54D6-DEA3-EF2642D195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161068" y="1998602"/>
                <a:ext cx="342000" cy="342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9CAB2CF-8A60-DC36-3EEF-0272EBA0D16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819068" y="1656602"/>
                <a:ext cx="342000" cy="342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9CAB2CF-8A60-DC36-3EEF-0272EBA0D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19068" y="1656602"/>
                <a:ext cx="342000" cy="342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 descr="A black and white square with small dots&#10;&#10;AI-generated content may be incorrect.">
            <a:extLst>
              <a:ext uri="{FF2B5EF4-FFF2-40B4-BE49-F238E27FC236}">
                <a16:creationId xmlns:a16="http://schemas.microsoft.com/office/drawing/2014/main" id="{17EC0C94-E615-49A6-E3F0-396AF1FB43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1265"/>
            <a:ext cx="2711928" cy="1807952"/>
          </a:xfrm>
          <a:prstGeom prst="rect">
            <a:avLst/>
          </a:prstGeom>
        </p:spPr>
      </p:pic>
      <p:pic>
        <p:nvPicPr>
          <p:cNvPr id="34" name="Picture 33" descr="A black and white speckled background&#10;&#10;AI-generated content may be incorrect.">
            <a:extLst>
              <a:ext uri="{FF2B5EF4-FFF2-40B4-BE49-F238E27FC236}">
                <a16:creationId xmlns:a16="http://schemas.microsoft.com/office/drawing/2014/main" id="{AEFB7E31-6CB3-1738-7FCA-A2AA9774697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184" y="3216878"/>
            <a:ext cx="2711928" cy="1807952"/>
          </a:xfrm>
          <a:prstGeom prst="rect">
            <a:avLst/>
          </a:prstGeom>
        </p:spPr>
      </p:pic>
      <p:pic>
        <p:nvPicPr>
          <p:cNvPr id="36" name="Picture 35" descr="A black and white cow pattern&#10;&#10;AI-generated content may be incorrect.">
            <a:extLst>
              <a:ext uri="{FF2B5EF4-FFF2-40B4-BE49-F238E27FC236}">
                <a16:creationId xmlns:a16="http://schemas.microsoft.com/office/drawing/2014/main" id="{6C20710A-E5C4-68EE-6432-4C643585E1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336" y="3211265"/>
            <a:ext cx="2711928" cy="180795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271B616-9BD2-4202-E475-BFEE02FE3D0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8336" y="2542806"/>
            <a:ext cx="2020168" cy="1705817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B32BFD-0520-D603-87AA-212F60F9F8D1}"/>
                  </a:ext>
                </a:extLst>
              </p:cNvPr>
              <p:cNvSpPr txBox="1"/>
              <p:nvPr/>
            </p:nvSpPr>
            <p:spPr bwMode="gray">
              <a:xfrm>
                <a:off x="914976" y="3003798"/>
                <a:ext cx="881976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sz="1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1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B32BFD-0520-D603-87AA-212F60F9F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14976" y="3003798"/>
                <a:ext cx="881976" cy="21602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44F3AA7-FC36-45E9-F424-719F9706DEA6}"/>
                  </a:ext>
                </a:extLst>
              </p:cNvPr>
              <p:cNvSpPr txBox="1"/>
              <p:nvPr/>
            </p:nvSpPr>
            <p:spPr bwMode="gray">
              <a:xfrm>
                <a:off x="3284061" y="3003798"/>
                <a:ext cx="970174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sz="1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=0.5, </m:t>
                      </m:r>
                      <m:r>
                        <a:rPr lang="en-US" sz="1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44F3AA7-FC36-45E9-F424-719F9706D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84061" y="3003798"/>
                <a:ext cx="970174" cy="21602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D4A5B3A-2712-F6FE-E8DC-39FCFA9092A9}"/>
                  </a:ext>
                </a:extLst>
              </p:cNvPr>
              <p:cNvSpPr txBox="1"/>
              <p:nvPr/>
            </p:nvSpPr>
            <p:spPr bwMode="gray">
              <a:xfrm>
                <a:off x="5681312" y="3003798"/>
                <a:ext cx="881976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sz="1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=1.0,</m:t>
                      </m:r>
                      <m:r>
                        <a:rPr lang="en-US" sz="1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D4A5B3A-2712-F6FE-E8DC-39FCFA909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81312" y="3003798"/>
                <a:ext cx="881976" cy="216024"/>
              </a:xfrm>
              <a:prstGeom prst="rect">
                <a:avLst/>
              </a:prstGeom>
              <a:blipFill>
                <a:blip r:embed="rId17"/>
                <a:stretch>
                  <a:fillRect l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84322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  <p:bldP spid="16" grpId="0" animBg="1"/>
      <p:bldP spid="18" grpId="0" animBg="1"/>
      <p:bldP spid="21" grpId="0" animBg="1"/>
      <p:bldP spid="25" grpId="0" animBg="1"/>
      <p:bldP spid="26" grpId="0" animBg="1"/>
      <p:bldP spid="27" grpId="0" animBg="1"/>
      <p:bldP spid="28" grpId="0" animBg="1"/>
      <p:bldP spid="40" grpId="0"/>
      <p:bldP spid="41" grpId="0"/>
      <p:bldP spid="4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b="1" dirty="0"/>
              <a:t>Graphical Models</a:t>
            </a:r>
          </a:p>
          <a:p>
            <a:pPr marL="614125" lvl="1" indent="-342900"/>
            <a:r>
              <a:rPr lang="en-US" altLang="x-none" sz="1200" dirty="0"/>
              <a:t>Simple way to visualize the product structure of a joint probability distribution</a:t>
            </a:r>
          </a:p>
          <a:p>
            <a:pPr marL="614125" lvl="1" indent="-342900"/>
            <a:r>
              <a:rPr lang="en-US" altLang="x-none" sz="1200" dirty="0"/>
              <a:t>Useful for modelling real-life data generating processes </a:t>
            </a:r>
          </a:p>
          <a:p>
            <a:pPr marL="614125" lvl="1" indent="-342900"/>
            <a:r>
              <a:rPr lang="en-US" altLang="x-none" sz="1200" dirty="0"/>
              <a:t>Allows to test for conditional independence</a:t>
            </a:r>
            <a:endParaRPr lang="en-US" altLang="x-none" dirty="0"/>
          </a:p>
          <a:p>
            <a:pPr marL="342900" indent="-342900"/>
            <a:r>
              <a:rPr lang="en-US" altLang="x-none" b="1" dirty="0"/>
              <a:t>Bayesian Networks </a:t>
            </a:r>
          </a:p>
          <a:p>
            <a:pPr marL="614125" lvl="1" indent="-342900"/>
            <a:r>
              <a:rPr lang="en-US" altLang="x-none" sz="1200" dirty="0"/>
              <a:t>A directed acyclic graph where each edge points from a conditioning to a conditioned variable in the model (often easier to formulate for experts)</a:t>
            </a:r>
          </a:p>
          <a:p>
            <a:pPr marL="614125" lvl="1" indent="-342900"/>
            <a:r>
              <a:rPr lang="en-US" altLang="x-none" sz="1200" dirty="0"/>
              <a:t>A generative model of the data that can be easily sampled from (ancestral sampling)</a:t>
            </a:r>
            <a:endParaRPr lang="en-US" altLang="x-none" dirty="0"/>
          </a:p>
          <a:p>
            <a:pPr marL="614125" lvl="1" indent="-342900"/>
            <a:r>
              <a:rPr lang="en-US" altLang="x-none" sz="1200" dirty="0"/>
              <a:t>d-separation is a set of simple rules (”blocking”) to read off conditional independence</a:t>
            </a:r>
          </a:p>
          <a:p>
            <a:pPr marL="342900" indent="-342900"/>
            <a:r>
              <a:rPr lang="en-US" altLang="x-none" b="1" dirty="0"/>
              <a:t>Markov Random Field </a:t>
            </a:r>
          </a:p>
          <a:p>
            <a:pPr marL="614125" lvl="1" indent="-342900"/>
            <a:r>
              <a:rPr lang="en-US" altLang="x-none" sz="1200" dirty="0"/>
              <a:t>An undirected graph where the probability is proportional to a product of positive potential functions over all cliques</a:t>
            </a:r>
          </a:p>
          <a:p>
            <a:pPr marL="614125" lvl="1" indent="-342900"/>
            <a:r>
              <a:rPr lang="en-US" altLang="x-none" sz="1200" dirty="0"/>
              <a:t>A generative model of the data that can be easily sampled from (Gibbs sampling)</a:t>
            </a:r>
            <a:endParaRPr lang="en-US" altLang="x-none" dirty="0"/>
          </a:p>
          <a:p>
            <a:pPr marL="614125" lvl="1" indent="-342900"/>
            <a:r>
              <a:rPr lang="en-US" altLang="x-none" sz="1200" dirty="0"/>
              <a:t>Connectivity is the graph property to read off conditional independence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9613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2724</TotalTime>
  <Words>2487</Words>
  <Application>Microsoft Macintosh PowerPoint</Application>
  <PresentationFormat>On-screen Show (16:9)</PresentationFormat>
  <Paragraphs>723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Cambria Math</vt:lpstr>
      <vt:lpstr>Open Sans</vt:lpstr>
      <vt:lpstr>Verdana</vt:lpstr>
      <vt:lpstr>TEMPLATE DEF Faculty v2022</vt:lpstr>
      <vt:lpstr>Advanced Probabilistic Machine Learning</vt:lpstr>
      <vt:lpstr>Overview</vt:lpstr>
      <vt:lpstr>Overview</vt:lpstr>
      <vt:lpstr>Graphical Models</vt:lpstr>
      <vt:lpstr>Graphical Models</vt:lpstr>
      <vt:lpstr>Conditional Independence</vt:lpstr>
      <vt:lpstr>Overview</vt:lpstr>
      <vt:lpstr>Bayesian Networks</vt:lpstr>
      <vt:lpstr>Bayesian Network Models</vt:lpstr>
      <vt:lpstr>Representation Complexity</vt:lpstr>
      <vt:lpstr>Sampling a Bayesian Network</vt:lpstr>
      <vt:lpstr>Sampling a Bayesian Network: Example</vt:lpstr>
      <vt:lpstr>Sampling a Bayesian Network: Example (ctd)</vt:lpstr>
      <vt:lpstr>Conditional Independence: Warm-Up I</vt:lpstr>
      <vt:lpstr>Conditional Independence: Warm-Up II</vt:lpstr>
      <vt:lpstr>Conditional Independence: d-separation</vt:lpstr>
      <vt:lpstr>Conditional Independence: Skill Example</vt:lpstr>
      <vt:lpstr>Overview</vt:lpstr>
      <vt:lpstr>Conditional Independence Revisited</vt:lpstr>
      <vt:lpstr>Hammersley-Clifford Theorem</vt:lpstr>
      <vt:lpstr>Proof of the Hammersley-Clifford Theorem </vt:lpstr>
      <vt:lpstr>Sampling an Undirected Graphical Model</vt:lpstr>
      <vt:lpstr>Sampling an Undirected Graphical Model</vt:lpstr>
      <vt:lpstr>Summary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172</cp:revision>
  <cp:lastPrinted>2025-04-06T11:17:38Z</cp:lastPrinted>
  <dcterms:created xsi:type="dcterms:W3CDTF">2022-08-10T08:10:37Z</dcterms:created>
  <dcterms:modified xsi:type="dcterms:W3CDTF">2025-11-11T15:03:56Z</dcterms:modified>
</cp:coreProperties>
</file>